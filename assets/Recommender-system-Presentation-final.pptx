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8FB"/>
          </a:solidFill>
        </a:fill>
      </a:tcStyle>
    </a:wholeTbl>
    <a:band2H>
      <a:tcTxStyle b="def" i="def"/>
      <a:tcStyle>
        <a:tcBdr/>
        <a:fill>
          <a:solidFill>
            <a:srgbClr val="E8EDF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6" name="Shape 106"/>
          <p:cNvSpPr/>
          <p:nvPr>
            <p:ph type="sldImg"/>
          </p:nvPr>
        </p:nvSpPr>
        <p:spPr>
          <a:xfrm>
            <a:off x="1143000" y="685800"/>
            <a:ext cx="4572000" cy="3429000"/>
          </a:xfrm>
          <a:prstGeom prst="rect">
            <a:avLst/>
          </a:prstGeom>
        </p:spPr>
        <p:txBody>
          <a:bodyPr/>
          <a:lstStyle/>
          <a:p>
            <a:pPr/>
          </a:p>
        </p:txBody>
      </p:sp>
      <p:sp>
        <p:nvSpPr>
          <p:cNvPr id="107" name="Shape 1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311708" y="744574"/>
            <a:ext cx="8520601" cy="2052601"/>
          </a:xfrm>
          <a:prstGeom prst="rect">
            <a:avLst/>
          </a:prstGeom>
        </p:spPr>
        <p:txBody>
          <a:bodyPr anchor="b"/>
          <a:lstStyle>
            <a:lvl1pPr algn="ctr">
              <a:defRPr sz="5200"/>
            </a:lvl1pPr>
          </a:lstStyle>
          <a:p>
            <a:pPr/>
            <a:r>
              <a:t>Title Text</a:t>
            </a:r>
          </a:p>
        </p:txBody>
      </p:sp>
      <p:sp>
        <p:nvSpPr>
          <p:cNvPr id="12" name="Body Level One…"/>
          <p:cNvSpPr txBox="1"/>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0" name="Title Text"/>
          <p:cNvSpPr txBox="1"/>
          <p:nvPr>
            <p:ph type="title"/>
          </p:nvPr>
        </p:nvSpPr>
        <p:spPr>
          <a:xfrm>
            <a:off x="311699" y="2150849"/>
            <a:ext cx="8520602" cy="841801"/>
          </a:xfrm>
          <a:prstGeom prst="rect">
            <a:avLst/>
          </a:prstGeom>
        </p:spPr>
        <p:txBody>
          <a:bodyPr anchor="ctr"/>
          <a:lstStyle>
            <a:lvl1pPr algn="ctr">
              <a:defRPr sz="3600"/>
            </a:lvl1pPr>
          </a:lstStyle>
          <a:p>
            <a:pPr/>
            <a:r>
              <a:t>Title Text</a:t>
            </a:r>
          </a:p>
        </p:txBody>
      </p:sp>
      <p:sp>
        <p:nvSpPr>
          <p:cNvPr id="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28" name="Title Text"/>
          <p:cNvSpPr txBox="1"/>
          <p:nvPr>
            <p:ph type="title"/>
          </p:nvPr>
        </p:nvSpPr>
        <p:spPr>
          <a:prstGeom prst="rect">
            <a:avLst/>
          </a:prstGeom>
        </p:spPr>
        <p:txBody>
          <a:bodyPr/>
          <a:lstStyle/>
          <a:p>
            <a:pPr/>
            <a:r>
              <a:t>Title Text</a:t>
            </a:r>
          </a:p>
        </p:txBody>
      </p:sp>
      <p:sp>
        <p:nvSpPr>
          <p:cNvPr id="29"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sp>
        <p:nvSpPr>
          <p:cNvPr id="37" name="Title Text"/>
          <p:cNvSpPr txBox="1"/>
          <p:nvPr>
            <p:ph type="title"/>
          </p:nvPr>
        </p:nvSpPr>
        <p:spPr>
          <a:prstGeom prst="rect">
            <a:avLst/>
          </a:prstGeom>
        </p:spPr>
        <p:txBody>
          <a:bodyPr/>
          <a:lstStyle/>
          <a:p>
            <a:pPr/>
            <a:r>
              <a:t>Title Text</a:t>
            </a:r>
          </a:p>
        </p:txBody>
      </p:sp>
      <p:sp>
        <p:nvSpPr>
          <p:cNvPr id="38" name="Body Level One…"/>
          <p:cNvSpPr txBox="1"/>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pPr/>
            <a:r>
              <a:t>Body Level One</a:t>
            </a:r>
          </a:p>
          <a:p>
            <a:pPr lvl="1"/>
            <a:r>
              <a:t>Body Level Two</a:t>
            </a:r>
          </a:p>
          <a:p>
            <a:pPr lvl="2"/>
            <a:r>
              <a:t>Body Level Three</a:t>
            </a:r>
          </a:p>
          <a:p>
            <a:pPr lvl="3"/>
            <a:r>
              <a:t>Body Level Four</a:t>
            </a:r>
          </a:p>
          <a:p>
            <a:pPr lvl="4"/>
            <a:r>
              <a:t>Body Level Five</a:t>
            </a:r>
          </a:p>
        </p:txBody>
      </p:sp>
      <p:sp>
        <p:nvSpPr>
          <p:cNvPr id="39" name="Google Shape;23;p5"/>
          <p:cNvSpPr txBox="1"/>
          <p:nvPr>
            <p:ph type="body" sz="half" idx="21"/>
          </p:nvPr>
        </p:nvSpPr>
        <p:spPr>
          <a:xfrm>
            <a:off x="4832399" y="1152475"/>
            <a:ext cx="3999902" cy="3416400"/>
          </a:xfrm>
          <a:prstGeom prst="rect">
            <a:avLst/>
          </a:prstGeom>
        </p:spPr>
        <p:txBody>
          <a:bodyPr/>
          <a:lstStyle/>
          <a:p>
            <a:pPr indent="-317500">
              <a:buSzPts val="1400"/>
              <a:defRPr sz="1400"/>
            </a:pP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55" name="Title Text"/>
          <p:cNvSpPr txBox="1"/>
          <p:nvPr>
            <p:ph type="title"/>
          </p:nvPr>
        </p:nvSpPr>
        <p:spPr>
          <a:xfrm>
            <a:off x="311699" y="555600"/>
            <a:ext cx="2808001" cy="755700"/>
          </a:xfrm>
          <a:prstGeom prst="rect">
            <a:avLst/>
          </a:prstGeom>
        </p:spPr>
        <p:txBody>
          <a:bodyPr anchor="b"/>
          <a:lstStyle>
            <a:lvl1pPr>
              <a:defRPr sz="2400"/>
            </a:lvl1pPr>
          </a:lstStyle>
          <a:p>
            <a:pPr/>
            <a:r>
              <a:t>Title Text</a:t>
            </a:r>
          </a:p>
        </p:txBody>
      </p:sp>
      <p:sp>
        <p:nvSpPr>
          <p:cNvPr id="56" name="Body Level One…"/>
          <p:cNvSpPr txBox="1"/>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pPr/>
            <a:r>
              <a:t>Body Level One</a:t>
            </a:r>
          </a:p>
          <a:p>
            <a:pPr lvl="1"/>
            <a:r>
              <a:t>Body Level Two</a:t>
            </a:r>
          </a:p>
          <a:p>
            <a:pPr lvl="2"/>
            <a:r>
              <a:t>Body Level Three</a:t>
            </a:r>
          </a:p>
          <a:p>
            <a:pPr lvl="3"/>
            <a:r>
              <a:t>Body Level Four</a:t>
            </a:r>
          </a:p>
          <a:p>
            <a:pPr lvl="4"/>
            <a:r>
              <a:t>Body Level Five</a:t>
            </a:r>
          </a:p>
        </p:txBody>
      </p:sp>
      <p:sp>
        <p:nvSpPr>
          <p:cNvPr id="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IN_POINT">
    <p:spTree>
      <p:nvGrpSpPr>
        <p:cNvPr id="1" name=""/>
        <p:cNvGrpSpPr/>
        <p:nvPr/>
      </p:nvGrpSpPr>
      <p:grpSpPr>
        <a:xfrm>
          <a:off x="0" y="0"/>
          <a:ext cx="0" cy="0"/>
          <a:chOff x="0" y="0"/>
          <a:chExt cx="0" cy="0"/>
        </a:xfrm>
      </p:grpSpPr>
      <p:sp>
        <p:nvSpPr>
          <p:cNvPr id="64" name="Title Text"/>
          <p:cNvSpPr txBox="1"/>
          <p:nvPr>
            <p:ph type="title"/>
          </p:nvPr>
        </p:nvSpPr>
        <p:spPr>
          <a:xfrm>
            <a:off x="490250" y="450149"/>
            <a:ext cx="6367801" cy="4090801"/>
          </a:xfrm>
          <a:prstGeom prst="rect">
            <a:avLst/>
          </a:prstGeom>
        </p:spPr>
        <p:txBody>
          <a:bodyPr anchor="ctr"/>
          <a:lstStyle>
            <a:lvl1pPr>
              <a:defRPr sz="4800"/>
            </a:lvl1pPr>
          </a:lstStyle>
          <a:p>
            <a:pPr/>
            <a:r>
              <a:t>Title Text</a:t>
            </a: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125"/>
            <a:ext cx="4572000" cy="5143501"/>
          </a:xfrm>
          <a:prstGeom prst="rect">
            <a:avLst/>
          </a:prstGeom>
          <a:solidFill>
            <a:srgbClr val="EEEEEE"/>
          </a:solidFill>
          <a:ln w="12700">
            <a:miter lim="400000"/>
          </a:ln>
        </p:spPr>
        <p:txBody>
          <a:bodyPr lIns="0" tIns="0" rIns="0" bIns="0" anchor="ctr"/>
          <a:lstStyle/>
          <a:p>
            <a:pPr/>
          </a:p>
        </p:txBody>
      </p:sp>
      <p:sp>
        <p:nvSpPr>
          <p:cNvPr id="73" name="Title Text"/>
          <p:cNvSpPr txBox="1"/>
          <p:nvPr>
            <p:ph type="title"/>
          </p:nvPr>
        </p:nvSpPr>
        <p:spPr>
          <a:xfrm>
            <a:off x="265500" y="1233175"/>
            <a:ext cx="4045200" cy="1482301"/>
          </a:xfrm>
          <a:prstGeom prst="rect">
            <a:avLst/>
          </a:prstGeom>
        </p:spPr>
        <p:txBody>
          <a:bodyPr anchor="b"/>
          <a:lstStyle>
            <a:lvl1pPr algn="ctr">
              <a:defRPr sz="4200"/>
            </a:lvl1pPr>
          </a:lstStyle>
          <a:p>
            <a:pPr/>
            <a:r>
              <a:t>Title Text</a:t>
            </a:r>
          </a:p>
        </p:txBody>
      </p:sp>
      <p:sp>
        <p:nvSpPr>
          <p:cNvPr id="74" name="Body Level One…"/>
          <p:cNvSpPr txBox="1"/>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pPr/>
            <a:r>
              <a:t>Body Level One</a:t>
            </a:r>
          </a:p>
          <a:p>
            <a:pPr lvl="1"/>
            <a:r>
              <a:t>Body Level Two</a:t>
            </a:r>
          </a:p>
          <a:p>
            <a:pPr lvl="2"/>
            <a:r>
              <a:t>Body Level Three</a:t>
            </a:r>
          </a:p>
          <a:p>
            <a:pPr lvl="3"/>
            <a:r>
              <a:t>Body Level Four</a:t>
            </a:r>
          </a:p>
          <a:p>
            <a:pPr lvl="4"/>
            <a:r>
              <a:t>Body Level Five</a:t>
            </a:r>
          </a:p>
        </p:txBody>
      </p:sp>
      <p:sp>
        <p:nvSpPr>
          <p:cNvPr id="75" name="Google Shape;39;p9"/>
          <p:cNvSpPr txBox="1"/>
          <p:nvPr>
            <p:ph type="body" sz="half" idx="21"/>
          </p:nvPr>
        </p:nvSpPr>
        <p:spPr>
          <a:xfrm>
            <a:off x="4939500" y="724074"/>
            <a:ext cx="3837000" cy="3695102"/>
          </a:xfrm>
          <a:prstGeom prst="rect">
            <a:avLst/>
          </a:prstGeom>
        </p:spPr>
        <p:txBody>
          <a:bodyPr anchor="ctr"/>
          <a:lstStyle/>
          <a:p>
            <a:pP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
    <p:spTree>
      <p:nvGrpSpPr>
        <p:cNvPr id="1" name=""/>
        <p:cNvGrpSpPr/>
        <p:nvPr/>
      </p:nvGrpSpPr>
      <p:grpSpPr>
        <a:xfrm>
          <a:off x="0" y="0"/>
          <a:ext cx="0" cy="0"/>
          <a:chOff x="0" y="0"/>
          <a:chExt cx="0" cy="0"/>
        </a:xfrm>
      </p:grpSpPr>
      <p:sp>
        <p:nvSpPr>
          <p:cNvPr id="83" name="Body Level One…"/>
          <p:cNvSpPr txBox="1"/>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pPr/>
            <a:r>
              <a:t>Body Level One</a:t>
            </a:r>
          </a:p>
          <a:p>
            <a:pPr lvl="1"/>
            <a:r>
              <a:t>Body Level Two</a:t>
            </a:r>
          </a:p>
          <a:p>
            <a:pPr lvl="2"/>
            <a:r>
              <a:t>Body Level Three</a:t>
            </a:r>
          </a:p>
          <a:p>
            <a:pPr lvl="3"/>
            <a:r>
              <a:t>Body Level Four</a:t>
            </a:r>
          </a:p>
          <a:p>
            <a:pPr lvl="4"/>
            <a:r>
              <a:t>Body Level Five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_NUMBER">
    <p:spTree>
      <p:nvGrpSpPr>
        <p:cNvPr id="1" name=""/>
        <p:cNvGrpSpPr/>
        <p:nvPr/>
      </p:nvGrpSpPr>
      <p:grpSpPr>
        <a:xfrm>
          <a:off x="0" y="0"/>
          <a:ext cx="0" cy="0"/>
          <a:chOff x="0" y="0"/>
          <a:chExt cx="0" cy="0"/>
        </a:xfrm>
      </p:grpSpPr>
      <p:sp>
        <p:nvSpPr>
          <p:cNvPr id="91" name="xx%"/>
          <p:cNvSpPr txBox="1"/>
          <p:nvPr>
            <p:ph type="title" hasCustomPrompt="1"/>
          </p:nvPr>
        </p:nvSpPr>
        <p:spPr>
          <a:xfrm>
            <a:off x="311699" y="1106125"/>
            <a:ext cx="8520602" cy="1963500"/>
          </a:xfrm>
          <a:prstGeom prst="rect">
            <a:avLst/>
          </a:prstGeom>
        </p:spPr>
        <p:txBody>
          <a:bodyPr anchor="b"/>
          <a:lstStyle>
            <a:lvl1pPr algn="ctr">
              <a:defRPr sz="12000"/>
            </a:lvl1pPr>
          </a:lstStyle>
          <a:p>
            <a:pPr/>
            <a:r>
              <a:t>xx%</a:t>
            </a:r>
          </a:p>
        </p:txBody>
      </p:sp>
      <p:sp>
        <p:nvSpPr>
          <p:cNvPr id="92" name="Body Level One…"/>
          <p:cNvSpPr txBox="1"/>
          <p:nvPr>
            <p:ph type="body" sz="half" idx="1"/>
          </p:nvPr>
        </p:nvSpPr>
        <p:spPr>
          <a:xfrm>
            <a:off x="311699" y="3152225"/>
            <a:ext cx="8520602" cy="1300800"/>
          </a:xfrm>
          <a:prstGeom prst="rect">
            <a:avLst/>
          </a:prstGeom>
        </p:spPr>
        <p:txBody>
          <a:bodyPr/>
          <a:lstStyle>
            <a:lvl1pPr algn="ctr"/>
            <a:lvl2pPr algn="ctr"/>
            <a:lvl3pPr algn="ctr"/>
            <a:lvl4pPr algn="ctr"/>
            <a:lvl5pPr algn="ctr"/>
          </a:lstStyle>
          <a:p>
            <a:pPr/>
            <a:r>
              <a:t>Body Level One</a:t>
            </a:r>
          </a:p>
          <a:p>
            <a:pPr lvl="1"/>
            <a:r>
              <a:t>Body Level Two</a:t>
            </a:r>
          </a:p>
          <a:p>
            <a:pPr lvl="2"/>
            <a:r>
              <a:t>Body Level Three</a:t>
            </a:r>
          </a:p>
          <a:p>
            <a:pPr lvl="3"/>
            <a:r>
              <a:t>Body Level Four</a:t>
            </a:r>
          </a:p>
          <a:p>
            <a:pPr lvl="4"/>
            <a:r>
              <a:t>Body Level Five</a:t>
            </a: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311699" y="445025"/>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r>
              <a:t>Title Text</a:t>
            </a:r>
          </a:p>
        </p:txBody>
      </p:sp>
      <p:sp>
        <p:nvSpPr>
          <p:cNvPr id="3" name="Body Level One…"/>
          <p:cNvSpPr txBox="1"/>
          <p:nvPr>
            <p:ph type="body" idx="1"/>
          </p:nvPr>
        </p:nvSpPr>
        <p:spPr>
          <a:xfrm>
            <a:off x="311699" y="1152475"/>
            <a:ext cx="8520602" cy="34164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684345" y="4700819"/>
            <a:ext cx="336813" cy="318396"/>
          </a:xfrm>
          <a:prstGeom prst="rect">
            <a:avLst/>
          </a:prstGeom>
          <a:ln w="12700">
            <a:miter lim="400000"/>
          </a:ln>
        </p:spPr>
        <p:txBody>
          <a:bodyPr wrap="none" lIns="91424" tIns="91424" rIns="91424" bIns="91424" anchor="ctr">
            <a:normAutofit fontScale="100000" lnSpcReduction="0"/>
          </a:bodyPr>
          <a:lstStyle>
            <a:lvl1pPr algn="r">
              <a:defRPr sz="1000">
                <a:solidFill>
                  <a:schemeClr val="accent2">
                    <a:lumOff val="21764"/>
                  </a:schemeClr>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n-lt"/>
          <a:ea typeface="+mn-ea"/>
          <a:cs typeface="+mn-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n-lt"/>
          <a:ea typeface="+mn-ea"/>
          <a:cs typeface="+mn-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n-lt"/>
          <a:ea typeface="+mn-ea"/>
          <a:cs typeface="+mn-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n-lt"/>
          <a:ea typeface="+mn-ea"/>
          <a:cs typeface="+mn-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n-lt"/>
          <a:ea typeface="+mn-ea"/>
          <a:cs typeface="+mn-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n-lt"/>
          <a:ea typeface="+mn-ea"/>
          <a:cs typeface="+mn-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n-lt"/>
          <a:ea typeface="+mn-ea"/>
          <a:cs typeface="+mn-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n-lt"/>
          <a:ea typeface="+mn-ea"/>
          <a:cs typeface="+mn-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b="0" baseline="0" cap="none" i="0" spc="0" strike="noStrike" sz="1800" u="none">
          <a:solidFill>
            <a:schemeClr val="accent2">
              <a:lumOff val="21764"/>
            </a:schemeClr>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1145/3412379" TargetMode="External"/><Relationship Id="rId3" Type="http://schemas.openxmlformats.org/officeDocument/2006/relationships/hyperlink" Target="https://www.ibm.com/think/topics/model-deployment?utm_source=chatgpt.com" TargetMode="External"/><Relationship Id="rId4" Type="http://schemas.openxmlformats.org/officeDocument/2006/relationships/hyperlink" Target="https://doi.org/10.1109/ACCESS.2025.3602673" TargetMode="External"/><Relationship Id="rId5" Type="http://schemas.openxmlformats.org/officeDocument/2006/relationships/hyperlink" Target="https://doi.org/10.1016/j.dss.2024.114339" TargetMode="External"/><Relationship Id="rId6" Type="http://schemas.openxmlformats.org/officeDocument/2006/relationships/hyperlink" Target="https://doi.org/10.3390/jtaer20030194" TargetMode="External"/></Relationships>

</file>

<file path=ppt/slides/_rels/slide5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natinat/accommodation-ranking-assignment" TargetMode="External"/><Relationship Id="rId3" Type="http://schemas.openxmlformats.org/officeDocument/2006/relationships/hyperlink" Target="https://doi.org/10.5281/zenodo.3240529" TargetMode="External"/><Relationship Id="rId4" Type="http://schemas.openxmlformats.org/officeDocument/2006/relationships/hyperlink" Target="https://www.kaggle.com/datasets/pranavmahajan725/trivagorecsyschallengedata2019" TargetMode="External"/><Relationship Id="rId5" Type="http://schemas.openxmlformats.org/officeDocument/2006/relationships/hyperlink" Target="https://christophm.github.io/interpretable-ml-book/" TargetMode="External"/><Relationship Id="rId6" Type="http://schemas.openxmlformats.org/officeDocument/2006/relationships/hyperlink" Target="https://doi.org/10.3233/FAIA230840" TargetMode="External"/></Relationships>

</file>

<file path=ppt/slides/_rels/slide5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53894/ijirss.v8i6.9669" TargetMode="External"/><Relationship Id="rId3" Type="http://schemas.openxmlformats.org/officeDocument/2006/relationships/hyperlink" Target="https://arxiv.org/abs/2405.13786" TargetMode="External"/><Relationship Id="rId4" Type="http://schemas.openxmlformats.org/officeDocument/2006/relationships/hyperlink" Target="https://eur-lex.europa.eu/eli/reg/2016/679/oj/eng?utm_source=chatgpt.com" TargetMode="External"/><Relationship Id="rId5" Type="http://schemas.openxmlformats.org/officeDocument/2006/relationships/hyperlink" Target="https://doi.org/10.1145/3687151.3687156" TargetMode="External"/><Relationship Id="rId6" Type="http://schemas.openxmlformats.org/officeDocument/2006/relationships/hyperlink" Target="https://learning.oreilly.com/library/view/machine-learning-make/9781835882061/" TargetMode="External"/><Relationship Id="rId7" Type="http://schemas.openxmlformats.org/officeDocument/2006/relationships/hyperlink" Target="https://www.mirantis.com/blog/model-deployment-and-orchestration-the-definitive-guide/?utm_source=chatgpt.com" TargetMode="External"/><Relationship Id="rId8" Type="http://schemas.openxmlformats.org/officeDocument/2006/relationships/hyperlink" Target="https://arxiv.org/abs/2609.05748" TargetMode="External"/></Relationships>

</file>

<file path=ppt/slides/_rels/slide5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i.org/10.1145/2959100.2959190" TargetMode="External"/><Relationship Id="rId3" Type="http://schemas.openxmlformats.org/officeDocument/2006/relationships/hyperlink" Target="https://medium.com/data-science/recsys-series-part-8-the-14-properties-to-take-into-account-when-evaluating-real-world-recsys-f71cc6e1f195" TargetMode="External"/><Relationship Id="rId4" Type="http://schemas.openxmlformats.org/officeDocument/2006/relationships/hyperlink" Target="https://doi.org/10.1145/3172944.3172959" TargetMode="External"/><Relationship Id="rId5" Type="http://schemas.openxmlformats.org/officeDocument/2006/relationships/hyperlink" Target="https://doi.org/10.1145/3336191.3371814"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solidFill>
      </p:bgPr>
    </p:bg>
    <p:spTree>
      <p:nvGrpSpPr>
        <p:cNvPr id="1" name=""/>
        <p:cNvGrpSpPr/>
        <p:nvPr/>
      </p:nvGrpSpPr>
      <p:grpSpPr>
        <a:xfrm>
          <a:off x="0" y="0"/>
          <a:ext cx="0" cy="0"/>
          <a:chOff x="0" y="0"/>
          <a:chExt cx="0" cy="0"/>
        </a:xfrm>
      </p:grpSpPr>
      <p:sp>
        <p:nvSpPr>
          <p:cNvPr id="109" name="Google Shape;54;p13"/>
          <p:cNvSpPr txBox="1"/>
          <p:nvPr>
            <p:ph type="title"/>
          </p:nvPr>
        </p:nvSpPr>
        <p:spPr>
          <a:xfrm>
            <a:off x="311699" y="1067249"/>
            <a:ext cx="8520602" cy="3385501"/>
          </a:xfrm>
          <a:prstGeom prst="rect">
            <a:avLst/>
          </a:prstGeom>
        </p:spPr>
        <p:txBody>
          <a:bodyPr/>
          <a:lstStyle/>
          <a:p>
            <a:pPr algn="l">
              <a:defRPr b="1">
                <a:solidFill>
                  <a:srgbClr val="FFFFFF"/>
                </a:solidFill>
              </a:defRPr>
            </a:pPr>
            <a:r>
              <a:t>Machine Learning for Accommodation Ranking</a:t>
            </a:r>
          </a:p>
          <a:p>
            <a:pPr algn="l">
              <a:defRPr sz="2200">
                <a:solidFill>
                  <a:srgbClr val="FFFFFF"/>
                </a:solidFill>
              </a:defRPr>
            </a:pPr>
            <a:r>
              <a:t>Comparing Classical and Deep Learning Approaches Using Session Data</a:t>
            </a:r>
          </a:p>
          <a:p>
            <a:pPr algn="l"/>
            <a:endParaRPr sz="2200">
              <a:solidFill>
                <a:srgbClr val="FFFFFF"/>
              </a:solidFill>
            </a:endParaRPr>
          </a:p>
          <a:p>
            <a:pPr algn="l">
              <a:defRPr sz="2200">
                <a:solidFill>
                  <a:srgbClr val="FFFFFF"/>
                </a:solidFill>
              </a:defRPr>
            </a:pPr>
            <a:r>
              <a:t>Machine Learning Module - Online University of Essex</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Google Shape;59;p14"/>
          <p:cNvSpPr txBox="1"/>
          <p:nvPr>
            <p:ph type="title"/>
          </p:nvPr>
        </p:nvSpPr>
        <p:spPr>
          <a:xfrm>
            <a:off x="747599" y="250800"/>
            <a:ext cx="2808002" cy="755700"/>
          </a:xfrm>
          <a:prstGeom prst="rect">
            <a:avLst/>
          </a:prstGeom>
        </p:spPr>
        <p:txBody>
          <a:bodyPr/>
          <a:lstStyle>
            <a:lvl1pPr>
              <a:defRPr b="1"/>
            </a:lvl1pPr>
          </a:lstStyle>
          <a:p>
            <a:pPr/>
            <a:r>
              <a:t>Outline</a:t>
            </a:r>
          </a:p>
        </p:txBody>
      </p:sp>
      <p:sp>
        <p:nvSpPr>
          <p:cNvPr id="112" name="Google Shape;60;p14"/>
          <p:cNvSpPr txBox="1"/>
          <p:nvPr>
            <p:ph type="body" sz="quarter" idx="1"/>
          </p:nvPr>
        </p:nvSpPr>
        <p:spPr>
          <a:xfrm>
            <a:off x="1215900" y="1133231"/>
            <a:ext cx="4644300" cy="431101"/>
          </a:xfrm>
          <a:prstGeom prst="rect">
            <a:avLst/>
          </a:prstGeom>
        </p:spPr>
        <p:txBody>
          <a:bodyPr/>
          <a:lstStyle>
            <a:lvl1pPr marL="0" indent="0">
              <a:spcBef>
                <a:spcPts val="1200"/>
              </a:spcBef>
              <a:buSzTx/>
              <a:buNone/>
              <a:defRPr b="1" sz="1600">
                <a:solidFill>
                  <a:srgbClr val="000000"/>
                </a:solidFill>
              </a:defRPr>
            </a:lvl1pPr>
          </a:lstStyle>
          <a:p>
            <a:pPr/>
            <a:r>
              <a:t>Project introduction &amp; problem formulation</a:t>
            </a:r>
          </a:p>
        </p:txBody>
      </p:sp>
      <p:grpSp>
        <p:nvGrpSpPr>
          <p:cNvPr id="115" name="Google Shape;61;p14"/>
          <p:cNvGrpSpPr/>
          <p:nvPr/>
        </p:nvGrpSpPr>
        <p:grpSpPr>
          <a:xfrm>
            <a:off x="6247750" y="0"/>
            <a:ext cx="2896258" cy="5143500"/>
            <a:chOff x="0" y="0"/>
            <a:chExt cx="2896257" cy="5143500"/>
          </a:xfrm>
        </p:grpSpPr>
        <p:pic>
          <p:nvPicPr>
            <p:cNvPr id="113" name="Google Shape;62;p14" descr="Google Shape;62;p14"/>
            <p:cNvPicPr>
              <a:picLocks noChangeAspect="1"/>
            </p:cNvPicPr>
            <p:nvPr/>
          </p:nvPicPr>
          <p:blipFill>
            <a:blip r:embed="rId2">
              <a:extLst/>
            </a:blip>
            <a:srcRect l="68656" t="0" r="0" b="0"/>
            <a:stretch>
              <a:fillRect/>
            </a:stretch>
          </p:blipFill>
          <p:spPr>
            <a:xfrm>
              <a:off x="7" y="0"/>
              <a:ext cx="2896251" cy="5143500"/>
            </a:xfrm>
            <a:prstGeom prst="rect">
              <a:avLst/>
            </a:prstGeom>
            <a:ln w="12700" cap="flat">
              <a:noFill/>
              <a:miter lim="400000"/>
            </a:ln>
            <a:effectLst/>
          </p:spPr>
        </p:pic>
        <p:sp>
          <p:nvSpPr>
            <p:cNvPr id="114" name="Google Shape;63;p14"/>
            <p:cNvSpPr/>
            <p:nvPr/>
          </p:nvSpPr>
          <p:spPr>
            <a:xfrm>
              <a:off x="0" y="378699"/>
              <a:ext cx="1854300" cy="539401"/>
            </a:xfrm>
            <a:prstGeom prst="rect">
              <a:avLst/>
            </a:prstGeom>
            <a:solidFill>
              <a:srgbClr val="FAF4E8"/>
            </a:solidFill>
            <a:ln w="12700" cap="flat">
              <a:noFill/>
              <a:miter lim="400000"/>
            </a:ln>
            <a:effectLst/>
          </p:spPr>
          <p:txBody>
            <a:bodyPr wrap="square" lIns="0" tIns="0" rIns="0" bIns="0" numCol="1" anchor="ctr">
              <a:noAutofit/>
            </a:bodyPr>
            <a:lstStyle/>
            <a:p>
              <a:pPr algn="ctr"/>
            </a:p>
          </p:txBody>
        </p:sp>
      </p:grpSp>
      <p:sp>
        <p:nvSpPr>
          <p:cNvPr id="116" name="Google Shape;64;p14"/>
          <p:cNvSpPr txBox="1"/>
          <p:nvPr/>
        </p:nvSpPr>
        <p:spPr>
          <a:xfrm>
            <a:off x="747600" y="1084799"/>
            <a:ext cx="468301" cy="54076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2500">
                <a:solidFill>
                  <a:schemeClr val="accent5"/>
                </a:solidFill>
              </a:defRPr>
            </a:lvl1pPr>
          </a:lstStyle>
          <a:p>
            <a:pPr/>
            <a:r>
              <a:t>1</a:t>
            </a:r>
          </a:p>
        </p:txBody>
      </p:sp>
      <p:sp>
        <p:nvSpPr>
          <p:cNvPr id="117" name="Google Shape;65;p14"/>
          <p:cNvSpPr txBox="1"/>
          <p:nvPr/>
        </p:nvSpPr>
        <p:spPr>
          <a:xfrm>
            <a:off x="747600" y="1732500"/>
            <a:ext cx="468301" cy="54076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2500">
                <a:solidFill>
                  <a:schemeClr val="accent5"/>
                </a:solidFill>
              </a:defRPr>
            </a:lvl1pPr>
          </a:lstStyle>
          <a:p>
            <a:pPr/>
            <a:r>
              <a:t>2</a:t>
            </a:r>
          </a:p>
        </p:txBody>
      </p:sp>
      <p:sp>
        <p:nvSpPr>
          <p:cNvPr id="118" name="Google Shape;66;p14"/>
          <p:cNvSpPr txBox="1"/>
          <p:nvPr/>
        </p:nvSpPr>
        <p:spPr>
          <a:xfrm>
            <a:off x="747600" y="2380200"/>
            <a:ext cx="468301" cy="54076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2500">
                <a:solidFill>
                  <a:schemeClr val="accent5"/>
                </a:solidFill>
              </a:defRPr>
            </a:lvl1pPr>
          </a:lstStyle>
          <a:p>
            <a:pPr/>
            <a:r>
              <a:t>3</a:t>
            </a:r>
          </a:p>
        </p:txBody>
      </p:sp>
      <p:sp>
        <p:nvSpPr>
          <p:cNvPr id="119" name="Google Shape;67;p14"/>
          <p:cNvSpPr txBox="1"/>
          <p:nvPr/>
        </p:nvSpPr>
        <p:spPr>
          <a:xfrm>
            <a:off x="747600" y="3027900"/>
            <a:ext cx="468301" cy="54076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2500">
                <a:solidFill>
                  <a:schemeClr val="accent5"/>
                </a:solidFill>
              </a:defRPr>
            </a:lvl1pPr>
          </a:lstStyle>
          <a:p>
            <a:pPr/>
            <a:r>
              <a:t>5</a:t>
            </a:r>
          </a:p>
        </p:txBody>
      </p:sp>
      <p:sp>
        <p:nvSpPr>
          <p:cNvPr id="120" name="Google Shape;68;p14"/>
          <p:cNvSpPr txBox="1"/>
          <p:nvPr/>
        </p:nvSpPr>
        <p:spPr>
          <a:xfrm>
            <a:off x="747600" y="3675600"/>
            <a:ext cx="468301" cy="54076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2500">
                <a:solidFill>
                  <a:schemeClr val="accent5"/>
                </a:solidFill>
              </a:defRPr>
            </a:lvl1pPr>
          </a:lstStyle>
          <a:p>
            <a:pPr/>
            <a:r>
              <a:t>6</a:t>
            </a:r>
          </a:p>
        </p:txBody>
      </p:sp>
      <p:sp>
        <p:nvSpPr>
          <p:cNvPr id="121" name="Google Shape;69;p14"/>
          <p:cNvSpPr txBox="1"/>
          <p:nvPr/>
        </p:nvSpPr>
        <p:spPr>
          <a:xfrm>
            <a:off x="1215900" y="1794251"/>
            <a:ext cx="4098000" cy="40480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nSpc>
                <a:spcPct val="115000"/>
              </a:lnSpc>
              <a:spcBef>
                <a:spcPts val="1200"/>
              </a:spcBef>
              <a:defRPr b="1" sz="1600"/>
            </a:lvl1pPr>
          </a:lstStyle>
          <a:p>
            <a:pPr/>
            <a:r>
              <a:t>EDA &amp; preprocessing</a:t>
            </a:r>
          </a:p>
        </p:txBody>
      </p:sp>
      <p:sp>
        <p:nvSpPr>
          <p:cNvPr id="122" name="Google Shape;70;p14"/>
          <p:cNvSpPr txBox="1"/>
          <p:nvPr/>
        </p:nvSpPr>
        <p:spPr>
          <a:xfrm>
            <a:off x="1215900" y="2455272"/>
            <a:ext cx="4098000" cy="404803"/>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nSpc>
                <a:spcPct val="115000"/>
              </a:lnSpc>
              <a:spcBef>
                <a:spcPts val="1200"/>
              </a:spcBef>
              <a:defRPr b="1" sz="1600"/>
            </a:lvl1pPr>
          </a:lstStyle>
          <a:p>
            <a:pPr/>
            <a:r>
              <a:t>Experimental design &amp; model selection</a:t>
            </a:r>
          </a:p>
        </p:txBody>
      </p:sp>
      <p:sp>
        <p:nvSpPr>
          <p:cNvPr id="123" name="Google Shape;71;p14"/>
          <p:cNvSpPr txBox="1"/>
          <p:nvPr/>
        </p:nvSpPr>
        <p:spPr>
          <a:xfrm>
            <a:off x="1215900" y="3116291"/>
            <a:ext cx="4098000" cy="40480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nSpc>
                <a:spcPct val="115000"/>
              </a:lnSpc>
              <a:spcBef>
                <a:spcPts val="1200"/>
              </a:spcBef>
              <a:defRPr b="1" sz="1600"/>
            </a:lvl1pPr>
          </a:lstStyle>
          <a:p>
            <a:pPr/>
            <a:r>
              <a:t>Modelling, tuning &amp; evaluation</a:t>
            </a:r>
          </a:p>
        </p:txBody>
      </p:sp>
      <p:sp>
        <p:nvSpPr>
          <p:cNvPr id="124" name="Google Shape;72;p14"/>
          <p:cNvSpPr txBox="1"/>
          <p:nvPr/>
        </p:nvSpPr>
        <p:spPr>
          <a:xfrm>
            <a:off x="215699" y="5558399"/>
            <a:ext cx="3000002" cy="61304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nSpc>
                <a:spcPct val="115000"/>
              </a:lnSpc>
              <a:spcBef>
                <a:spcPts val="1200"/>
              </a:spcBef>
              <a:defRPr>
                <a:solidFill>
                  <a:schemeClr val="accent2">
                    <a:lumOff val="21764"/>
                  </a:schemeClr>
                </a:solidFill>
              </a:defRPr>
            </a:lvl1pPr>
          </a:lstStyle>
          <a:p>
            <a:pPr/>
            <a:r>
              <a:t>Conclusions, limitations &amp; next steps</a:t>
            </a:r>
          </a:p>
        </p:txBody>
      </p:sp>
      <p:sp>
        <p:nvSpPr>
          <p:cNvPr id="125" name="Google Shape;73;p14"/>
          <p:cNvSpPr txBox="1"/>
          <p:nvPr/>
        </p:nvSpPr>
        <p:spPr>
          <a:xfrm>
            <a:off x="1215900" y="3745024"/>
            <a:ext cx="4098000" cy="404803"/>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nSpc>
                <a:spcPct val="115000"/>
              </a:lnSpc>
              <a:spcBef>
                <a:spcPts val="1200"/>
              </a:spcBef>
              <a:defRPr b="1" sz="1600"/>
            </a:lvl1pPr>
          </a:lstStyle>
          <a:p>
            <a:pPr/>
            <a:r>
              <a:t>Conclusions, limitations &amp; next steps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solidFill>
      </p:bgPr>
    </p:bg>
    <p:spTree>
      <p:nvGrpSpPr>
        <p:cNvPr id="1" name=""/>
        <p:cNvGrpSpPr/>
        <p:nvPr/>
      </p:nvGrpSpPr>
      <p:grpSpPr>
        <a:xfrm>
          <a:off x="0" y="0"/>
          <a:ext cx="0" cy="0"/>
          <a:chOff x="0" y="0"/>
          <a:chExt cx="0" cy="0"/>
        </a:xfrm>
      </p:grpSpPr>
      <p:sp>
        <p:nvSpPr>
          <p:cNvPr id="127" name="Google Shape;78;p15"/>
          <p:cNvSpPr txBox="1"/>
          <p:nvPr>
            <p:ph type="title"/>
          </p:nvPr>
        </p:nvSpPr>
        <p:spPr>
          <a:xfrm>
            <a:off x="360424" y="2098350"/>
            <a:ext cx="8520602" cy="946800"/>
          </a:xfrm>
          <a:prstGeom prst="rect">
            <a:avLst/>
          </a:prstGeom>
        </p:spPr>
        <p:txBody>
          <a:bodyPr/>
          <a:lstStyle>
            <a:lvl1pPr>
              <a:defRPr sz="3200">
                <a:solidFill>
                  <a:srgbClr val="FFFFFF"/>
                </a:solidFill>
              </a:defRPr>
            </a:lvl1pPr>
          </a:lstStyle>
          <a:p>
            <a:pPr/>
            <a:r>
              <a:t>1. Project introduction &amp; problem formulation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Google Shape;86;p16"/>
          <p:cNvSpPr txBox="1"/>
          <p:nvPr>
            <p:ph type="title"/>
          </p:nvPr>
        </p:nvSpPr>
        <p:spPr>
          <a:xfrm>
            <a:off x="311699" y="225485"/>
            <a:ext cx="8520602" cy="417301"/>
          </a:xfrm>
          <a:prstGeom prst="rect">
            <a:avLst/>
          </a:prstGeom>
        </p:spPr>
        <p:txBody>
          <a:bodyPr/>
          <a:lstStyle>
            <a:lvl1pPr>
              <a:defRPr b="1" sz="1600"/>
            </a:lvl1pPr>
          </a:lstStyle>
          <a:p>
            <a:pPr/>
            <a:r>
              <a:t>1.1. Project introduction</a:t>
            </a:r>
          </a:p>
        </p:txBody>
      </p:sp>
      <p:sp>
        <p:nvSpPr>
          <p:cNvPr id="130" name="Google Shape;87;p16"/>
          <p:cNvSpPr txBox="1"/>
          <p:nvPr>
            <p:ph type="body" sz="half" idx="1"/>
          </p:nvPr>
        </p:nvSpPr>
        <p:spPr>
          <a:xfrm>
            <a:off x="389650" y="924524"/>
            <a:ext cx="3518100" cy="4105802"/>
          </a:xfrm>
          <a:prstGeom prst="rect">
            <a:avLst/>
          </a:prstGeom>
        </p:spPr>
        <p:txBody>
          <a:bodyPr/>
          <a:lstStyle/>
          <a:p>
            <a:pPr marL="0" indent="0">
              <a:spcBef>
                <a:spcPts val="1200"/>
              </a:spcBef>
              <a:buSzTx/>
              <a:buNone/>
              <a:defRPr b="1" sz="1500">
                <a:solidFill>
                  <a:srgbClr val="000000"/>
                </a:solidFill>
              </a:defRPr>
            </a:pPr>
            <a:r>
              <a:t>The problem</a:t>
            </a:r>
          </a:p>
          <a:p>
            <a:pPr marL="0" indent="0">
              <a:spcBef>
                <a:spcPts val="1200"/>
              </a:spcBef>
              <a:buSzTx/>
              <a:buNone/>
              <a:defRPr sz="1100">
                <a:solidFill>
                  <a:srgbClr val="000000"/>
                </a:solidFill>
              </a:defRPr>
            </a:pPr>
            <a:r>
              <a:t>Online accommodation platforms need to determine which available properties to show most prominently.</a:t>
            </a:r>
          </a:p>
          <a:p>
            <a:pPr marL="0" indent="0">
              <a:spcBef>
                <a:spcPts val="1200"/>
              </a:spcBef>
              <a:buSzTx/>
              <a:buNone/>
              <a:defRPr b="1" sz="1500">
                <a:solidFill>
                  <a:srgbClr val="000000"/>
                </a:solidFill>
              </a:defRPr>
            </a:pPr>
            <a:r>
              <a:t>Project aim</a:t>
            </a:r>
          </a:p>
          <a:p>
            <a:pPr marL="0" indent="0">
              <a:spcBef>
                <a:spcPts val="1200"/>
              </a:spcBef>
              <a:buSzTx/>
              <a:buNone/>
              <a:defRPr sz="1100">
                <a:solidFill>
                  <a:srgbClr val="000000"/>
                </a:solidFill>
              </a:defRPr>
            </a:pPr>
            <a:r>
              <a:t>Use Trivago search-session data to investigate machine-learning approaches for ranking candidate accommodations by likelihood of click.</a:t>
            </a:r>
          </a:p>
          <a:p>
            <a:pPr marL="0" indent="0">
              <a:spcBef>
                <a:spcPts val="1200"/>
              </a:spcBef>
              <a:buSzTx/>
              <a:buNone/>
              <a:defRPr b="1" sz="1100">
                <a:solidFill>
                  <a:srgbClr val="000000"/>
                </a:solidFill>
              </a:defRPr>
            </a:pPr>
            <a:r>
              <a:t>Dataset: </a:t>
            </a:r>
            <a:r>
              <a:rPr b="0"/>
              <a:t>Trivago RecSys Challenge 2019 interaction and accommodation metadata. (Mahajan, 2019)</a:t>
            </a:r>
          </a:p>
          <a:p>
            <a:pPr marL="0" indent="0">
              <a:spcBef>
                <a:spcPts val="1200"/>
              </a:spcBef>
              <a:buSzTx/>
              <a:buNone/>
              <a:defRPr b="1" sz="1100">
                <a:solidFill>
                  <a:srgbClr val="000000"/>
                </a:solidFill>
              </a:defRPr>
            </a:pPr>
            <a:r>
              <a:t>Approach: </a:t>
            </a:r>
            <a:r>
              <a:rPr b="0"/>
              <a:t>Compare classical and deep-learning models using a shared prediction task, predictor set and evaluation metrics. (Yu et al., 2024).</a:t>
            </a:r>
          </a:p>
          <a:p>
            <a:pPr marL="0" indent="0">
              <a:spcBef>
                <a:spcPts val="1200"/>
              </a:spcBef>
              <a:buSzTx/>
              <a:buNone/>
              <a:defRPr sz="1100">
                <a:solidFill>
                  <a:srgbClr val="000000"/>
                </a:solidFill>
              </a:defRPr>
            </a:pPr>
            <a:r>
              <a:t>(Tooling used can be found in Appendix C)</a:t>
            </a:r>
          </a:p>
        </p:txBody>
      </p:sp>
      <p:sp>
        <p:nvSpPr>
          <p:cNvPr id="131" name="Google Shape;88;p16"/>
          <p:cNvSpPr txBox="1"/>
          <p:nvPr/>
        </p:nvSpPr>
        <p:spPr>
          <a:xfrm>
            <a:off x="311699" y="524325"/>
            <a:ext cx="8520602"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i="1"/>
            </a:lvl1pPr>
          </a:lstStyle>
          <a:p>
            <a:pPr/>
            <a:r>
              <a:t>Comparing Classical and Deep Learning for Accommodation Ranking</a:t>
            </a:r>
          </a:p>
        </p:txBody>
      </p:sp>
      <p:sp>
        <p:nvSpPr>
          <p:cNvPr id="132" name="Google Shape;89;p16"/>
          <p:cNvSpPr/>
          <p:nvPr/>
        </p:nvSpPr>
        <p:spPr>
          <a:xfrm flipH="1">
            <a:off x="4315474" y="1351624"/>
            <a:ext cx="1" cy="3063702"/>
          </a:xfrm>
          <a:prstGeom prst="line">
            <a:avLst/>
          </a:prstGeom>
          <a:ln>
            <a:solidFill>
              <a:srgbClr val="B7B7B7"/>
            </a:solidFill>
            <a:headEnd type="oval"/>
            <a:tailEnd type="oval"/>
          </a:ln>
        </p:spPr>
        <p:txBody>
          <a:bodyPr lIns="0" tIns="0" rIns="0" bIns="0"/>
          <a:lstStyle/>
          <a:p>
            <a:pPr/>
          </a:p>
        </p:txBody>
      </p:sp>
      <p:grpSp>
        <p:nvGrpSpPr>
          <p:cNvPr id="135" name="Google Shape;91;p16"/>
          <p:cNvGrpSpPr/>
          <p:nvPr/>
        </p:nvGrpSpPr>
        <p:grpSpPr>
          <a:xfrm>
            <a:off x="5949450" y="1226625"/>
            <a:ext cx="1540501" cy="487651"/>
            <a:chOff x="0" y="0"/>
            <a:chExt cx="1540500" cy="487649"/>
          </a:xfrm>
        </p:grpSpPr>
        <p:sp>
          <p:nvSpPr>
            <p:cNvPr id="133" name="Rectangle"/>
            <p:cNvSpPr/>
            <p:nvPr/>
          </p:nvSpPr>
          <p:spPr>
            <a:xfrm>
              <a:off x="0" y="60674"/>
              <a:ext cx="1540501" cy="366301"/>
            </a:xfrm>
            <a:prstGeom prst="rect">
              <a:avLst/>
            </a:prstGeom>
            <a:solidFill>
              <a:srgbClr val="FFFFFF"/>
            </a:solidFill>
            <a:ln w="19050" cap="flat">
              <a:solidFill>
                <a:schemeClr val="accent5"/>
              </a:solidFill>
              <a:prstDash val="solid"/>
              <a:round/>
            </a:ln>
            <a:effectLst/>
          </p:spPr>
          <p:txBody>
            <a:bodyPr wrap="square" lIns="0" tIns="0" rIns="0" bIns="0" numCol="1" anchor="ctr">
              <a:noAutofit/>
            </a:bodyPr>
            <a:lstStyle/>
            <a:p>
              <a:pPr algn="ctr">
                <a:defRPr sz="1000">
                  <a:solidFill>
                    <a:schemeClr val="accent5"/>
                  </a:solidFill>
                  <a:latin typeface="Roboto"/>
                  <a:ea typeface="Roboto"/>
                  <a:cs typeface="Roboto"/>
                  <a:sym typeface="Roboto"/>
                </a:defRPr>
              </a:pPr>
            </a:p>
          </p:txBody>
        </p:sp>
        <p:sp>
          <p:nvSpPr>
            <p:cNvPr id="134" name="User searches for accommodation"/>
            <p:cNvSpPr txBox="1"/>
            <p:nvPr/>
          </p:nvSpPr>
          <p:spPr>
            <a:xfrm>
              <a:off x="9525" y="-1"/>
              <a:ext cx="1521451" cy="4876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000">
                  <a:solidFill>
                    <a:schemeClr val="accent5"/>
                  </a:solidFill>
                  <a:latin typeface="Roboto"/>
                  <a:ea typeface="Roboto"/>
                  <a:cs typeface="Roboto"/>
                  <a:sym typeface="Roboto"/>
                </a:defRPr>
              </a:lvl1pPr>
            </a:lstStyle>
            <a:p>
              <a:pPr/>
              <a:r>
                <a:t>User searches for accommodation</a:t>
              </a:r>
            </a:p>
          </p:txBody>
        </p:sp>
      </p:grpSp>
      <p:grpSp>
        <p:nvGrpSpPr>
          <p:cNvPr id="138" name="Google Shape;84;p16"/>
          <p:cNvGrpSpPr/>
          <p:nvPr/>
        </p:nvGrpSpPr>
        <p:grpSpPr>
          <a:xfrm>
            <a:off x="5950649" y="1899187"/>
            <a:ext cx="1538101" cy="487651"/>
            <a:chOff x="0" y="0"/>
            <a:chExt cx="1538100" cy="487649"/>
          </a:xfrm>
        </p:grpSpPr>
        <p:sp>
          <p:nvSpPr>
            <p:cNvPr id="136" name="Rectangle"/>
            <p:cNvSpPr/>
            <p:nvPr/>
          </p:nvSpPr>
          <p:spPr>
            <a:xfrm>
              <a:off x="0" y="60674"/>
              <a:ext cx="1538101" cy="366301"/>
            </a:xfrm>
            <a:prstGeom prst="rect">
              <a:avLst/>
            </a:prstGeom>
            <a:solidFill>
              <a:srgbClr val="FFFFFF"/>
            </a:solidFill>
            <a:ln w="19050" cap="flat">
              <a:solidFill>
                <a:schemeClr val="accent5"/>
              </a:solidFill>
              <a:prstDash val="solid"/>
              <a:round/>
            </a:ln>
            <a:effectLst/>
          </p:spPr>
          <p:txBody>
            <a:bodyPr wrap="square" lIns="0" tIns="0" rIns="0" bIns="0" numCol="1" anchor="ctr">
              <a:noAutofit/>
            </a:bodyPr>
            <a:lstStyle/>
            <a:p>
              <a:pPr algn="ctr">
                <a:defRPr sz="1000">
                  <a:solidFill>
                    <a:schemeClr val="accent5"/>
                  </a:solidFill>
                  <a:latin typeface="Roboto"/>
                  <a:ea typeface="Roboto"/>
                  <a:cs typeface="Roboto"/>
                  <a:sym typeface="Roboto"/>
                </a:defRPr>
              </a:pPr>
            </a:p>
          </p:txBody>
        </p:sp>
        <p:sp>
          <p:nvSpPr>
            <p:cNvPr id="137" name="Candidate list:…"/>
            <p:cNvSpPr txBox="1"/>
            <p:nvPr/>
          </p:nvSpPr>
          <p:spPr>
            <a:xfrm>
              <a:off x="9525" y="-1"/>
              <a:ext cx="1519051" cy="4876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defRPr sz="1000">
                  <a:solidFill>
                    <a:schemeClr val="accent5"/>
                  </a:solidFill>
                  <a:latin typeface="Roboto"/>
                  <a:ea typeface="Roboto"/>
                  <a:cs typeface="Roboto"/>
                  <a:sym typeface="Roboto"/>
                </a:defRPr>
              </a:pPr>
              <a:r>
                <a:t>Candidate list:</a:t>
              </a:r>
            </a:p>
            <a:p>
              <a:pPr algn="ctr">
                <a:defRPr sz="1000">
                  <a:solidFill>
                    <a:schemeClr val="accent5"/>
                  </a:solidFill>
                  <a:latin typeface="Roboto"/>
                  <a:ea typeface="Roboto"/>
                  <a:cs typeface="Roboto"/>
                  <a:sym typeface="Roboto"/>
                </a:defRPr>
              </a:pPr>
              <a:r>
                <a:t>available properties</a:t>
              </a:r>
            </a:p>
          </p:txBody>
        </p:sp>
      </p:grpSp>
      <p:grpSp>
        <p:nvGrpSpPr>
          <p:cNvPr id="141" name="Google Shape;85;p16"/>
          <p:cNvGrpSpPr/>
          <p:nvPr/>
        </p:nvGrpSpPr>
        <p:grpSpPr>
          <a:xfrm>
            <a:off x="5963349" y="4194112"/>
            <a:ext cx="1538101" cy="487651"/>
            <a:chOff x="0" y="0"/>
            <a:chExt cx="1538100" cy="487649"/>
          </a:xfrm>
        </p:grpSpPr>
        <p:sp>
          <p:nvSpPr>
            <p:cNvPr id="139" name="Rectangle"/>
            <p:cNvSpPr/>
            <p:nvPr/>
          </p:nvSpPr>
          <p:spPr>
            <a:xfrm>
              <a:off x="0" y="60674"/>
              <a:ext cx="1538101" cy="366301"/>
            </a:xfrm>
            <a:prstGeom prst="rect">
              <a:avLst/>
            </a:prstGeom>
            <a:solidFill>
              <a:srgbClr val="FFFFFF"/>
            </a:solidFill>
            <a:ln w="19050" cap="flat">
              <a:solidFill>
                <a:schemeClr val="accent5"/>
              </a:solidFill>
              <a:prstDash val="solid"/>
              <a:round/>
            </a:ln>
            <a:effectLst/>
          </p:spPr>
          <p:txBody>
            <a:bodyPr wrap="square" lIns="0" tIns="0" rIns="0" bIns="0" numCol="1" anchor="ctr">
              <a:noAutofit/>
            </a:bodyPr>
            <a:lstStyle/>
            <a:p>
              <a:pPr algn="ctr">
                <a:defRPr sz="1000">
                  <a:solidFill>
                    <a:schemeClr val="accent5"/>
                  </a:solidFill>
                  <a:latin typeface="Roboto"/>
                  <a:ea typeface="Roboto"/>
                  <a:cs typeface="Roboto"/>
                  <a:sym typeface="Roboto"/>
                </a:defRPr>
              </a:pPr>
            </a:p>
          </p:txBody>
        </p:sp>
        <p:sp>
          <p:nvSpPr>
            <p:cNvPr id="140" name="Clicked accommodation"/>
            <p:cNvSpPr txBox="1"/>
            <p:nvPr/>
          </p:nvSpPr>
          <p:spPr>
            <a:xfrm>
              <a:off x="9525" y="-1"/>
              <a:ext cx="1519051" cy="4876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000">
                  <a:solidFill>
                    <a:schemeClr val="accent5"/>
                  </a:solidFill>
                  <a:latin typeface="Roboto"/>
                  <a:ea typeface="Roboto"/>
                  <a:cs typeface="Roboto"/>
                  <a:sym typeface="Roboto"/>
                </a:defRPr>
              </a:lvl1pPr>
            </a:lstStyle>
            <a:p>
              <a:pPr/>
              <a:r>
                <a:t>Clicked accommodation</a:t>
              </a:r>
            </a:p>
          </p:txBody>
        </p:sp>
      </p:grpSp>
      <p:grpSp>
        <p:nvGrpSpPr>
          <p:cNvPr id="144" name="Google Shape;93;p16"/>
          <p:cNvGrpSpPr/>
          <p:nvPr/>
        </p:nvGrpSpPr>
        <p:grpSpPr>
          <a:xfrm>
            <a:off x="5950649" y="2576950"/>
            <a:ext cx="1538101" cy="487651"/>
            <a:chOff x="0" y="0"/>
            <a:chExt cx="1538100" cy="487649"/>
          </a:xfrm>
        </p:grpSpPr>
        <p:sp>
          <p:nvSpPr>
            <p:cNvPr id="142" name="Rectangle"/>
            <p:cNvSpPr/>
            <p:nvPr/>
          </p:nvSpPr>
          <p:spPr>
            <a:xfrm>
              <a:off x="0" y="60674"/>
              <a:ext cx="1538101" cy="366301"/>
            </a:xfrm>
            <a:prstGeom prst="rect">
              <a:avLst/>
            </a:prstGeom>
            <a:solidFill>
              <a:srgbClr val="FFFFFF"/>
            </a:solidFill>
            <a:ln w="19050" cap="flat">
              <a:solidFill>
                <a:schemeClr val="accent5"/>
              </a:solidFill>
              <a:prstDash val="solid"/>
              <a:round/>
            </a:ln>
            <a:effectLst/>
          </p:spPr>
          <p:txBody>
            <a:bodyPr wrap="square" lIns="0" tIns="0" rIns="0" bIns="0" numCol="1" anchor="ctr">
              <a:noAutofit/>
            </a:bodyPr>
            <a:lstStyle/>
            <a:p>
              <a:pPr algn="ctr">
                <a:defRPr sz="1000">
                  <a:solidFill>
                    <a:schemeClr val="accent5"/>
                  </a:solidFill>
                  <a:latin typeface="Roboto"/>
                  <a:ea typeface="Roboto"/>
                  <a:cs typeface="Roboto"/>
                  <a:sym typeface="Roboto"/>
                </a:defRPr>
              </a:pPr>
            </a:p>
          </p:txBody>
        </p:sp>
        <p:sp>
          <p:nvSpPr>
            <p:cNvPr id="143" name="Ranking candidates:…"/>
            <p:cNvSpPr txBox="1"/>
            <p:nvPr/>
          </p:nvSpPr>
          <p:spPr>
            <a:xfrm>
              <a:off x="9525" y="-1"/>
              <a:ext cx="1519051" cy="4876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lgn="ctr">
                <a:defRPr sz="1000">
                  <a:solidFill>
                    <a:schemeClr val="accent5"/>
                  </a:solidFill>
                  <a:latin typeface="Roboto"/>
                  <a:ea typeface="Roboto"/>
                  <a:cs typeface="Roboto"/>
                  <a:sym typeface="Roboto"/>
                </a:defRPr>
              </a:pPr>
              <a:r>
                <a:t>Ranking candidates:</a:t>
              </a:r>
            </a:p>
            <a:p>
              <a:pPr algn="ctr">
                <a:defRPr sz="1000">
                  <a:solidFill>
                    <a:schemeClr val="accent5"/>
                  </a:solidFill>
                  <a:latin typeface="Roboto"/>
                  <a:ea typeface="Roboto"/>
                  <a:cs typeface="Roboto"/>
                  <a:sym typeface="Roboto"/>
                </a:defRPr>
              </a:pPr>
              <a:r>
                <a:t>Ranking system</a:t>
              </a:r>
            </a:p>
          </p:txBody>
        </p:sp>
      </p:grpSp>
      <p:grpSp>
        <p:nvGrpSpPr>
          <p:cNvPr id="147" name="Google Shape;94;p16"/>
          <p:cNvGrpSpPr/>
          <p:nvPr/>
        </p:nvGrpSpPr>
        <p:grpSpPr>
          <a:xfrm>
            <a:off x="6082155" y="3397925"/>
            <a:ext cx="1301101" cy="366301"/>
            <a:chOff x="0" y="0"/>
            <a:chExt cx="1301100" cy="366300"/>
          </a:xfrm>
        </p:grpSpPr>
        <p:sp>
          <p:nvSpPr>
            <p:cNvPr id="145" name="Rectangle"/>
            <p:cNvSpPr/>
            <p:nvPr/>
          </p:nvSpPr>
          <p:spPr>
            <a:xfrm>
              <a:off x="-1" y="-1"/>
              <a:ext cx="1301102" cy="366302"/>
            </a:xfrm>
            <a:prstGeom prst="rect">
              <a:avLst/>
            </a:prstGeom>
            <a:solidFill>
              <a:srgbClr val="FFFFFF"/>
            </a:solidFill>
            <a:ln w="19050" cap="flat">
              <a:solidFill>
                <a:schemeClr val="accent5"/>
              </a:solidFill>
              <a:prstDash val="solid"/>
              <a:round/>
            </a:ln>
            <a:effectLst/>
          </p:spPr>
          <p:txBody>
            <a:bodyPr wrap="square" lIns="0" tIns="0" rIns="0" bIns="0" numCol="1" anchor="ctr">
              <a:noAutofit/>
            </a:bodyPr>
            <a:lstStyle/>
            <a:p>
              <a:pPr algn="ctr">
                <a:defRPr sz="1000">
                  <a:solidFill>
                    <a:schemeClr val="accent5"/>
                  </a:solidFill>
                  <a:latin typeface="Roboto"/>
                  <a:ea typeface="Roboto"/>
                  <a:cs typeface="Roboto"/>
                  <a:sym typeface="Roboto"/>
                </a:defRPr>
              </a:pPr>
            </a:p>
          </p:txBody>
        </p:sp>
        <p:sp>
          <p:nvSpPr>
            <p:cNvPr id="146" name="Accommodation B"/>
            <p:cNvSpPr txBox="1"/>
            <p:nvPr/>
          </p:nvSpPr>
          <p:spPr>
            <a:xfrm>
              <a:off x="9524" y="15525"/>
              <a:ext cx="1282052" cy="3352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000">
                  <a:solidFill>
                    <a:schemeClr val="accent5"/>
                  </a:solidFill>
                  <a:latin typeface="Roboto"/>
                  <a:ea typeface="Roboto"/>
                  <a:cs typeface="Roboto"/>
                  <a:sym typeface="Roboto"/>
                </a:defRPr>
              </a:lvl1pPr>
            </a:lstStyle>
            <a:p>
              <a:pPr/>
              <a:r>
                <a:t>Accommodation B</a:t>
              </a:r>
            </a:p>
          </p:txBody>
        </p:sp>
      </p:grpSp>
      <p:grpSp>
        <p:nvGrpSpPr>
          <p:cNvPr id="150" name="Google Shape;96;p16"/>
          <p:cNvGrpSpPr/>
          <p:nvPr/>
        </p:nvGrpSpPr>
        <p:grpSpPr>
          <a:xfrm>
            <a:off x="4584699" y="3397925"/>
            <a:ext cx="1301102" cy="366301"/>
            <a:chOff x="0" y="0"/>
            <a:chExt cx="1301100" cy="366300"/>
          </a:xfrm>
        </p:grpSpPr>
        <p:sp>
          <p:nvSpPr>
            <p:cNvPr id="148" name="Rectangle"/>
            <p:cNvSpPr/>
            <p:nvPr/>
          </p:nvSpPr>
          <p:spPr>
            <a:xfrm>
              <a:off x="-1" y="-1"/>
              <a:ext cx="1301102" cy="366302"/>
            </a:xfrm>
            <a:prstGeom prst="rect">
              <a:avLst/>
            </a:prstGeom>
            <a:solidFill>
              <a:srgbClr val="FFFFFF"/>
            </a:solidFill>
            <a:ln w="19050" cap="flat">
              <a:solidFill>
                <a:schemeClr val="accent5"/>
              </a:solidFill>
              <a:prstDash val="solid"/>
              <a:round/>
            </a:ln>
            <a:effectLst/>
          </p:spPr>
          <p:txBody>
            <a:bodyPr wrap="square" lIns="0" tIns="0" rIns="0" bIns="0" numCol="1" anchor="ctr">
              <a:noAutofit/>
            </a:bodyPr>
            <a:lstStyle/>
            <a:p>
              <a:pPr algn="ctr">
                <a:defRPr sz="1000">
                  <a:solidFill>
                    <a:schemeClr val="accent5"/>
                  </a:solidFill>
                  <a:latin typeface="Roboto"/>
                  <a:ea typeface="Roboto"/>
                  <a:cs typeface="Roboto"/>
                  <a:sym typeface="Roboto"/>
                </a:defRPr>
              </a:pPr>
            </a:p>
          </p:txBody>
        </p:sp>
        <p:sp>
          <p:nvSpPr>
            <p:cNvPr id="149" name="Accommodation A"/>
            <p:cNvSpPr txBox="1"/>
            <p:nvPr/>
          </p:nvSpPr>
          <p:spPr>
            <a:xfrm>
              <a:off x="9524" y="15525"/>
              <a:ext cx="1282052" cy="3352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000">
                  <a:solidFill>
                    <a:schemeClr val="accent5"/>
                  </a:solidFill>
                  <a:latin typeface="Roboto"/>
                  <a:ea typeface="Roboto"/>
                  <a:cs typeface="Roboto"/>
                  <a:sym typeface="Roboto"/>
                </a:defRPr>
              </a:lvl1pPr>
            </a:lstStyle>
            <a:p>
              <a:pPr/>
              <a:r>
                <a:t>Accommodation A</a:t>
              </a:r>
            </a:p>
          </p:txBody>
        </p:sp>
      </p:grpSp>
      <p:grpSp>
        <p:nvGrpSpPr>
          <p:cNvPr id="153" name="Google Shape;98;p16"/>
          <p:cNvGrpSpPr/>
          <p:nvPr/>
        </p:nvGrpSpPr>
        <p:grpSpPr>
          <a:xfrm>
            <a:off x="7579610" y="3397925"/>
            <a:ext cx="1301101" cy="366301"/>
            <a:chOff x="0" y="0"/>
            <a:chExt cx="1301100" cy="366300"/>
          </a:xfrm>
        </p:grpSpPr>
        <p:sp>
          <p:nvSpPr>
            <p:cNvPr id="151" name="Rectangle"/>
            <p:cNvSpPr/>
            <p:nvPr/>
          </p:nvSpPr>
          <p:spPr>
            <a:xfrm>
              <a:off x="-1" y="-1"/>
              <a:ext cx="1301102" cy="366302"/>
            </a:xfrm>
            <a:prstGeom prst="rect">
              <a:avLst/>
            </a:prstGeom>
            <a:solidFill>
              <a:srgbClr val="FFFFFF"/>
            </a:solidFill>
            <a:ln w="19050" cap="flat">
              <a:solidFill>
                <a:schemeClr val="accent5"/>
              </a:solidFill>
              <a:prstDash val="solid"/>
              <a:round/>
            </a:ln>
            <a:effectLst/>
          </p:spPr>
          <p:txBody>
            <a:bodyPr wrap="square" lIns="0" tIns="0" rIns="0" bIns="0" numCol="1" anchor="ctr">
              <a:noAutofit/>
            </a:bodyPr>
            <a:lstStyle/>
            <a:p>
              <a:pPr algn="ctr">
                <a:defRPr sz="1000">
                  <a:solidFill>
                    <a:schemeClr val="accent5"/>
                  </a:solidFill>
                  <a:latin typeface="Roboto"/>
                  <a:ea typeface="Roboto"/>
                  <a:cs typeface="Roboto"/>
                  <a:sym typeface="Roboto"/>
                </a:defRPr>
              </a:pPr>
            </a:p>
          </p:txBody>
        </p:sp>
        <p:sp>
          <p:nvSpPr>
            <p:cNvPr id="152" name="Accommodation n"/>
            <p:cNvSpPr txBox="1"/>
            <p:nvPr/>
          </p:nvSpPr>
          <p:spPr>
            <a:xfrm>
              <a:off x="9524" y="15525"/>
              <a:ext cx="1282052" cy="3352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000">
                  <a:solidFill>
                    <a:schemeClr val="accent5"/>
                  </a:solidFill>
                  <a:latin typeface="Roboto"/>
                  <a:ea typeface="Roboto"/>
                  <a:cs typeface="Roboto"/>
                  <a:sym typeface="Roboto"/>
                </a:defRPr>
              </a:lvl1pPr>
            </a:lstStyle>
            <a:p>
              <a:pPr/>
              <a:r>
                <a:t>Accommodation n</a:t>
              </a:r>
            </a:p>
          </p:txBody>
        </p:sp>
      </p:grpSp>
      <p:sp>
        <p:nvSpPr>
          <p:cNvPr id="154" name="Line"/>
          <p:cNvSpPr/>
          <p:nvPr/>
        </p:nvSpPr>
        <p:spPr>
          <a:xfrm>
            <a:off x="6721437" y="1672544"/>
            <a:ext cx="1" cy="258173"/>
          </a:xfrm>
          <a:prstGeom prst="line">
            <a:avLst/>
          </a:prstGeom>
          <a:ln w="25400">
            <a:solidFill>
              <a:srgbClr val="4A95A5"/>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155" name="Line"/>
          <p:cNvSpPr/>
          <p:nvPr/>
        </p:nvSpPr>
        <p:spPr>
          <a:xfrm>
            <a:off x="6719699" y="2333812"/>
            <a:ext cx="1" cy="258173"/>
          </a:xfrm>
          <a:prstGeom prst="line">
            <a:avLst/>
          </a:prstGeom>
          <a:ln w="25400">
            <a:solidFill>
              <a:srgbClr val="4A95A5"/>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156" name="Line"/>
          <p:cNvSpPr/>
          <p:nvPr/>
        </p:nvSpPr>
        <p:spPr>
          <a:xfrm>
            <a:off x="6719700" y="3047919"/>
            <a:ext cx="1" cy="366688"/>
          </a:xfrm>
          <a:prstGeom prst="line">
            <a:avLst/>
          </a:prstGeom>
          <a:ln w="25400">
            <a:solidFill>
              <a:srgbClr val="4A95A5"/>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157" name="Line"/>
          <p:cNvSpPr/>
          <p:nvPr/>
        </p:nvSpPr>
        <p:spPr>
          <a:xfrm flipH="1">
            <a:off x="5234576" y="3064111"/>
            <a:ext cx="1443716" cy="320202"/>
          </a:xfrm>
          <a:prstGeom prst="line">
            <a:avLst/>
          </a:prstGeom>
          <a:ln w="25400">
            <a:solidFill>
              <a:srgbClr val="4A95A5"/>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158" name="Line"/>
          <p:cNvSpPr/>
          <p:nvPr/>
        </p:nvSpPr>
        <p:spPr>
          <a:xfrm>
            <a:off x="6748700" y="3056179"/>
            <a:ext cx="1538107" cy="332375"/>
          </a:xfrm>
          <a:prstGeom prst="line">
            <a:avLst/>
          </a:prstGeom>
          <a:ln w="25400">
            <a:solidFill>
              <a:srgbClr val="4A95A5"/>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159" name="Line"/>
          <p:cNvSpPr/>
          <p:nvPr/>
        </p:nvSpPr>
        <p:spPr>
          <a:xfrm>
            <a:off x="6732705" y="3768606"/>
            <a:ext cx="1" cy="487651"/>
          </a:xfrm>
          <a:prstGeom prst="line">
            <a:avLst/>
          </a:prstGeom>
          <a:ln w="25400">
            <a:solidFill>
              <a:srgbClr val="4A95A5"/>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160" name="Line"/>
          <p:cNvSpPr/>
          <p:nvPr/>
        </p:nvSpPr>
        <p:spPr>
          <a:xfrm>
            <a:off x="5238801" y="3770582"/>
            <a:ext cx="1489076" cy="433811"/>
          </a:xfrm>
          <a:prstGeom prst="line">
            <a:avLst/>
          </a:prstGeom>
          <a:ln w="25400">
            <a:solidFill>
              <a:srgbClr val="4A95A5"/>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161" name="Line"/>
          <p:cNvSpPr/>
          <p:nvPr/>
        </p:nvSpPr>
        <p:spPr>
          <a:xfrm flipH="1">
            <a:off x="6728941" y="3770318"/>
            <a:ext cx="1571297" cy="435327"/>
          </a:xfrm>
          <a:prstGeom prst="line">
            <a:avLst/>
          </a:prstGeom>
          <a:ln w="25400">
            <a:solidFill>
              <a:srgbClr val="4A95A5"/>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Google Shape;104;p17"/>
          <p:cNvSpPr txBox="1"/>
          <p:nvPr>
            <p:ph type="title"/>
          </p:nvPr>
        </p:nvSpPr>
        <p:spPr>
          <a:xfrm>
            <a:off x="311699" y="445025"/>
            <a:ext cx="8520602" cy="572701"/>
          </a:xfrm>
          <a:prstGeom prst="rect">
            <a:avLst/>
          </a:prstGeom>
        </p:spPr>
        <p:txBody>
          <a:bodyPr/>
          <a:lstStyle>
            <a:lvl1pPr>
              <a:defRPr b="1" sz="1600"/>
            </a:lvl1pPr>
          </a:lstStyle>
          <a:p>
            <a:pPr/>
            <a:r>
              <a:t>1.2. Ranking &amp; recommendation in online travel</a:t>
            </a:r>
          </a:p>
        </p:txBody>
      </p:sp>
      <p:sp>
        <p:nvSpPr>
          <p:cNvPr id="164" name="Google Shape;105;p17"/>
          <p:cNvSpPr txBox="1"/>
          <p:nvPr>
            <p:ph type="body" idx="1"/>
          </p:nvPr>
        </p:nvSpPr>
        <p:spPr>
          <a:xfrm>
            <a:off x="311699" y="942599"/>
            <a:ext cx="8520602" cy="3908702"/>
          </a:xfrm>
          <a:prstGeom prst="rect">
            <a:avLst/>
          </a:prstGeom>
        </p:spPr>
        <p:txBody>
          <a:bodyPr/>
          <a:lstStyle/>
          <a:p>
            <a:pPr marL="0" indent="0">
              <a:buSzTx/>
              <a:buNone/>
              <a:defRPr b="1" sz="1100">
                <a:solidFill>
                  <a:srgbClr val="000000"/>
                </a:solidFill>
              </a:defRPr>
            </a:pPr>
            <a:r>
              <a:t>Why recommendation matters?</a:t>
            </a:r>
          </a:p>
          <a:p>
            <a:pPr marL="0" indent="0">
              <a:buSzTx/>
              <a:buNone/>
              <a:defRPr sz="1100">
                <a:solidFill>
                  <a:srgbClr val="000000"/>
                </a:solidFill>
              </a:defRPr>
            </a:pPr>
            <a:r>
              <a:t>Travellers make decisions in information-rich environments, creating a need to surface relevant alternatives </a:t>
            </a:r>
            <a:r>
              <a:rPr i="1"/>
              <a:t>(Flórez et al., 2025).</a:t>
            </a:r>
            <a:endParaRPr i="1"/>
          </a:p>
          <a:p>
            <a:pPr marL="0" indent="0">
              <a:spcBef>
                <a:spcPts val="1200"/>
              </a:spcBef>
              <a:buSzTx/>
              <a:buNone/>
              <a:defRPr b="1" sz="1100">
                <a:solidFill>
                  <a:srgbClr val="000000"/>
                </a:solidFill>
              </a:defRPr>
            </a:pPr>
            <a:r>
              <a:t>What drives relevance?</a:t>
            </a:r>
          </a:p>
          <a:p>
            <a:pPr marL="0" indent="0">
              <a:buSzTx/>
              <a:buNone/>
              <a:defRPr sz="1100">
                <a:solidFill>
                  <a:srgbClr val="000000"/>
                </a:solidFill>
              </a:defRPr>
            </a:pPr>
            <a:r>
              <a:t>User preferences &amp; behaviour • Search/session context • Item attributes • Contextual factors</a:t>
            </a:r>
            <a:r>
              <a:rPr i="1"/>
              <a:t> (Adamczak et al.; Flórez et al., 2025; Zaidi et al., 2026).</a:t>
            </a:r>
            <a:endParaRPr b="1"/>
          </a:p>
          <a:p>
            <a:pPr marL="0" indent="0">
              <a:spcBef>
                <a:spcPts val="1200"/>
              </a:spcBef>
              <a:buSzTx/>
              <a:buNone/>
              <a:defRPr b="1" sz="1100">
                <a:solidFill>
                  <a:srgbClr val="000000"/>
                </a:solidFill>
              </a:defRPr>
            </a:pPr>
            <a:r>
              <a:t>Key recommender-system challenges </a:t>
            </a:r>
            <a:r>
              <a:rPr b="0" i="1"/>
              <a:t>(Flórez et al., 2025; Devanathan et al., 2025)</a:t>
            </a:r>
            <a:r>
              <a:t>:</a:t>
            </a:r>
          </a:p>
          <a:p>
            <a:pPr indent="-298450">
              <a:spcBef>
                <a:spcPts val="1200"/>
              </a:spcBef>
              <a:buClr>
                <a:srgbClr val="000000"/>
              </a:buClr>
              <a:buSzPts val="1100"/>
              <a:defRPr b="1" sz="1100">
                <a:solidFill>
                  <a:srgbClr val="000000"/>
                </a:solidFill>
              </a:defRPr>
            </a:pPr>
            <a:r>
              <a:t>Context dependency </a:t>
            </a:r>
            <a:r>
              <a:rPr b="0"/>
              <a:t>— relevance changes with location, time and other situational factors</a:t>
            </a:r>
          </a:p>
          <a:p>
            <a:pPr indent="-298450">
              <a:buClr>
                <a:srgbClr val="000000"/>
              </a:buClr>
              <a:buSzPts val="1100"/>
              <a:defRPr b="1" sz="1100">
                <a:solidFill>
                  <a:srgbClr val="000000"/>
                </a:solidFill>
              </a:defRPr>
            </a:pPr>
            <a:r>
              <a:t>Data sparsity &amp; cold start </a:t>
            </a:r>
            <a:r>
              <a:rPr b="0"/>
              <a:t>— limited interaction history can constrain personalisation</a:t>
            </a:r>
          </a:p>
          <a:p>
            <a:pPr indent="-298450">
              <a:buClr>
                <a:srgbClr val="000000"/>
              </a:buClr>
              <a:buSzPts val="1100"/>
              <a:defRPr b="1" sz="1100">
                <a:solidFill>
                  <a:srgbClr val="000000"/>
                </a:solidFill>
              </a:defRPr>
            </a:pPr>
            <a:r>
              <a:t>Heterogeneous data</a:t>
            </a:r>
            <a:r>
              <a:rPr b="0"/>
              <a:t> — behavioural, contextual and item information must be integrated</a:t>
            </a:r>
          </a:p>
          <a:p>
            <a:pPr indent="-298450">
              <a:buClr>
                <a:srgbClr val="000000"/>
              </a:buClr>
              <a:buSzPts val="1100"/>
              <a:defRPr b="1" sz="1100">
                <a:solidFill>
                  <a:srgbClr val="000000"/>
                </a:solidFill>
              </a:defRPr>
            </a:pPr>
            <a:r>
              <a:t>Model complexity</a:t>
            </a:r>
            <a:r>
              <a:rPr b="0"/>
              <a:t> — more sophisticated models can improve representational capacity while reducing inherent interpretability</a:t>
            </a:r>
          </a:p>
          <a:p>
            <a:pPr marL="0" indent="0">
              <a:spcBef>
                <a:spcPts val="1200"/>
              </a:spcBef>
              <a:buSzTx/>
              <a:buNone/>
              <a:defRPr sz="1100">
                <a:solidFill>
                  <a:srgbClr val="000000"/>
                </a:solidFill>
              </a:defRPr>
            </a:pPr>
            <a:r>
              <a:t>Effective travel recommendation requires behavioural, contextual and item information to be combined while managing data sparsity, cold start and model interpretability.</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Google Shape;110;p18"/>
          <p:cNvSpPr txBox="1"/>
          <p:nvPr>
            <p:ph type="title"/>
          </p:nvPr>
        </p:nvSpPr>
        <p:spPr>
          <a:xfrm>
            <a:off x="311699" y="225485"/>
            <a:ext cx="8520602" cy="417301"/>
          </a:xfrm>
          <a:prstGeom prst="rect">
            <a:avLst/>
          </a:prstGeom>
        </p:spPr>
        <p:txBody>
          <a:bodyPr/>
          <a:lstStyle>
            <a:lvl1pPr>
              <a:defRPr b="1" sz="1600"/>
            </a:lvl1pPr>
          </a:lstStyle>
          <a:p>
            <a:pPr/>
            <a:r>
              <a:t>1.3. From Data Discovery to Research Question</a:t>
            </a:r>
          </a:p>
        </p:txBody>
      </p:sp>
      <p:sp>
        <p:nvSpPr>
          <p:cNvPr id="167" name="Google Shape;111;p18"/>
          <p:cNvSpPr txBox="1"/>
          <p:nvPr>
            <p:ph type="body" sz="half" idx="1"/>
          </p:nvPr>
        </p:nvSpPr>
        <p:spPr>
          <a:xfrm>
            <a:off x="311699" y="1077036"/>
            <a:ext cx="3907801" cy="3805800"/>
          </a:xfrm>
          <a:prstGeom prst="rect">
            <a:avLst/>
          </a:prstGeom>
        </p:spPr>
        <p:txBody>
          <a:bodyPr/>
          <a:lstStyle/>
          <a:p>
            <a:pPr marL="0" indent="0">
              <a:lnSpc>
                <a:spcPct val="103500"/>
              </a:lnSpc>
              <a:buSzTx/>
              <a:buNone/>
              <a:defRPr b="1" sz="1000">
                <a:solidFill>
                  <a:srgbClr val="000000"/>
                </a:solidFill>
              </a:defRPr>
            </a:pPr>
            <a:r>
              <a:t>Search context:</a:t>
            </a:r>
            <a:endParaRPr sz="2300"/>
          </a:p>
          <a:p>
            <a:pPr indent="-293861">
              <a:lnSpc>
                <a:spcPct val="103500"/>
              </a:lnSpc>
              <a:spcBef>
                <a:spcPts val="1200"/>
              </a:spcBef>
              <a:buClr>
                <a:srgbClr val="000000"/>
              </a:buClr>
              <a:buSzPct val="100000"/>
              <a:defRPr sz="900">
                <a:solidFill>
                  <a:srgbClr val="000000"/>
                </a:solidFill>
              </a:defRPr>
            </a:pPr>
            <a:r>
              <a:t>Searched destination</a:t>
            </a:r>
            <a:endParaRPr sz="2100"/>
          </a:p>
          <a:p>
            <a:pPr indent="-293861">
              <a:lnSpc>
                <a:spcPct val="103500"/>
              </a:lnSpc>
              <a:buClr>
                <a:srgbClr val="000000"/>
              </a:buClr>
              <a:buSzPct val="100000"/>
              <a:defRPr sz="900">
                <a:solidFill>
                  <a:srgbClr val="000000"/>
                </a:solidFill>
              </a:defRPr>
            </a:pPr>
            <a:r>
              <a:t>Used filters / sorts</a:t>
            </a:r>
            <a:endParaRPr sz="2100"/>
          </a:p>
          <a:p>
            <a:pPr marL="0" indent="0">
              <a:lnSpc>
                <a:spcPct val="103500"/>
              </a:lnSpc>
              <a:spcBef>
                <a:spcPts val="1200"/>
              </a:spcBef>
              <a:buSzTx/>
              <a:buNone/>
              <a:defRPr b="1" sz="1100">
                <a:solidFill>
                  <a:srgbClr val="000000"/>
                </a:solidFill>
              </a:defRPr>
            </a:pPr>
            <a:r>
              <a:t>Session context:</a:t>
            </a:r>
            <a:endParaRPr sz="2400"/>
          </a:p>
          <a:p>
            <a:pPr indent="-293861">
              <a:lnSpc>
                <a:spcPct val="103500"/>
              </a:lnSpc>
              <a:spcBef>
                <a:spcPts val="1200"/>
              </a:spcBef>
              <a:buClr>
                <a:srgbClr val="000000"/>
              </a:buClr>
              <a:buSzPct val="100000"/>
              <a:defRPr sz="900">
                <a:solidFill>
                  <a:srgbClr val="000000"/>
                </a:solidFill>
              </a:defRPr>
            </a:pPr>
            <a:r>
              <a:t>Session ID, user ID and timestamp</a:t>
            </a:r>
            <a:endParaRPr sz="2100"/>
          </a:p>
          <a:p>
            <a:pPr indent="-293861">
              <a:lnSpc>
                <a:spcPct val="103500"/>
              </a:lnSpc>
              <a:buClr>
                <a:srgbClr val="000000"/>
              </a:buClr>
              <a:buSzPct val="100000"/>
              <a:defRPr sz="900">
                <a:solidFill>
                  <a:srgbClr val="000000"/>
                </a:solidFill>
              </a:defRPr>
            </a:pPr>
            <a:r>
              <a:t>Number of action within session</a:t>
            </a:r>
            <a:endParaRPr sz="2100"/>
          </a:p>
          <a:p>
            <a:pPr indent="-293861">
              <a:lnSpc>
                <a:spcPct val="103500"/>
              </a:lnSpc>
              <a:buClr>
                <a:srgbClr val="000000"/>
              </a:buClr>
              <a:buSzPct val="100000"/>
              <a:defRPr sz="900">
                <a:solidFill>
                  <a:srgbClr val="000000"/>
                </a:solidFill>
              </a:defRPr>
            </a:pPr>
            <a:r>
              <a:t>Returned candidate IDs</a:t>
            </a:r>
            <a:endParaRPr sz="2100"/>
          </a:p>
          <a:p>
            <a:pPr indent="-293861">
              <a:lnSpc>
                <a:spcPct val="103500"/>
              </a:lnSpc>
              <a:buClr>
                <a:srgbClr val="000000"/>
              </a:buClr>
              <a:buSzPct val="100000"/>
              <a:defRPr sz="900">
                <a:solidFill>
                  <a:srgbClr val="000000"/>
                </a:solidFill>
              </a:defRPr>
            </a:pPr>
            <a:r>
              <a:t>Clickout event, including the clicked candidate’s ID</a:t>
            </a:r>
            <a:endParaRPr sz="2100"/>
          </a:p>
          <a:p>
            <a:pPr indent="-293861">
              <a:lnSpc>
                <a:spcPct val="103500"/>
              </a:lnSpc>
              <a:buClr>
                <a:srgbClr val="000000"/>
              </a:buClr>
              <a:buSzPct val="100000"/>
              <a:defRPr sz="900">
                <a:solidFill>
                  <a:srgbClr val="000000"/>
                </a:solidFill>
              </a:defRPr>
            </a:pPr>
            <a:r>
              <a:t>Platform (market, Trivago’s platforms), device, city</a:t>
            </a:r>
            <a:endParaRPr sz="2100"/>
          </a:p>
          <a:p>
            <a:pPr marL="0" indent="0">
              <a:lnSpc>
                <a:spcPct val="103500"/>
              </a:lnSpc>
              <a:spcBef>
                <a:spcPts val="1200"/>
              </a:spcBef>
              <a:buSzTx/>
              <a:buNone/>
              <a:defRPr b="1" sz="1000">
                <a:solidFill>
                  <a:srgbClr val="000000"/>
                </a:solidFill>
              </a:defRPr>
            </a:pPr>
            <a:r>
              <a:t>Accommodation Attributes:</a:t>
            </a:r>
            <a:endParaRPr sz="2300"/>
          </a:p>
          <a:p>
            <a:pPr indent="-294726">
              <a:lnSpc>
                <a:spcPct val="103500"/>
              </a:lnSpc>
              <a:spcBef>
                <a:spcPts val="1200"/>
              </a:spcBef>
              <a:buClr>
                <a:srgbClr val="000000"/>
              </a:buClr>
              <a:buSzPct val="100000"/>
              <a:defRPr sz="900">
                <a:solidFill>
                  <a:srgbClr val="000000"/>
                </a:solidFill>
              </a:defRPr>
            </a:pPr>
            <a:r>
              <a:t>Accommodation ID</a:t>
            </a:r>
            <a:endParaRPr sz="2100"/>
          </a:p>
          <a:p>
            <a:pPr indent="-294726">
              <a:lnSpc>
                <a:spcPct val="103500"/>
              </a:lnSpc>
              <a:buClr>
                <a:srgbClr val="000000"/>
              </a:buClr>
              <a:buSzPct val="100000"/>
              <a:defRPr sz="900">
                <a:solidFill>
                  <a:srgbClr val="000000"/>
                </a:solidFill>
              </a:defRPr>
            </a:pPr>
            <a:r>
              <a:t>Accommodation attributes such as facilities, amenities, theme, etc.</a:t>
            </a:r>
            <a:endParaRPr sz="2100"/>
          </a:p>
          <a:p>
            <a:pPr marL="0" indent="0">
              <a:lnSpc>
                <a:spcPct val="103500"/>
              </a:lnSpc>
              <a:spcBef>
                <a:spcPts val="1200"/>
              </a:spcBef>
              <a:buSzTx/>
              <a:buNone/>
              <a:defRPr b="1" sz="900">
                <a:solidFill>
                  <a:srgbClr val="000000"/>
                </a:solidFill>
              </a:defRPr>
            </a:pPr>
            <a:r>
              <a:t>Missing: meaningful long-term user history/profile</a:t>
            </a:r>
            <a:endParaRPr sz="2100"/>
          </a:p>
          <a:p>
            <a:pPr marL="0" indent="0">
              <a:lnSpc>
                <a:spcPct val="103500"/>
              </a:lnSpc>
              <a:spcBef>
                <a:spcPts val="1200"/>
              </a:spcBef>
              <a:buSzTx/>
              <a:buNone/>
              <a:defRPr sz="900">
                <a:solidFill>
                  <a:srgbClr val="000000"/>
                </a:solidFill>
              </a:defRPr>
            </a:pPr>
            <a:r>
              <a:t>predominantly a session-based cold-start setting</a:t>
            </a:r>
          </a:p>
        </p:txBody>
      </p:sp>
      <p:sp>
        <p:nvSpPr>
          <p:cNvPr id="168" name="Google Shape;112;p18"/>
          <p:cNvSpPr txBox="1"/>
          <p:nvPr/>
        </p:nvSpPr>
        <p:spPr>
          <a:xfrm>
            <a:off x="311699" y="524325"/>
            <a:ext cx="8520602" cy="38023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i="1"/>
            </a:lvl1pPr>
          </a:lstStyle>
          <a:p>
            <a:pPr/>
            <a:r>
              <a:t>Deciding on the ranking system based on the available data</a:t>
            </a:r>
          </a:p>
        </p:txBody>
      </p:sp>
      <p:grpSp>
        <p:nvGrpSpPr>
          <p:cNvPr id="171" name="Google Shape;113;p18"/>
          <p:cNvGrpSpPr/>
          <p:nvPr/>
        </p:nvGrpSpPr>
        <p:grpSpPr>
          <a:xfrm>
            <a:off x="5761325" y="1567836"/>
            <a:ext cx="2036101" cy="395701"/>
            <a:chOff x="0" y="0"/>
            <a:chExt cx="2036099" cy="395699"/>
          </a:xfrm>
        </p:grpSpPr>
        <p:sp>
          <p:nvSpPr>
            <p:cNvPr id="169" name="Rounded Rectangle"/>
            <p:cNvSpPr/>
            <p:nvPr/>
          </p:nvSpPr>
          <p:spPr>
            <a:xfrm>
              <a:off x="0" y="0"/>
              <a:ext cx="2036100" cy="395700"/>
            </a:xfrm>
            <a:prstGeom prst="roundRect">
              <a:avLst>
                <a:gd name="adj" fmla="val 16667"/>
              </a:avLst>
            </a:prstGeom>
            <a:solidFill>
              <a:schemeClr val="accent5"/>
            </a:solidFill>
            <a:ln w="12700" cap="flat">
              <a:noFill/>
              <a:miter lim="400000"/>
            </a:ln>
            <a:effectLst/>
          </p:spPr>
          <p:txBody>
            <a:bodyPr wrap="square" lIns="0" tIns="0" rIns="0" bIns="0" numCol="1" anchor="ctr">
              <a:noAutofit/>
            </a:bodyPr>
            <a:lstStyle/>
            <a:p>
              <a:pPr algn="ctr">
                <a:defRPr sz="1100">
                  <a:solidFill>
                    <a:srgbClr val="FFFFFF"/>
                  </a:solidFill>
                </a:defRPr>
              </a:pPr>
            </a:p>
          </p:txBody>
        </p:sp>
        <p:sp>
          <p:nvSpPr>
            <p:cNvPr id="170" name="Search / session context"/>
            <p:cNvSpPr txBox="1"/>
            <p:nvPr/>
          </p:nvSpPr>
          <p:spPr>
            <a:xfrm>
              <a:off x="19316" y="32510"/>
              <a:ext cx="1997469" cy="3306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100">
                  <a:solidFill>
                    <a:srgbClr val="FFFFFF"/>
                  </a:solidFill>
                </a:defRPr>
              </a:lvl1pPr>
            </a:lstStyle>
            <a:p>
              <a:pPr/>
              <a:r>
                <a:t>Search / session context</a:t>
              </a:r>
            </a:p>
          </p:txBody>
        </p:sp>
      </p:grpSp>
      <p:grpSp>
        <p:nvGrpSpPr>
          <p:cNvPr id="178" name="Google Shape;114;p18"/>
          <p:cNvGrpSpPr/>
          <p:nvPr/>
        </p:nvGrpSpPr>
        <p:grpSpPr>
          <a:xfrm>
            <a:off x="4625575" y="2124860"/>
            <a:ext cx="4307600" cy="505647"/>
            <a:chOff x="0" y="0"/>
            <a:chExt cx="4307599" cy="505645"/>
          </a:xfrm>
        </p:grpSpPr>
        <p:grpSp>
          <p:nvGrpSpPr>
            <p:cNvPr id="174" name="Google Shape;115;p18"/>
            <p:cNvGrpSpPr/>
            <p:nvPr/>
          </p:nvGrpSpPr>
          <p:grpSpPr>
            <a:xfrm>
              <a:off x="0" y="0"/>
              <a:ext cx="2389200" cy="505646"/>
              <a:chOff x="0" y="0"/>
              <a:chExt cx="2389199" cy="505645"/>
            </a:xfrm>
          </p:grpSpPr>
          <p:sp>
            <p:nvSpPr>
              <p:cNvPr id="172" name="Rounded Rectangle"/>
              <p:cNvSpPr/>
              <p:nvPr/>
            </p:nvSpPr>
            <p:spPr>
              <a:xfrm>
                <a:off x="0" y="0"/>
                <a:ext cx="2389200" cy="505646"/>
              </a:xfrm>
              <a:prstGeom prst="roundRect">
                <a:avLst>
                  <a:gd name="adj" fmla="val 16667"/>
                </a:avLst>
              </a:prstGeom>
              <a:solidFill>
                <a:schemeClr val="accent5"/>
              </a:solidFill>
              <a:ln w="12700" cap="flat">
                <a:noFill/>
                <a:miter lim="400000"/>
              </a:ln>
              <a:effectLst/>
            </p:spPr>
            <p:txBody>
              <a:bodyPr wrap="square" lIns="0" tIns="0" rIns="0" bIns="0" numCol="1" anchor="ctr">
                <a:noAutofit/>
              </a:bodyPr>
              <a:lstStyle/>
              <a:p>
                <a:pPr algn="ctr">
                  <a:defRPr sz="1100">
                    <a:solidFill>
                      <a:srgbClr val="FFFFFF"/>
                    </a:solidFill>
                  </a:defRPr>
                </a:pPr>
              </a:p>
            </p:txBody>
          </p:sp>
          <p:sp>
            <p:nvSpPr>
              <p:cNvPr id="173" name="Candidate accommodations (from Trivago impressions)"/>
              <p:cNvSpPr txBox="1"/>
              <p:nvPr/>
            </p:nvSpPr>
            <p:spPr>
              <a:xfrm>
                <a:off x="24684" y="11282"/>
                <a:ext cx="2339832" cy="4830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100">
                    <a:solidFill>
                      <a:srgbClr val="FFFFFF"/>
                    </a:solidFill>
                  </a:defRPr>
                </a:lvl1pPr>
              </a:lstStyle>
              <a:p>
                <a:pPr/>
                <a:r>
                  <a:t>Candidate accommodations (from Trivago impressions)</a:t>
                </a:r>
              </a:p>
            </p:txBody>
          </p:sp>
        </p:grpSp>
        <p:grpSp>
          <p:nvGrpSpPr>
            <p:cNvPr id="177" name="Google Shape;116;p18"/>
            <p:cNvGrpSpPr/>
            <p:nvPr/>
          </p:nvGrpSpPr>
          <p:grpSpPr>
            <a:xfrm>
              <a:off x="2478199" y="0"/>
              <a:ext cx="1829401" cy="505646"/>
              <a:chOff x="0" y="0"/>
              <a:chExt cx="1829399" cy="505645"/>
            </a:xfrm>
          </p:grpSpPr>
          <p:sp>
            <p:nvSpPr>
              <p:cNvPr id="175" name="Rounded Rectangle"/>
              <p:cNvSpPr/>
              <p:nvPr/>
            </p:nvSpPr>
            <p:spPr>
              <a:xfrm>
                <a:off x="0" y="0"/>
                <a:ext cx="1829400" cy="505646"/>
              </a:xfrm>
              <a:prstGeom prst="roundRect">
                <a:avLst>
                  <a:gd name="adj" fmla="val 16667"/>
                </a:avLst>
              </a:prstGeom>
              <a:solidFill>
                <a:schemeClr val="accent5"/>
              </a:solidFill>
              <a:ln w="12700" cap="flat">
                <a:noFill/>
                <a:miter lim="400000"/>
              </a:ln>
              <a:effectLst/>
            </p:spPr>
            <p:txBody>
              <a:bodyPr wrap="square" lIns="0" tIns="0" rIns="0" bIns="0" numCol="1" anchor="ctr">
                <a:noAutofit/>
              </a:bodyPr>
              <a:lstStyle/>
              <a:p>
                <a:pPr algn="ctr">
                  <a:defRPr sz="1100">
                    <a:solidFill>
                      <a:srgbClr val="FFFFFF"/>
                    </a:solidFill>
                  </a:defRPr>
                </a:pPr>
              </a:p>
            </p:txBody>
          </p:sp>
          <p:sp>
            <p:nvSpPr>
              <p:cNvPr id="176" name="Accommodation attributes (metadata)"/>
              <p:cNvSpPr txBox="1"/>
              <p:nvPr/>
            </p:nvSpPr>
            <p:spPr>
              <a:xfrm>
                <a:off x="24683" y="11282"/>
                <a:ext cx="1780033" cy="4830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100">
                    <a:solidFill>
                      <a:srgbClr val="FFFFFF"/>
                    </a:solidFill>
                  </a:defRPr>
                </a:lvl1pPr>
              </a:lstStyle>
              <a:p>
                <a:pPr/>
                <a:r>
                  <a:t>Accommodation attributes (metadata)</a:t>
                </a:r>
              </a:p>
            </p:txBody>
          </p:sp>
        </p:grpSp>
      </p:grpSp>
      <p:grpSp>
        <p:nvGrpSpPr>
          <p:cNvPr id="181" name="Google Shape;117;p18"/>
          <p:cNvGrpSpPr/>
          <p:nvPr/>
        </p:nvGrpSpPr>
        <p:grpSpPr>
          <a:xfrm>
            <a:off x="5907275" y="2791911"/>
            <a:ext cx="1744201" cy="379501"/>
            <a:chOff x="0" y="0"/>
            <a:chExt cx="1744199" cy="379499"/>
          </a:xfrm>
        </p:grpSpPr>
        <p:sp>
          <p:nvSpPr>
            <p:cNvPr id="179" name="Rounded Rectangle"/>
            <p:cNvSpPr/>
            <p:nvPr/>
          </p:nvSpPr>
          <p:spPr>
            <a:xfrm>
              <a:off x="0" y="0"/>
              <a:ext cx="1744200" cy="379500"/>
            </a:xfrm>
            <a:prstGeom prst="roundRect">
              <a:avLst>
                <a:gd name="adj" fmla="val 16667"/>
              </a:avLst>
            </a:prstGeom>
            <a:solidFill>
              <a:schemeClr val="accent5"/>
            </a:solidFill>
            <a:ln w="12700" cap="flat">
              <a:noFill/>
              <a:miter lim="400000"/>
            </a:ln>
            <a:effectLst/>
          </p:spPr>
          <p:txBody>
            <a:bodyPr wrap="square" lIns="0" tIns="0" rIns="0" bIns="0" numCol="1" anchor="ctr">
              <a:noAutofit/>
            </a:bodyPr>
            <a:lstStyle/>
            <a:p>
              <a:pPr algn="ctr">
                <a:defRPr sz="1100">
                  <a:solidFill>
                    <a:srgbClr val="FFFFFF"/>
                  </a:solidFill>
                </a:defRPr>
              </a:pPr>
            </a:p>
          </p:txBody>
        </p:sp>
        <p:sp>
          <p:nvSpPr>
            <p:cNvPr id="180" name="Ranking model"/>
            <p:cNvSpPr txBox="1"/>
            <p:nvPr/>
          </p:nvSpPr>
          <p:spPr>
            <a:xfrm>
              <a:off x="18526" y="24410"/>
              <a:ext cx="1707147" cy="3306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100">
                  <a:solidFill>
                    <a:srgbClr val="FFFFFF"/>
                  </a:solidFill>
                </a:defRPr>
              </a:lvl1pPr>
            </a:lstStyle>
            <a:p>
              <a:pPr/>
              <a:r>
                <a:t>Ranking model</a:t>
              </a:r>
            </a:p>
          </p:txBody>
        </p:sp>
      </p:grpSp>
      <p:grpSp>
        <p:nvGrpSpPr>
          <p:cNvPr id="188" name="Google Shape;118;p18"/>
          <p:cNvGrpSpPr/>
          <p:nvPr/>
        </p:nvGrpSpPr>
        <p:grpSpPr>
          <a:xfrm>
            <a:off x="4756250" y="3332665"/>
            <a:ext cx="4046250" cy="505646"/>
            <a:chOff x="0" y="0"/>
            <a:chExt cx="4046249" cy="505645"/>
          </a:xfrm>
        </p:grpSpPr>
        <p:grpSp>
          <p:nvGrpSpPr>
            <p:cNvPr id="184" name="Google Shape;119;p18"/>
            <p:cNvGrpSpPr/>
            <p:nvPr/>
          </p:nvGrpSpPr>
          <p:grpSpPr>
            <a:xfrm>
              <a:off x="0" y="0"/>
              <a:ext cx="1980301" cy="505646"/>
              <a:chOff x="0" y="0"/>
              <a:chExt cx="1980300" cy="505645"/>
            </a:xfrm>
          </p:grpSpPr>
          <p:sp>
            <p:nvSpPr>
              <p:cNvPr id="182" name="Rounded Rectangle"/>
              <p:cNvSpPr/>
              <p:nvPr/>
            </p:nvSpPr>
            <p:spPr>
              <a:xfrm>
                <a:off x="0" y="0"/>
                <a:ext cx="1980301" cy="505646"/>
              </a:xfrm>
              <a:prstGeom prst="roundRect">
                <a:avLst>
                  <a:gd name="adj" fmla="val 16667"/>
                </a:avLst>
              </a:prstGeom>
              <a:solidFill>
                <a:schemeClr val="accent5"/>
              </a:solidFill>
              <a:ln w="12700" cap="flat">
                <a:noFill/>
                <a:miter lim="400000"/>
              </a:ln>
              <a:effectLst/>
            </p:spPr>
            <p:txBody>
              <a:bodyPr wrap="square" lIns="0" tIns="0" rIns="0" bIns="0" numCol="1" anchor="ctr">
                <a:noAutofit/>
              </a:bodyPr>
              <a:lstStyle/>
              <a:p>
                <a:pPr algn="ctr">
                  <a:defRPr sz="1100">
                    <a:solidFill>
                      <a:srgbClr val="FFFFFF"/>
                    </a:solidFill>
                  </a:defRPr>
                </a:pPr>
              </a:p>
            </p:txBody>
          </p:sp>
          <p:sp>
            <p:nvSpPr>
              <p:cNvPr id="183" name="Relevance score per candidate"/>
              <p:cNvSpPr txBox="1"/>
              <p:nvPr/>
            </p:nvSpPr>
            <p:spPr>
              <a:xfrm>
                <a:off x="24684" y="11282"/>
                <a:ext cx="1930932" cy="4830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100">
                    <a:solidFill>
                      <a:srgbClr val="FFFFFF"/>
                    </a:solidFill>
                  </a:defRPr>
                </a:lvl1pPr>
              </a:lstStyle>
              <a:p>
                <a:pPr/>
                <a:r>
                  <a:t>Relevance score per candidate</a:t>
                </a:r>
              </a:p>
            </p:txBody>
          </p:sp>
        </p:grpSp>
        <p:grpSp>
          <p:nvGrpSpPr>
            <p:cNvPr id="187" name="Google Shape;120;p18"/>
            <p:cNvGrpSpPr/>
            <p:nvPr/>
          </p:nvGrpSpPr>
          <p:grpSpPr>
            <a:xfrm>
              <a:off x="2065949" y="0"/>
              <a:ext cx="1980301" cy="505646"/>
              <a:chOff x="0" y="0"/>
              <a:chExt cx="1980300" cy="505645"/>
            </a:xfrm>
          </p:grpSpPr>
          <p:sp>
            <p:nvSpPr>
              <p:cNvPr id="185" name="Rounded Rectangle"/>
              <p:cNvSpPr/>
              <p:nvPr/>
            </p:nvSpPr>
            <p:spPr>
              <a:xfrm>
                <a:off x="0" y="0"/>
                <a:ext cx="1980301" cy="505646"/>
              </a:xfrm>
              <a:prstGeom prst="roundRect">
                <a:avLst>
                  <a:gd name="adj" fmla="val 16667"/>
                </a:avLst>
              </a:prstGeom>
              <a:solidFill>
                <a:schemeClr val="accent5"/>
              </a:solidFill>
              <a:ln w="12700" cap="flat">
                <a:noFill/>
                <a:miter lim="400000"/>
              </a:ln>
              <a:effectLst/>
            </p:spPr>
            <p:txBody>
              <a:bodyPr wrap="square" lIns="0" tIns="0" rIns="0" bIns="0" numCol="1" anchor="ctr">
                <a:noAutofit/>
              </a:bodyPr>
              <a:lstStyle/>
              <a:p>
                <a:pPr algn="ctr">
                  <a:defRPr sz="1100">
                    <a:solidFill>
                      <a:srgbClr val="FFFFFF"/>
                    </a:solidFill>
                  </a:defRPr>
                </a:pPr>
              </a:p>
            </p:txBody>
          </p:sp>
          <p:sp>
            <p:nvSpPr>
              <p:cNvPr id="186" name="Ranked accommodation list"/>
              <p:cNvSpPr txBox="1"/>
              <p:nvPr/>
            </p:nvSpPr>
            <p:spPr>
              <a:xfrm>
                <a:off x="24684" y="87482"/>
                <a:ext cx="1930932" cy="33068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100">
                    <a:solidFill>
                      <a:srgbClr val="FFFFFF"/>
                    </a:solidFill>
                  </a:defRPr>
                </a:lvl1pPr>
              </a:lstStyle>
              <a:p>
                <a:pPr/>
                <a:r>
                  <a:t>Ranked accommodation list</a:t>
                </a:r>
              </a:p>
            </p:txBody>
          </p:sp>
        </p:grpSp>
      </p:grpSp>
      <p:grpSp>
        <p:nvGrpSpPr>
          <p:cNvPr id="191" name="Google Shape;121;p18"/>
          <p:cNvGrpSpPr/>
          <p:nvPr/>
        </p:nvGrpSpPr>
        <p:grpSpPr>
          <a:xfrm>
            <a:off x="5761325" y="3999767"/>
            <a:ext cx="2036101" cy="505801"/>
            <a:chOff x="0" y="0"/>
            <a:chExt cx="2036099" cy="505799"/>
          </a:xfrm>
        </p:grpSpPr>
        <p:sp>
          <p:nvSpPr>
            <p:cNvPr id="189" name="Rounded Rectangle"/>
            <p:cNvSpPr/>
            <p:nvPr/>
          </p:nvSpPr>
          <p:spPr>
            <a:xfrm>
              <a:off x="0" y="0"/>
              <a:ext cx="2036100" cy="505800"/>
            </a:xfrm>
            <a:prstGeom prst="roundRect">
              <a:avLst>
                <a:gd name="adj" fmla="val 16667"/>
              </a:avLst>
            </a:prstGeom>
            <a:solidFill>
              <a:schemeClr val="accent5"/>
            </a:solidFill>
            <a:ln w="12700" cap="flat">
              <a:noFill/>
              <a:miter lim="400000"/>
            </a:ln>
            <a:effectLst/>
          </p:spPr>
          <p:txBody>
            <a:bodyPr wrap="square" lIns="0" tIns="0" rIns="0" bIns="0" numCol="1" anchor="ctr">
              <a:noAutofit/>
            </a:bodyPr>
            <a:lstStyle/>
            <a:p>
              <a:pPr algn="ctr">
                <a:defRPr sz="1100">
                  <a:solidFill>
                    <a:srgbClr val="FFFFFF"/>
                  </a:solidFill>
                </a:defRPr>
              </a:pPr>
            </a:p>
          </p:txBody>
        </p:sp>
        <p:sp>
          <p:nvSpPr>
            <p:cNvPr id="190" name="Most likely clicked candidate (ranked 1st)"/>
            <p:cNvSpPr txBox="1"/>
            <p:nvPr/>
          </p:nvSpPr>
          <p:spPr>
            <a:xfrm>
              <a:off x="24690" y="11360"/>
              <a:ext cx="1986720" cy="4830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lgn="ctr">
                <a:defRPr sz="1100">
                  <a:solidFill>
                    <a:srgbClr val="FFFFFF"/>
                  </a:solidFill>
                </a:defRPr>
              </a:lvl1pPr>
            </a:lstStyle>
            <a:p>
              <a:pPr/>
              <a:r>
                <a:t>Most likely clicked candidate (ranked 1st)</a:t>
              </a:r>
            </a:p>
          </p:txBody>
        </p:sp>
      </p:grpSp>
      <p:sp>
        <p:nvSpPr>
          <p:cNvPr id="192" name="Google Shape;122;p18"/>
          <p:cNvSpPr/>
          <p:nvPr/>
        </p:nvSpPr>
        <p:spPr>
          <a:xfrm flipH="1">
            <a:off x="4383675" y="1303485"/>
            <a:ext cx="1" cy="3063702"/>
          </a:xfrm>
          <a:prstGeom prst="line">
            <a:avLst/>
          </a:prstGeom>
          <a:ln>
            <a:solidFill>
              <a:srgbClr val="B7B7B7"/>
            </a:solidFill>
            <a:headEnd type="oval"/>
            <a:tailEnd type="oval"/>
          </a:ln>
        </p:spPr>
        <p:txBody>
          <a:bodyPr lIns="0" tIns="0" rIns="0" bIns="0"/>
          <a:lstStyle/>
          <a:p>
            <a:pPr/>
          </a:p>
        </p:txBody>
      </p:sp>
      <p:sp>
        <p:nvSpPr>
          <p:cNvPr id="193" name="Google Shape;123;p18"/>
          <p:cNvSpPr txBox="1"/>
          <p:nvPr/>
        </p:nvSpPr>
        <p:spPr>
          <a:xfrm>
            <a:off x="4871225" y="882122"/>
            <a:ext cx="3816301" cy="53664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ctr">
              <a:defRPr b="1" sz="1200"/>
            </a:lvl1pPr>
          </a:lstStyle>
          <a:p>
            <a:pPr/>
            <a:r>
              <a:t>Chosen recommender approach: knowledge-based, session-context ranking</a:t>
            </a:r>
          </a:p>
        </p:txBody>
      </p:sp>
      <p:sp>
        <p:nvSpPr>
          <p:cNvPr id="194" name="Google Shape;124;p18"/>
          <p:cNvSpPr txBox="1"/>
          <p:nvPr/>
        </p:nvSpPr>
        <p:spPr>
          <a:xfrm>
            <a:off x="4871225" y="4540486"/>
            <a:ext cx="3816301" cy="4173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ctr">
              <a:defRPr sz="1100"/>
            </a:lvl1pPr>
          </a:lstStyle>
          <a:p>
            <a:pPr/>
            <a:r>
              <a:t>(Theobald, 2024)</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9E7"/>
        </a:solidFill>
      </p:bgPr>
    </p:bg>
    <p:spTree>
      <p:nvGrpSpPr>
        <p:cNvPr id="1" name=""/>
        <p:cNvGrpSpPr/>
        <p:nvPr/>
      </p:nvGrpSpPr>
      <p:grpSpPr>
        <a:xfrm>
          <a:off x="0" y="0"/>
          <a:ext cx="0" cy="0"/>
          <a:chOff x="0" y="0"/>
          <a:chExt cx="0" cy="0"/>
        </a:xfrm>
      </p:grpSpPr>
      <p:sp>
        <p:nvSpPr>
          <p:cNvPr id="196" name="Google Shape;129;p19"/>
          <p:cNvSpPr txBox="1"/>
          <p:nvPr>
            <p:ph type="title"/>
          </p:nvPr>
        </p:nvSpPr>
        <p:spPr>
          <a:xfrm>
            <a:off x="563724" y="1604846"/>
            <a:ext cx="7192500" cy="572701"/>
          </a:xfrm>
          <a:prstGeom prst="rect">
            <a:avLst/>
          </a:prstGeom>
        </p:spPr>
        <p:txBody>
          <a:bodyPr/>
          <a:lstStyle>
            <a:lvl1pPr>
              <a:defRPr b="1" sz="2500">
                <a:solidFill>
                  <a:schemeClr val="accent5"/>
                </a:solidFill>
              </a:defRPr>
            </a:lvl1pPr>
          </a:lstStyle>
          <a:p>
            <a:pPr/>
            <a:r>
              <a:t>1.5. Research question:</a:t>
            </a:r>
          </a:p>
        </p:txBody>
      </p:sp>
      <p:sp>
        <p:nvSpPr>
          <p:cNvPr id="197" name="Google Shape;130;p19"/>
          <p:cNvSpPr txBox="1"/>
          <p:nvPr>
            <p:ph type="body" sz="half" idx="1"/>
          </p:nvPr>
        </p:nvSpPr>
        <p:spPr>
          <a:xfrm>
            <a:off x="563724" y="2176224"/>
            <a:ext cx="7620001" cy="1498501"/>
          </a:xfrm>
          <a:prstGeom prst="rect">
            <a:avLst/>
          </a:prstGeom>
        </p:spPr>
        <p:txBody>
          <a:bodyPr/>
          <a:lstStyle/>
          <a:p>
            <a:pPr marL="0" indent="0">
              <a:spcBef>
                <a:spcPts val="1200"/>
              </a:spcBef>
              <a:buSzTx/>
              <a:buNone/>
              <a:defRPr sz="1700">
                <a:solidFill>
                  <a:schemeClr val="accent5"/>
                </a:solidFill>
              </a:defRPr>
            </a:pPr>
            <a:r>
              <a:t>Can </a:t>
            </a:r>
            <a:r>
              <a:rPr b="1"/>
              <a:t>deep-learning</a:t>
            </a:r>
            <a:r>
              <a:t> approaches improve session-based accommodation ranking compared with </a:t>
            </a:r>
            <a:r>
              <a:rPr b="1"/>
              <a:t>classical machine-learning</a:t>
            </a:r>
            <a:r>
              <a:t> approaches, and is any improvement </a:t>
            </a:r>
            <a:r>
              <a:rPr b="1"/>
              <a:t>sufficient</a:t>
            </a:r>
            <a:r>
              <a:t> to justify their additional complexity?</a:t>
            </a:r>
          </a:p>
        </p:txBody>
      </p:sp>
      <p:sp>
        <p:nvSpPr>
          <p:cNvPr id="198" name="Google Shape;131;p19"/>
          <p:cNvSpPr/>
          <p:nvPr/>
        </p:nvSpPr>
        <p:spPr>
          <a:xfrm>
            <a:off x="378925" y="1564825"/>
            <a:ext cx="184801" cy="1788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9671" y="21600"/>
                  <a:pt x="0" y="21517"/>
                  <a:pt x="0" y="21414"/>
                </a:cubicBezTo>
                <a:lnTo>
                  <a:pt x="0" y="186"/>
                </a:lnTo>
                <a:cubicBezTo>
                  <a:pt x="0" y="83"/>
                  <a:pt x="9671" y="0"/>
                  <a:pt x="21600" y="0"/>
                </a:cubicBezTo>
              </a:path>
            </a:pathLst>
          </a:custGeom>
          <a:ln w="28575">
            <a:solidFill>
              <a:schemeClr val="accent5"/>
            </a:solidFill>
          </a:ln>
        </p:spPr>
        <p:txBody>
          <a:bodyPr lIns="0" tIns="0" rIns="0" bIns="0" anchor="ctr"/>
          <a:lstStyle/>
          <a:p>
            <a:pPr algn="ctr"/>
          </a:p>
        </p:txBody>
      </p:sp>
      <p:sp>
        <p:nvSpPr>
          <p:cNvPr id="199" name="Google Shape;132;p19"/>
          <p:cNvSpPr/>
          <p:nvPr/>
        </p:nvSpPr>
        <p:spPr>
          <a:xfrm>
            <a:off x="8066924" y="1564825"/>
            <a:ext cx="184801" cy="17883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29" y="0"/>
                  <a:pt x="21600" y="83"/>
                  <a:pt x="21600" y="186"/>
                </a:cubicBezTo>
                <a:lnTo>
                  <a:pt x="21600" y="21414"/>
                </a:lnTo>
                <a:cubicBezTo>
                  <a:pt x="21600" y="21517"/>
                  <a:pt x="11929" y="21600"/>
                  <a:pt x="0" y="21600"/>
                </a:cubicBezTo>
              </a:path>
            </a:pathLst>
          </a:custGeom>
          <a:ln w="28575">
            <a:solidFill>
              <a:schemeClr val="accent5"/>
            </a:solidFill>
          </a:ln>
        </p:spPr>
        <p:txBody>
          <a:bodyPr lIns="0" tIns="0" rIns="0" bIns="0" anchor="ctr"/>
          <a:lstStyle/>
          <a:p>
            <a:pPr algn="ct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solidFill>
      </p:bgPr>
    </p:bg>
    <p:spTree>
      <p:nvGrpSpPr>
        <p:cNvPr id="1" name=""/>
        <p:cNvGrpSpPr/>
        <p:nvPr/>
      </p:nvGrpSpPr>
      <p:grpSpPr>
        <a:xfrm>
          <a:off x="0" y="0"/>
          <a:ext cx="0" cy="0"/>
          <a:chOff x="0" y="0"/>
          <a:chExt cx="0" cy="0"/>
        </a:xfrm>
      </p:grpSpPr>
      <p:sp>
        <p:nvSpPr>
          <p:cNvPr id="201" name="Google Shape;137;p20"/>
          <p:cNvSpPr txBox="1"/>
          <p:nvPr>
            <p:ph type="title"/>
          </p:nvPr>
        </p:nvSpPr>
        <p:spPr>
          <a:xfrm>
            <a:off x="360424" y="2098350"/>
            <a:ext cx="8520602" cy="946800"/>
          </a:xfrm>
          <a:prstGeom prst="rect">
            <a:avLst/>
          </a:prstGeom>
        </p:spPr>
        <p:txBody>
          <a:bodyPr/>
          <a:lstStyle>
            <a:lvl1pPr defTabSz="813816">
              <a:defRPr sz="2848">
                <a:solidFill>
                  <a:srgbClr val="FFFFFF"/>
                </a:solidFill>
              </a:defRPr>
            </a:lvl1pPr>
          </a:lstStyle>
          <a:p>
            <a:pPr/>
            <a:r>
              <a:t>2. Exploratory Data Analysis (EDA) &amp; preprocessing</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Google Shape;142;p21"/>
          <p:cNvSpPr txBox="1"/>
          <p:nvPr>
            <p:ph type="title"/>
          </p:nvPr>
        </p:nvSpPr>
        <p:spPr>
          <a:xfrm>
            <a:off x="311699" y="463609"/>
            <a:ext cx="8520602" cy="417301"/>
          </a:xfrm>
          <a:prstGeom prst="rect">
            <a:avLst/>
          </a:prstGeom>
        </p:spPr>
        <p:txBody>
          <a:bodyPr/>
          <a:lstStyle>
            <a:lvl1pPr>
              <a:defRPr b="1" sz="1600"/>
            </a:lvl1pPr>
          </a:lstStyle>
          <a:p>
            <a:pPr/>
            <a:r>
              <a:t>2.1. Dataset overview</a:t>
            </a:r>
          </a:p>
        </p:txBody>
      </p:sp>
      <p:sp>
        <p:nvSpPr>
          <p:cNvPr id="204" name="Google Shape;143;p21"/>
          <p:cNvSpPr txBox="1"/>
          <p:nvPr>
            <p:ph type="body" sz="half" idx="1"/>
          </p:nvPr>
        </p:nvSpPr>
        <p:spPr>
          <a:xfrm>
            <a:off x="311700" y="1173899"/>
            <a:ext cx="4313400" cy="3805801"/>
          </a:xfrm>
          <a:prstGeom prst="rect">
            <a:avLst/>
          </a:prstGeom>
        </p:spPr>
        <p:txBody>
          <a:bodyPr/>
          <a:lstStyle/>
          <a:p>
            <a:pPr marL="0" indent="0">
              <a:buSzTx/>
              <a:buNone/>
              <a:defRPr b="1" sz="1100">
                <a:solidFill>
                  <a:srgbClr val="000000"/>
                </a:solidFill>
              </a:defRPr>
            </a:pPr>
            <a:r>
              <a:t>Data: </a:t>
            </a:r>
            <a:r>
              <a:rPr b="0"/>
              <a:t>Trivago RecSys Challenge Data 2019 (Mahajan, 2016).</a:t>
            </a:r>
          </a:p>
          <a:p>
            <a:pPr marL="0" indent="0">
              <a:spcBef>
                <a:spcPts val="1200"/>
              </a:spcBef>
              <a:buSzTx/>
              <a:buNone/>
              <a:defRPr b="1" sz="1100">
                <a:solidFill>
                  <a:srgbClr val="000000"/>
                </a:solidFill>
              </a:defRPr>
            </a:pPr>
            <a:r>
              <a:t>Data shape:</a:t>
            </a:r>
            <a:r>
              <a:rPr b="0"/>
              <a:t> 36.4M rows and 12 columns, some of which had high cardinality.</a:t>
            </a:r>
          </a:p>
          <a:p>
            <a:pPr marL="0" indent="0">
              <a:spcBef>
                <a:spcPts val="1200"/>
              </a:spcBef>
              <a:buSzTx/>
              <a:buNone/>
              <a:defRPr b="1" sz="1100">
                <a:solidFill>
                  <a:srgbClr val="000000"/>
                </a:solidFill>
              </a:defRPr>
            </a:pPr>
            <a:r>
              <a:t>Overall description:</a:t>
            </a:r>
          </a:p>
          <a:p>
            <a:pPr indent="-298450">
              <a:spcBef>
                <a:spcPts val="1200"/>
              </a:spcBef>
              <a:buClr>
                <a:srgbClr val="000000"/>
              </a:buClr>
              <a:buSzPts val="1100"/>
              <a:defRPr sz="1100">
                <a:solidFill>
                  <a:srgbClr val="000000"/>
                </a:solidFill>
              </a:defRPr>
            </a:pPr>
            <a:r>
              <a:t>Multiple columns - Session information</a:t>
            </a:r>
          </a:p>
          <a:p>
            <a:pPr indent="-298450">
              <a:spcBef>
                <a:spcPts val="1000"/>
              </a:spcBef>
              <a:buClr>
                <a:srgbClr val="000000"/>
              </a:buClr>
              <a:buSzPts val="1100"/>
              <a:defRPr sz="1100">
                <a:solidFill>
                  <a:srgbClr val="000000"/>
                </a:solidFill>
              </a:defRPr>
            </a:pPr>
            <a:r>
              <a:t>Impression - Accommodation candidate list</a:t>
            </a:r>
          </a:p>
          <a:p>
            <a:pPr indent="-298450">
              <a:spcBef>
                <a:spcPts val="1000"/>
              </a:spcBef>
              <a:buClr>
                <a:srgbClr val="000000"/>
              </a:buClr>
              <a:buSzPts val="1100"/>
              <a:defRPr sz="1100">
                <a:solidFill>
                  <a:srgbClr val="000000"/>
                </a:solidFill>
              </a:defRPr>
            </a:pPr>
            <a:r>
              <a:t>Clickout - representing the clicked candidate</a:t>
            </a:r>
          </a:p>
          <a:p>
            <a:pPr marL="0" indent="0">
              <a:spcBef>
                <a:spcPts val="1000"/>
              </a:spcBef>
              <a:buSzTx/>
              <a:buNone/>
              <a:defRPr sz="1100">
                <a:solidFill>
                  <a:srgbClr val="000000"/>
                </a:solidFill>
              </a:defRPr>
            </a:pPr>
            <a:r>
              <a:t>Limited long-term user history/profile information creates a predominantly session-based cold-start setting. (Theobald, 2024)</a:t>
            </a:r>
          </a:p>
          <a:p>
            <a:pPr marL="0" indent="0">
              <a:spcBef>
                <a:spcPts val="1200"/>
              </a:spcBef>
              <a:buSzTx/>
              <a:buNone/>
              <a:defRPr sz="1100">
                <a:solidFill>
                  <a:srgbClr val="000000"/>
                </a:solidFill>
              </a:defRPr>
            </a:pPr>
            <a:r>
              <a:t>To make experimentation computationally feasible, 10% of complete sessions were sampled, preserving all interactions and their sequential structure within each selected session.</a:t>
            </a:r>
          </a:p>
        </p:txBody>
      </p:sp>
      <p:sp>
        <p:nvSpPr>
          <p:cNvPr id="205" name="Google Shape;144;p21"/>
          <p:cNvSpPr/>
          <p:nvPr/>
        </p:nvSpPr>
        <p:spPr>
          <a:xfrm flipH="1">
            <a:off x="4847049" y="1391774"/>
            <a:ext cx="1" cy="3063702"/>
          </a:xfrm>
          <a:prstGeom prst="line">
            <a:avLst/>
          </a:prstGeom>
          <a:ln>
            <a:solidFill>
              <a:srgbClr val="B7B7B7"/>
            </a:solidFill>
            <a:headEnd type="oval"/>
            <a:tailEnd type="oval"/>
          </a:ln>
        </p:spPr>
        <p:txBody>
          <a:bodyPr lIns="0" tIns="0" rIns="0" bIns="0"/>
          <a:lstStyle/>
          <a:p>
            <a:pPr/>
          </a:p>
        </p:txBody>
      </p:sp>
      <p:pic>
        <p:nvPicPr>
          <p:cNvPr id="206" name="Screenshot 2026-09-23 at 08.00.03.pngGoogle Shape;145;p21" descr="Screenshot 2026-09-23 at 08.00.03.pngGoogle Shape;145;p21"/>
          <p:cNvPicPr>
            <a:picLocks noChangeAspect="1"/>
          </p:cNvPicPr>
          <p:nvPr/>
        </p:nvPicPr>
        <p:blipFill>
          <a:blip r:embed="rId2">
            <a:extLst/>
          </a:blip>
          <a:stretch>
            <a:fillRect/>
          </a:stretch>
        </p:blipFill>
        <p:spPr>
          <a:xfrm>
            <a:off x="5293050" y="1471871"/>
            <a:ext cx="3485625" cy="2540276"/>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Google Shape;150;p22"/>
          <p:cNvSpPr txBox="1"/>
          <p:nvPr>
            <p:ph type="title"/>
          </p:nvPr>
        </p:nvSpPr>
        <p:spPr>
          <a:xfrm>
            <a:off x="311699" y="332635"/>
            <a:ext cx="8520602" cy="417301"/>
          </a:xfrm>
          <a:prstGeom prst="rect">
            <a:avLst/>
          </a:prstGeom>
        </p:spPr>
        <p:txBody>
          <a:bodyPr/>
          <a:lstStyle>
            <a:lvl1pPr>
              <a:defRPr b="1" sz="1600"/>
            </a:lvl1pPr>
          </a:lstStyle>
          <a:p>
            <a:pPr/>
            <a:r>
              <a:t>2.2. From sequential structure to a reconstructed ranking event</a:t>
            </a:r>
          </a:p>
        </p:txBody>
      </p:sp>
      <p:sp>
        <p:nvSpPr>
          <p:cNvPr id="209" name="Google Shape;151;p22"/>
          <p:cNvSpPr txBox="1"/>
          <p:nvPr>
            <p:ph type="body" sz="half" idx="1"/>
          </p:nvPr>
        </p:nvSpPr>
        <p:spPr>
          <a:xfrm>
            <a:off x="311700" y="937024"/>
            <a:ext cx="8599500" cy="1395902"/>
          </a:xfrm>
          <a:prstGeom prst="rect">
            <a:avLst/>
          </a:prstGeom>
        </p:spPr>
        <p:txBody>
          <a:bodyPr/>
          <a:lstStyle/>
          <a:p>
            <a:pPr marL="0" indent="0">
              <a:buSzTx/>
              <a:buNone/>
              <a:defRPr b="1" sz="1200">
                <a:solidFill>
                  <a:srgbClr val="000000"/>
                </a:solidFill>
              </a:defRPr>
            </a:pPr>
            <a:r>
              <a:t>User sessions</a:t>
            </a:r>
            <a:r>
              <a:rPr b="0"/>
              <a:t> contain multiple actions such as searches, filtering, sorting, accommodation interactions and clickouts. Session actions are sequentially ordered by step, allowing behaviour preceding each clickout to be reconstructed.</a:t>
            </a:r>
          </a:p>
          <a:p>
            <a:pPr marL="0" indent="0">
              <a:spcBef>
                <a:spcPts val="1200"/>
              </a:spcBef>
              <a:buSzTx/>
              <a:buNone/>
              <a:defRPr sz="1200">
                <a:solidFill>
                  <a:srgbClr val="000000"/>
                </a:solidFill>
              </a:defRPr>
            </a:pPr>
            <a:r>
              <a:t>Each clickout was treated as a </a:t>
            </a:r>
            <a:r>
              <a:rPr b="1"/>
              <a:t>ranking event</a:t>
            </a:r>
            <a:r>
              <a:t> and uniquely identified by</a:t>
            </a:r>
            <a:r>
              <a:rPr i="1"/>
              <a:t> session_id </a:t>
            </a:r>
            <a:r>
              <a:t>and </a:t>
            </a:r>
            <a:r>
              <a:rPr i="1"/>
              <a:t>step</a:t>
            </a:r>
            <a:r>
              <a:t>. Complete sessions were retained so that only interactions preceding each event could be used to construct behavioural predictors.</a:t>
            </a:r>
          </a:p>
        </p:txBody>
      </p:sp>
      <p:pic>
        <p:nvPicPr>
          <p:cNvPr id="210" name="Screenshot 2026-09-22 at 08.42.59.pngGoogle Shape;152;p22" descr="Screenshot 2026-09-22 at 08.42.59.pngGoogle Shape;152;p22"/>
          <p:cNvPicPr>
            <a:picLocks noChangeAspect="1"/>
          </p:cNvPicPr>
          <p:nvPr/>
        </p:nvPicPr>
        <p:blipFill>
          <a:blip r:embed="rId2">
            <a:extLst/>
          </a:blip>
          <a:stretch>
            <a:fillRect/>
          </a:stretch>
        </p:blipFill>
        <p:spPr>
          <a:xfrm>
            <a:off x="1817549" y="2679549"/>
            <a:ext cx="5389100" cy="2294926"/>
          </a:xfrm>
          <a:prstGeom prst="rect">
            <a:avLst/>
          </a:prstGeom>
          <a:ln w="12700">
            <a:miter lim="400000"/>
          </a:ln>
        </p:spPr>
      </p:pic>
      <p:sp>
        <p:nvSpPr>
          <p:cNvPr id="211" name="Google Shape;153;p22"/>
          <p:cNvSpPr/>
          <p:nvPr/>
        </p:nvSpPr>
        <p:spPr>
          <a:xfrm flipH="1" flipV="1">
            <a:off x="1185699" y="2332950"/>
            <a:ext cx="6772602" cy="10150"/>
          </a:xfrm>
          <a:prstGeom prst="line">
            <a:avLst/>
          </a:prstGeom>
          <a:ln>
            <a:solidFill>
              <a:srgbClr val="B7B7B7"/>
            </a:solidFill>
            <a:headEnd type="oval"/>
            <a:tailEnd type="oval"/>
          </a:ln>
        </p:spPr>
        <p:txBody>
          <a:bodyPr lIns="0" tIns="0" rIns="0" bIns="0"/>
          <a:lstStyle/>
          <a:p>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Google Shape;158;p23"/>
          <p:cNvSpPr txBox="1"/>
          <p:nvPr>
            <p:ph type="title"/>
          </p:nvPr>
        </p:nvSpPr>
        <p:spPr>
          <a:xfrm>
            <a:off x="311699" y="332635"/>
            <a:ext cx="8520602" cy="417301"/>
          </a:xfrm>
          <a:prstGeom prst="rect">
            <a:avLst/>
          </a:prstGeom>
        </p:spPr>
        <p:txBody>
          <a:bodyPr/>
          <a:lstStyle>
            <a:lvl1pPr>
              <a:defRPr b="1" sz="1600"/>
            </a:lvl1pPr>
          </a:lstStyle>
          <a:p>
            <a:pPr/>
            <a:r>
              <a:t>2.3. EDA: From impression lists to candidate-level observations</a:t>
            </a:r>
          </a:p>
        </p:txBody>
      </p:sp>
      <p:sp>
        <p:nvSpPr>
          <p:cNvPr id="214" name="Google Shape;159;p23"/>
          <p:cNvSpPr txBox="1"/>
          <p:nvPr>
            <p:ph type="body" sz="half" idx="1"/>
          </p:nvPr>
        </p:nvSpPr>
        <p:spPr>
          <a:xfrm>
            <a:off x="311699" y="999525"/>
            <a:ext cx="3803402" cy="3859801"/>
          </a:xfrm>
          <a:prstGeom prst="rect">
            <a:avLst/>
          </a:prstGeom>
        </p:spPr>
        <p:txBody>
          <a:bodyPr/>
          <a:lstStyle/>
          <a:p>
            <a:pPr marL="0" indent="0">
              <a:buSzTx/>
              <a:buNone/>
              <a:defRPr sz="1200">
                <a:solidFill>
                  <a:srgbClr val="000000"/>
                </a:solidFill>
              </a:defRPr>
            </a:pPr>
            <a:r>
              <a:t>1-25 candidates in each impression, ranked based on some existing logic by Trivago. These were associated with a ‘clickout item’ and a ‘reference’, representing the clicked candidate. </a:t>
            </a:r>
          </a:p>
          <a:p>
            <a:pPr marL="0" indent="0">
              <a:spcBef>
                <a:spcPts val="1200"/>
              </a:spcBef>
              <a:buSzTx/>
              <a:buNone/>
              <a:defRPr sz="1200">
                <a:solidFill>
                  <a:srgbClr val="000000"/>
                </a:solidFill>
              </a:defRPr>
            </a:pPr>
            <a:r>
              <a:t>The metadata dataset contained a list of accommodations, their attributes (under ‘properties’) and ID. </a:t>
            </a:r>
          </a:p>
          <a:p>
            <a:pPr marL="0" indent="0">
              <a:spcBef>
                <a:spcPts val="1200"/>
              </a:spcBef>
              <a:buSzTx/>
              <a:buNone/>
              <a:defRPr sz="1200">
                <a:solidFill>
                  <a:srgbClr val="000000"/>
                </a:solidFill>
              </a:defRPr>
            </a:pPr>
            <a:r>
              <a:t>Candidate accommodations had &gt;99.9% metadata coverage.</a:t>
            </a:r>
          </a:p>
          <a:p>
            <a:pPr marL="0" indent="0">
              <a:spcBef>
                <a:spcPts val="1200"/>
              </a:spcBef>
              <a:buSzTx/>
              <a:buNone/>
              <a:defRPr sz="1200">
                <a:solidFill>
                  <a:srgbClr val="000000"/>
                </a:solidFill>
              </a:defRPr>
            </a:pPr>
            <a:r>
              <a:t>84.6% of unique selected filter values had a direct match in the property-attribute vocabulary.</a:t>
            </a:r>
          </a:p>
          <a:p>
            <a:pPr marL="0" indent="0">
              <a:spcBef>
                <a:spcPts val="1200"/>
              </a:spcBef>
              <a:buSzTx/>
              <a:buNone/>
              <a:defRPr sz="1200">
                <a:solidFill>
                  <a:srgbClr val="000000"/>
                </a:solidFill>
              </a:defRPr>
            </a:pPr>
            <a:r>
              <a:t>Based on this, a </a:t>
            </a:r>
            <a:r>
              <a:rPr b="1" i="1"/>
              <a:t>candidates</a:t>
            </a:r>
            <a:r>
              <a:t> dataset was created, as well as a filter_match column.</a:t>
            </a:r>
          </a:p>
        </p:txBody>
      </p:sp>
      <p:pic>
        <p:nvPicPr>
          <p:cNvPr id="215" name="Screenshot 2026-09-22 at 08.42.59.pngGoogle Shape;160;p23" descr="Screenshot 2026-09-22 at 08.42.59.pngGoogle Shape;160;p23"/>
          <p:cNvPicPr>
            <a:picLocks noChangeAspect="1"/>
          </p:cNvPicPr>
          <p:nvPr/>
        </p:nvPicPr>
        <p:blipFill>
          <a:blip r:embed="rId2">
            <a:extLst/>
          </a:blip>
          <a:srcRect l="0" t="31646" r="0" b="56991"/>
          <a:stretch>
            <a:fillRect/>
          </a:stretch>
        </p:blipFill>
        <p:spPr>
          <a:xfrm>
            <a:off x="4502050" y="1098300"/>
            <a:ext cx="4585702" cy="221901"/>
          </a:xfrm>
          <a:prstGeom prst="rect">
            <a:avLst/>
          </a:prstGeom>
          <a:ln w="12700">
            <a:miter lim="400000"/>
          </a:ln>
        </p:spPr>
      </p:pic>
      <p:pic>
        <p:nvPicPr>
          <p:cNvPr id="216" name="Screenshot 2026-09-23 at 08.19.36.pngGoogle Shape;161;p23" descr="Screenshot 2026-09-23 at 08.19.36.pngGoogle Shape;161;p23"/>
          <p:cNvPicPr>
            <a:picLocks noChangeAspect="1"/>
          </p:cNvPicPr>
          <p:nvPr/>
        </p:nvPicPr>
        <p:blipFill>
          <a:blip r:embed="rId3">
            <a:extLst/>
          </a:blip>
          <a:stretch>
            <a:fillRect/>
          </a:stretch>
        </p:blipFill>
        <p:spPr>
          <a:xfrm>
            <a:off x="7681924" y="1567474"/>
            <a:ext cx="1405826" cy="1163151"/>
          </a:xfrm>
          <a:prstGeom prst="rect">
            <a:avLst/>
          </a:prstGeom>
          <a:ln w="12700">
            <a:miter lim="400000"/>
          </a:ln>
        </p:spPr>
      </p:pic>
      <p:pic>
        <p:nvPicPr>
          <p:cNvPr id="217" name="Screenshot 2026-09-23 at 08.13.50.pngGoogle Shape;162;p23" descr="Screenshot 2026-09-23 at 08.13.50.pngGoogle Shape;162;p23"/>
          <p:cNvPicPr>
            <a:picLocks noChangeAspect="1"/>
          </p:cNvPicPr>
          <p:nvPr/>
        </p:nvPicPr>
        <p:blipFill>
          <a:blip r:embed="rId4">
            <a:extLst/>
          </a:blip>
          <a:stretch>
            <a:fillRect/>
          </a:stretch>
        </p:blipFill>
        <p:spPr>
          <a:xfrm>
            <a:off x="4806774" y="2033887"/>
            <a:ext cx="2228182" cy="2040326"/>
          </a:xfrm>
          <a:prstGeom prst="rect">
            <a:avLst/>
          </a:prstGeom>
          <a:ln w="12700">
            <a:miter lim="400000"/>
          </a:ln>
        </p:spPr>
      </p:pic>
      <p:pic>
        <p:nvPicPr>
          <p:cNvPr id="218" name="Google Shape;163;p23" descr="Google Shape;163;p23"/>
          <p:cNvPicPr>
            <a:picLocks noChangeAspect="1"/>
          </p:cNvPicPr>
          <p:nvPr/>
        </p:nvPicPr>
        <p:blipFill>
          <a:blip r:embed="rId5">
            <a:extLst/>
          </a:blip>
          <a:stretch>
            <a:fillRect/>
          </a:stretch>
        </p:blipFill>
        <p:spPr>
          <a:xfrm flipH="1" rot="14169254">
            <a:off x="5171826" y="1414218"/>
            <a:ext cx="777599" cy="777590"/>
          </a:xfrm>
          <a:prstGeom prst="rect">
            <a:avLst/>
          </a:prstGeom>
          <a:ln w="12700">
            <a:miter lim="400000"/>
          </a:ln>
        </p:spPr>
      </p:pic>
      <p:pic>
        <p:nvPicPr>
          <p:cNvPr id="219" name="Google Shape;164;p23" descr="Google Shape;164;p23"/>
          <p:cNvPicPr>
            <a:picLocks noChangeAspect="1"/>
          </p:cNvPicPr>
          <p:nvPr/>
        </p:nvPicPr>
        <p:blipFill>
          <a:blip r:embed="rId5">
            <a:extLst/>
          </a:blip>
          <a:stretch>
            <a:fillRect/>
          </a:stretch>
        </p:blipFill>
        <p:spPr>
          <a:xfrm rot="10673649">
            <a:off x="6406100" y="1414218"/>
            <a:ext cx="777600" cy="777590"/>
          </a:xfrm>
          <a:prstGeom prst="rect">
            <a:avLst/>
          </a:prstGeom>
          <a:ln w="12700">
            <a:miter lim="400000"/>
          </a:ln>
        </p:spPr>
      </p:pic>
      <p:pic>
        <p:nvPicPr>
          <p:cNvPr id="220" name="Screenshot 2026-09-22 at 08.42.59.pngGoogle Shape;165;p23" descr="Screenshot 2026-09-22 at 08.42.59.pngGoogle Shape;165;p23"/>
          <p:cNvPicPr>
            <a:picLocks noChangeAspect="1"/>
          </p:cNvPicPr>
          <p:nvPr/>
        </p:nvPicPr>
        <p:blipFill>
          <a:blip r:embed="rId2">
            <a:extLst/>
          </a:blip>
          <a:srcRect l="0" t="0" r="1450" b="88637"/>
          <a:stretch>
            <a:fillRect/>
          </a:stretch>
        </p:blipFill>
        <p:spPr>
          <a:xfrm>
            <a:off x="4568542" y="906506"/>
            <a:ext cx="4519210" cy="221901"/>
          </a:xfrm>
          <a:prstGeom prst="rect">
            <a:avLst/>
          </a:prstGeom>
          <a:ln w="12700">
            <a:miter lim="400000"/>
          </a:ln>
        </p:spPr>
      </p:pic>
      <p:sp>
        <p:nvSpPr>
          <p:cNvPr id="221" name="Google Shape;166;p23"/>
          <p:cNvSpPr/>
          <p:nvPr/>
        </p:nvSpPr>
        <p:spPr>
          <a:xfrm flipH="1">
            <a:off x="4383675" y="1400349"/>
            <a:ext cx="1" cy="3063702"/>
          </a:xfrm>
          <a:prstGeom prst="line">
            <a:avLst/>
          </a:prstGeom>
          <a:ln>
            <a:solidFill>
              <a:srgbClr val="B7B7B7"/>
            </a:solidFill>
            <a:headEnd type="oval"/>
            <a:tailEnd type="oval"/>
          </a:ln>
        </p:spPr>
        <p:txBody>
          <a:bodyPr lIns="0" tIns="0" rIns="0" bIns="0"/>
          <a:lstStyle/>
          <a:p>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Google Shape;171;p24"/>
          <p:cNvSpPr txBox="1"/>
          <p:nvPr>
            <p:ph type="title"/>
          </p:nvPr>
        </p:nvSpPr>
        <p:spPr>
          <a:xfrm>
            <a:off x="311699" y="225485"/>
            <a:ext cx="8520602" cy="417301"/>
          </a:xfrm>
          <a:prstGeom prst="rect">
            <a:avLst/>
          </a:prstGeom>
        </p:spPr>
        <p:txBody>
          <a:bodyPr/>
          <a:lstStyle>
            <a:lvl1pPr>
              <a:defRPr b="1" sz="1600"/>
            </a:lvl1pPr>
          </a:lstStyle>
          <a:p>
            <a:pPr/>
            <a:r>
              <a:t>2.4. Associations between potential predictors and target variable</a:t>
            </a:r>
          </a:p>
        </p:txBody>
      </p:sp>
      <p:sp>
        <p:nvSpPr>
          <p:cNvPr id="224" name="Google Shape;172;p24"/>
          <p:cNvSpPr txBox="1"/>
          <p:nvPr>
            <p:ph type="body" sz="half" idx="1"/>
          </p:nvPr>
        </p:nvSpPr>
        <p:spPr>
          <a:xfrm>
            <a:off x="311699" y="962224"/>
            <a:ext cx="3907801" cy="3255901"/>
          </a:xfrm>
          <a:prstGeom prst="rect">
            <a:avLst/>
          </a:prstGeom>
        </p:spPr>
        <p:txBody>
          <a:bodyPr/>
          <a:lstStyle/>
          <a:p>
            <a:pPr marL="342900" indent="-241300">
              <a:buClr>
                <a:srgbClr val="000000"/>
              </a:buClr>
              <a:buSzPts val="1100"/>
              <a:defRPr b="1" sz="1100">
                <a:solidFill>
                  <a:srgbClr val="000000"/>
                </a:solidFill>
              </a:defRPr>
            </a:pPr>
            <a:r>
              <a:t>Current candidate position:</a:t>
            </a:r>
          </a:p>
          <a:p>
            <a:pPr lvl="1" marL="742950" indent="-184150">
              <a:buClr>
                <a:srgbClr val="000000"/>
              </a:buClr>
              <a:buSzPts val="1100"/>
              <a:defRPr sz="1100">
                <a:solidFill>
                  <a:srgbClr val="000000"/>
                </a:solidFill>
              </a:defRPr>
            </a:pPr>
            <a:r>
              <a:t>1st position had a click-through rate of approximately 32%, 2nd position had 11%, and 3rd position had 8%</a:t>
            </a:r>
          </a:p>
          <a:p>
            <a:pPr lvl="1" marL="742950" indent="-184150">
              <a:buClr>
                <a:srgbClr val="000000"/>
              </a:buClr>
              <a:buSzPts val="1100"/>
              <a:defRPr sz="1100">
                <a:solidFill>
                  <a:srgbClr val="000000"/>
                </a:solidFill>
              </a:defRPr>
            </a:pPr>
            <a:r>
              <a:t>Strongly associated with click outcome, but excluded from predictors because it reflects exposure created by Trivago's existing ranking.</a:t>
            </a:r>
          </a:p>
          <a:p>
            <a:pPr marL="342900" indent="-241300">
              <a:spcBef>
                <a:spcPts val="1000"/>
              </a:spcBef>
              <a:buClr>
                <a:srgbClr val="000000"/>
              </a:buClr>
              <a:buSzPts val="1100"/>
              <a:defRPr b="1" sz="1100">
                <a:solidFill>
                  <a:srgbClr val="000000"/>
                </a:solidFill>
              </a:defRPr>
            </a:pPr>
            <a:r>
              <a:t>Price:</a:t>
            </a:r>
          </a:p>
          <a:p>
            <a:pPr lvl="1" marL="914400" indent="-298450">
              <a:buClr>
                <a:srgbClr val="000000"/>
              </a:buClr>
              <a:buSzPts val="1100"/>
              <a:defRPr sz="1100">
                <a:solidFill>
                  <a:srgbClr val="000000"/>
                </a:solidFill>
              </a:defRPr>
            </a:pPr>
            <a:r>
              <a:t>Clicked candidates had a median relative price of 0.917 versus 1.00 for non-clicked candidates; the distributions differed significantly (Mann–Whitney U test, p &lt; .001).</a:t>
            </a:r>
          </a:p>
          <a:p>
            <a:pPr lvl="1" marL="914400" indent="-298450">
              <a:buClr>
                <a:srgbClr val="000000"/>
              </a:buClr>
              <a:buSzPts val="1100"/>
              <a:defRPr sz="1100">
                <a:solidFill>
                  <a:srgbClr val="000000"/>
                </a:solidFill>
              </a:defRPr>
            </a:pPr>
            <a:r>
              <a:t>The constructed </a:t>
            </a:r>
            <a:r>
              <a:rPr b="1" i="1"/>
              <a:t>relative_price</a:t>
            </a:r>
            <a:r>
              <a:t> feature was subsequently retained as a predictor for modelling.</a:t>
            </a:r>
          </a:p>
        </p:txBody>
      </p:sp>
      <p:sp>
        <p:nvSpPr>
          <p:cNvPr id="225" name="Google Shape;173;p24"/>
          <p:cNvSpPr/>
          <p:nvPr/>
        </p:nvSpPr>
        <p:spPr>
          <a:xfrm flipH="1">
            <a:off x="4383675" y="1400349"/>
            <a:ext cx="1" cy="3063702"/>
          </a:xfrm>
          <a:prstGeom prst="line">
            <a:avLst/>
          </a:prstGeom>
          <a:ln>
            <a:solidFill>
              <a:srgbClr val="B7B7B7"/>
            </a:solidFill>
            <a:headEnd type="oval"/>
            <a:tailEnd type="oval"/>
          </a:ln>
        </p:spPr>
        <p:txBody>
          <a:bodyPr lIns="0" tIns="0" rIns="0" bIns="0"/>
          <a:lstStyle/>
          <a:p>
            <a:pPr/>
          </a:p>
        </p:txBody>
      </p:sp>
      <p:sp>
        <p:nvSpPr>
          <p:cNvPr id="226" name="Google Shape;174;p24"/>
          <p:cNvSpPr txBox="1"/>
          <p:nvPr/>
        </p:nvSpPr>
        <p:spPr>
          <a:xfrm>
            <a:off x="4881550" y="962224"/>
            <a:ext cx="3661201" cy="22510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marL="342900" indent="-184150">
              <a:lnSpc>
                <a:spcPct val="115000"/>
              </a:lnSpc>
              <a:buClr>
                <a:srgbClr val="000000"/>
              </a:buClr>
              <a:buSzPts val="1100"/>
              <a:buFont typeface="Arial"/>
              <a:buChar char="●"/>
              <a:defRPr b="1" sz="1100"/>
            </a:pPr>
            <a:r>
              <a:t>Filters:</a:t>
            </a:r>
          </a:p>
          <a:p>
            <a:pPr lvl="1" marL="628650" indent="-241300">
              <a:lnSpc>
                <a:spcPct val="115000"/>
              </a:lnSpc>
              <a:buClr>
                <a:srgbClr val="000000"/>
              </a:buClr>
              <a:buSzPts val="1100"/>
              <a:buFont typeface="Arial"/>
              <a:buChar char="○"/>
              <a:defRPr sz="1100"/>
            </a:pPr>
            <a:r>
              <a:t>Candidates whose ‘properties’ matched at least one ‘current_filters’ in the preceding behavioural sequence had a click rate of 4.77%, compared with 4.33% for candidates without a match. </a:t>
            </a:r>
          </a:p>
          <a:p>
            <a:pPr lvl="1" marL="628650" indent="-241300">
              <a:lnSpc>
                <a:spcPct val="115000"/>
              </a:lnSpc>
              <a:buClr>
                <a:srgbClr val="000000"/>
              </a:buClr>
              <a:buSzPts val="1100"/>
              <a:buFont typeface="Arial"/>
              <a:buChar char="○"/>
              <a:defRPr sz="1100"/>
            </a:pPr>
            <a:r>
              <a:t>A chi-square test found a significant association with click outcome, χ²(1) = 116.29, p &lt; .001, but the effect was extremely small (Cramér's V = 0.006).</a:t>
            </a:r>
          </a:p>
          <a:p>
            <a:pPr lvl="1" marL="628650" indent="-241300">
              <a:lnSpc>
                <a:spcPct val="115000"/>
              </a:lnSpc>
              <a:buClr>
                <a:srgbClr val="000000"/>
              </a:buClr>
              <a:buSzPts val="1100"/>
              <a:buFont typeface="Arial"/>
              <a:buChar char="○"/>
              <a:defRPr sz="1100"/>
            </a:pPr>
            <a:r>
              <a:t>A </a:t>
            </a:r>
            <a:r>
              <a:rPr b="1" i="1"/>
              <a:t>filter_match</a:t>
            </a:r>
            <a:r>
              <a:t> representing this relationship was constructed as a column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Google Shape;179;p25"/>
          <p:cNvSpPr txBox="1"/>
          <p:nvPr>
            <p:ph type="title"/>
          </p:nvPr>
        </p:nvSpPr>
        <p:spPr>
          <a:xfrm>
            <a:off x="311699" y="225485"/>
            <a:ext cx="8520602" cy="417301"/>
          </a:xfrm>
          <a:prstGeom prst="rect">
            <a:avLst/>
          </a:prstGeom>
        </p:spPr>
        <p:txBody>
          <a:bodyPr/>
          <a:lstStyle>
            <a:lvl1pPr>
              <a:defRPr b="1" sz="1600"/>
            </a:lvl1pPr>
          </a:lstStyle>
          <a:p>
            <a:pPr/>
            <a:r>
              <a:t>2.5. Associations between potential predictors</a:t>
            </a:r>
          </a:p>
        </p:txBody>
      </p:sp>
      <p:sp>
        <p:nvSpPr>
          <p:cNvPr id="229" name="Google Shape;180;p25"/>
          <p:cNvSpPr txBox="1"/>
          <p:nvPr>
            <p:ph type="body" sz="half" idx="1"/>
          </p:nvPr>
        </p:nvSpPr>
        <p:spPr>
          <a:xfrm>
            <a:off x="311699" y="773900"/>
            <a:ext cx="3907801" cy="4205700"/>
          </a:xfrm>
          <a:prstGeom prst="rect">
            <a:avLst/>
          </a:prstGeom>
        </p:spPr>
        <p:txBody>
          <a:bodyPr/>
          <a:lstStyle/>
          <a:p>
            <a:pPr indent="-304800">
              <a:buClr>
                <a:srgbClr val="000000"/>
              </a:buClr>
              <a:buSzPts val="1200"/>
              <a:defRPr b="1" sz="1200">
                <a:solidFill>
                  <a:srgbClr val="000000"/>
                </a:solidFill>
              </a:defRPr>
            </a:pPr>
            <a:r>
              <a:t>‘city’ and ‘platform’</a:t>
            </a:r>
          </a:p>
          <a:p>
            <a:pPr lvl="1" marL="800100" indent="-190500">
              <a:buClr>
                <a:srgbClr val="000000"/>
              </a:buClr>
              <a:buSzPts val="1200"/>
              <a:defRPr sz="1200">
                <a:solidFill>
                  <a:srgbClr val="000000"/>
                </a:solidFill>
              </a:defRPr>
            </a:pPr>
            <a:r>
              <a:t>Cramér's V = 0.705, indicating substantial association.</a:t>
            </a:r>
          </a:p>
          <a:p>
            <a:pPr lvl="1" marL="800100" indent="-190500">
              <a:buClr>
                <a:srgbClr val="000000"/>
              </a:buClr>
              <a:buSzPts val="1200"/>
              <a:defRPr sz="1200">
                <a:solidFill>
                  <a:srgbClr val="000000"/>
                </a:solidFill>
              </a:defRPr>
            </a:pPr>
            <a:r>
              <a:t>Despite the substantial association between city and platform, both were retained because they represent conceptually different contextual information. Their contribution was therefore evaluated during modelling rather than excluding either variable based solely on pairwise association.</a:t>
            </a:r>
          </a:p>
          <a:p>
            <a:pPr indent="-304800">
              <a:spcBef>
                <a:spcPts val="1000"/>
              </a:spcBef>
              <a:buClr>
                <a:srgbClr val="000000"/>
              </a:buClr>
              <a:buSzPts val="1200"/>
              <a:defRPr b="1" sz="1200">
                <a:solidFill>
                  <a:srgbClr val="000000"/>
                </a:solidFill>
              </a:defRPr>
            </a:pPr>
            <a:r>
              <a:t>‘device’ and ‘platform’</a:t>
            </a:r>
          </a:p>
          <a:p>
            <a:pPr lvl="1" marL="800100" indent="-190500">
              <a:buClr>
                <a:srgbClr val="000000"/>
              </a:buClr>
              <a:buSzPts val="1200"/>
              <a:defRPr sz="1200">
                <a:solidFill>
                  <a:srgbClr val="000000"/>
                </a:solidFill>
              </a:defRPr>
            </a:pPr>
            <a:r>
              <a:t>Showed a weak association (Cramér's V = 0.183), suggesting that platform and device capture largely different contextual information</a:t>
            </a:r>
          </a:p>
        </p:txBody>
      </p:sp>
      <p:sp>
        <p:nvSpPr>
          <p:cNvPr id="230" name="Google Shape;181;p25"/>
          <p:cNvSpPr/>
          <p:nvPr/>
        </p:nvSpPr>
        <p:spPr>
          <a:xfrm flipH="1">
            <a:off x="4383675" y="1400349"/>
            <a:ext cx="1" cy="3063702"/>
          </a:xfrm>
          <a:prstGeom prst="line">
            <a:avLst/>
          </a:prstGeom>
          <a:ln>
            <a:solidFill>
              <a:srgbClr val="B7B7B7"/>
            </a:solidFill>
            <a:headEnd type="oval"/>
            <a:tailEnd type="oval"/>
          </a:ln>
        </p:spPr>
        <p:txBody>
          <a:bodyPr lIns="0" tIns="0" rIns="0" bIns="0"/>
          <a:lstStyle/>
          <a:p>
            <a:pPr/>
          </a:p>
        </p:txBody>
      </p:sp>
      <p:sp>
        <p:nvSpPr>
          <p:cNvPr id="231" name="Google Shape;182;p25"/>
          <p:cNvSpPr txBox="1"/>
          <p:nvPr/>
        </p:nvSpPr>
        <p:spPr>
          <a:xfrm>
            <a:off x="4762500" y="773900"/>
            <a:ext cx="3735600" cy="3004053"/>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marL="457200" indent="-304800">
              <a:lnSpc>
                <a:spcPct val="115000"/>
              </a:lnSpc>
              <a:buClr>
                <a:srgbClr val="000000"/>
              </a:buClr>
              <a:buSzPts val="1200"/>
              <a:buFont typeface="Arial"/>
              <a:buChar char="●"/>
              <a:defRPr b="1" sz="1200"/>
            </a:pPr>
            <a:r>
              <a:t>‘price’ and ‘city’</a:t>
            </a:r>
          </a:p>
          <a:p>
            <a:pPr lvl="1" marL="742950" indent="-190500">
              <a:lnSpc>
                <a:spcPct val="115000"/>
              </a:lnSpc>
              <a:buClr>
                <a:srgbClr val="000000"/>
              </a:buClr>
              <a:buSzPts val="1200"/>
              <a:buFont typeface="Arial"/>
              <a:buChar char="○"/>
              <a:defRPr sz="1200"/>
            </a:pPr>
            <a:r>
              <a:t>Candidate prices were grouped by city</a:t>
            </a:r>
          </a:p>
          <a:p>
            <a:pPr lvl="1" marL="742950" indent="-190500">
              <a:lnSpc>
                <a:spcPct val="115000"/>
              </a:lnSpc>
              <a:buClr>
                <a:srgbClr val="000000"/>
              </a:buClr>
              <a:buSzPts val="1200"/>
              <a:buFont typeface="Arial"/>
              <a:buChar char="○"/>
              <a:defRPr sz="1200"/>
            </a:pPr>
            <a:r>
              <a:t>Among 570 cities with ≥1,000 candidate observations, median candidate prices ranged from €15 to €302.50.</a:t>
            </a:r>
          </a:p>
          <a:p>
            <a:pPr lvl="1" marL="742950" indent="-190500">
              <a:lnSpc>
                <a:spcPct val="115000"/>
              </a:lnSpc>
              <a:buClr>
                <a:srgbClr val="000000"/>
              </a:buClr>
              <a:buSzPts val="1200"/>
              <a:buFont typeface="Arial"/>
              <a:buChar char="○"/>
              <a:defRPr sz="1200"/>
            </a:pPr>
            <a:r>
              <a:t>This indicated substantial variation in typical prices across destinations, motivating a context-relative price feature.</a:t>
            </a:r>
          </a:p>
          <a:p>
            <a:pPr lvl="1" marL="742950" indent="-190500">
              <a:lnSpc>
                <a:spcPct val="115000"/>
              </a:lnSpc>
              <a:buClr>
                <a:srgbClr val="000000"/>
              </a:buClr>
              <a:buSzPts val="1200"/>
              <a:buFont typeface="Arial"/>
              <a:buChar char="○"/>
              <a:defRPr sz="1200"/>
            </a:pPr>
            <a:r>
              <a:t>relative_price = candidate price relative to the median candidate price within the same ranking event.</a:t>
            </a:r>
          </a:p>
          <a:p>
            <a:pPr lvl="1" marL="742950" indent="-190500">
              <a:lnSpc>
                <a:spcPct val="115000"/>
              </a:lnSpc>
              <a:buClr>
                <a:srgbClr val="000000"/>
              </a:buClr>
              <a:buSzPts val="1200"/>
              <a:buFont typeface="Arial"/>
              <a:buChar char="○"/>
              <a:defRPr sz="1200"/>
            </a:pPr>
            <a:r>
              <a:t>Both absolute and relative price were retained for modelling.</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Google Shape;187;p26"/>
          <p:cNvSpPr txBox="1"/>
          <p:nvPr>
            <p:ph type="title"/>
          </p:nvPr>
        </p:nvSpPr>
        <p:spPr>
          <a:xfrm>
            <a:off x="311699" y="225485"/>
            <a:ext cx="8520602" cy="417301"/>
          </a:xfrm>
          <a:prstGeom prst="rect">
            <a:avLst/>
          </a:prstGeom>
        </p:spPr>
        <p:txBody>
          <a:bodyPr/>
          <a:lstStyle>
            <a:lvl1pPr>
              <a:defRPr b="1" sz="1600"/>
            </a:lvl1pPr>
          </a:lstStyle>
          <a:p>
            <a:pPr/>
            <a:r>
              <a:t>2.6. Managing higher-cardinality features</a:t>
            </a:r>
          </a:p>
        </p:txBody>
      </p:sp>
      <p:graphicFrame>
        <p:nvGraphicFramePr>
          <p:cNvPr id="234" name="Google Shape;188;p26"/>
          <p:cNvGraphicFramePr/>
          <p:nvPr/>
        </p:nvGraphicFramePr>
        <p:xfrm>
          <a:off x="393062" y="963475"/>
          <a:ext cx="8357877" cy="14020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661750"/>
                <a:gridCol w="2828250"/>
                <a:gridCol w="4867875"/>
              </a:tblGrid>
              <a:tr h="238125">
                <a:tc>
                  <a:txBody>
                    <a:bodyPr/>
                    <a:lstStyle/>
                    <a:p>
                      <a:pPr algn="l">
                        <a:lnSpc>
                          <a:spcPct val="115000"/>
                        </a:lnSpc>
                        <a:defRPr sz="1800"/>
                      </a:pPr>
                      <a:r>
                        <a:rPr b="1" sz="1000"/>
                        <a:t>Feature</a:t>
                      </a:r>
                    </a:p>
                  </a:txBody>
                  <a:tcPr marL="91425" marR="91425" marT="91425" marB="91425" anchor="t" anchorCtr="0" horzOverflow="overflow">
                    <a:lnB>
                      <a:solidFill>
                        <a:srgbClr val="CCCCCC"/>
                      </a:solidFill>
                    </a:lnB>
                  </a:tcPr>
                </a:tc>
                <a:tc>
                  <a:txBody>
                    <a:bodyPr/>
                    <a:lstStyle/>
                    <a:p>
                      <a:pPr algn="l">
                        <a:lnSpc>
                          <a:spcPct val="115000"/>
                        </a:lnSpc>
                        <a:defRPr sz="1800"/>
                      </a:pPr>
                      <a:r>
                        <a:rPr b="1" sz="1000"/>
                        <a:t>EDA finding</a:t>
                      </a:r>
                    </a:p>
                  </a:txBody>
                  <a:tcPr marL="91425" marR="91425" marT="91425" marB="91425" anchor="t" anchorCtr="0" horzOverflow="overflow">
                    <a:lnB>
                      <a:solidFill>
                        <a:srgbClr val="CCCCCC"/>
                      </a:solidFill>
                    </a:lnB>
                  </a:tcPr>
                </a:tc>
                <a:tc>
                  <a:txBody>
                    <a:bodyPr/>
                    <a:lstStyle/>
                    <a:p>
                      <a:pPr algn="l">
                        <a:lnSpc>
                          <a:spcPct val="115000"/>
                        </a:lnSpc>
                        <a:defRPr sz="1800"/>
                      </a:pPr>
                      <a:r>
                        <a:rPr b="1" sz="1000"/>
                        <a:t>Processing decision</a:t>
                      </a:r>
                    </a:p>
                  </a:txBody>
                  <a:tcPr marL="91425" marR="91425" marT="91425" marB="91425" anchor="t" anchorCtr="0" horzOverflow="overflow">
                    <a:lnB>
                      <a:solidFill>
                        <a:srgbClr val="CCCCCC"/>
                      </a:solidFill>
                    </a:lnB>
                  </a:tcPr>
                </a:tc>
              </a:tr>
              <a:tr h="383925">
                <a:tc>
                  <a:txBody>
                    <a:bodyPr/>
                    <a:lstStyle/>
                    <a:p>
                      <a:pPr algn="l">
                        <a:defRPr sz="1800"/>
                      </a:pPr>
                      <a:r>
                        <a:rPr b="1" sz="1000"/>
                        <a:t>City</a:t>
                      </a:r>
                    </a:p>
                  </a:txBody>
                  <a:tcPr marL="91425" marR="91425" marT="91425" marB="91425" anchor="t" anchorCtr="0" horzOverflow="overflow">
                    <a:lnT>
                      <a:solidFill>
                        <a:srgbClr val="CCCCCC"/>
                      </a:solidFill>
                    </a:lnT>
                  </a:tcPr>
                </a:tc>
                <a:tc>
                  <a:txBody>
                    <a:bodyPr/>
                    <a:lstStyle/>
                    <a:p>
                      <a:pPr algn="l">
                        <a:defRPr sz="1800"/>
                      </a:pPr>
                      <a:r>
                        <a:rPr sz="1000"/>
                        <a:t>12,320 unique destinations; most frequent city only 1.8%</a:t>
                      </a:r>
                    </a:p>
                  </a:txBody>
                  <a:tcPr marL="91425" marR="91425" marT="91425" marB="91425" anchor="t" anchorCtr="0" horzOverflow="overflow">
                    <a:lnT>
                      <a:solidFill>
                        <a:srgbClr val="CCCCCC"/>
                      </a:solidFill>
                    </a:lnT>
                  </a:tcPr>
                </a:tc>
                <a:tc>
                  <a:txBody>
                    <a:bodyPr/>
                    <a:lstStyle/>
                    <a:p>
                      <a:pPr algn="l">
                        <a:defRPr sz="1800"/>
                      </a:pPr>
                      <a:r>
                        <a:rPr sz="1000"/>
                        <a:t>Cities occurring fewer than 50 times in the training data were grouped into Other before categorical encoding.</a:t>
                      </a:r>
                    </a:p>
                  </a:txBody>
                  <a:tcPr marL="91425" marR="91425" marT="91425" marB="91425" anchor="t" anchorCtr="0" horzOverflow="overflow">
                    <a:lnT>
                      <a:solidFill>
                        <a:srgbClr val="CCCCCC"/>
                      </a:solidFill>
                    </a:lnT>
                  </a:tcPr>
                </a:tc>
              </a:tr>
              <a:tr h="335325">
                <a:tc>
                  <a:txBody>
                    <a:bodyPr/>
                    <a:lstStyle/>
                    <a:p>
                      <a:pPr algn="l">
                        <a:defRPr sz="1800"/>
                      </a:pPr>
                      <a:r>
                        <a:rPr b="1" sz="1000"/>
                        <a:t>Filters</a:t>
                      </a:r>
                    </a:p>
                  </a:txBody>
                  <a:tcPr marL="91425" marR="91425" marT="91425" marB="91425" anchor="t" anchorCtr="0" horzOverflow="overflow"/>
                </a:tc>
                <a:tc>
                  <a:txBody>
                    <a:bodyPr/>
                    <a:lstStyle/>
                    <a:p>
                      <a:pPr algn="l"/>
                      <a:r>
                        <a:t>~</a:t>
                      </a:r>
                      <a:r>
                        <a:rPr b="1"/>
                        <a:t>130 unique filter values</a:t>
                      </a:r>
                      <a:r>
                        <a:t>; individual categories were relatively sparse</a:t>
                      </a:r>
                    </a:p>
                  </a:txBody>
                  <a:tcPr marL="91425" marR="91425" marT="91425" marB="91425" anchor="t" anchorCtr="0" horzOverflow="overflow"/>
                </a:tc>
                <a:tc>
                  <a:txBody>
                    <a:bodyPr/>
                    <a:lstStyle/>
                    <a:p>
                      <a:pPr algn="l"/>
                      <a:r>
                        <a:t>Individual filters were not encoded directly. Constructed binary </a:t>
                      </a:r>
                      <a:r>
                        <a:rPr b="1" i="1"/>
                        <a:t>filter_match</a:t>
                      </a:r>
                      <a:r>
                        <a:t>, indicating whether ≥1 previously selected filter matched a candidate property</a:t>
                      </a:r>
                    </a:p>
                  </a:txBody>
                  <a:tcPr marL="91425" marR="91425" marT="91425" marB="91425" anchor="t" anchorCtr="0" horzOverflow="overflow"/>
                </a:tc>
              </a:tr>
              <a:tr h="444675">
                <a:tc>
                  <a:txBody>
                    <a:bodyPr/>
                    <a:lstStyle/>
                    <a:p>
                      <a:pPr algn="l">
                        <a:defRPr sz="1800"/>
                      </a:pPr>
                      <a:r>
                        <a:rPr b="1" sz="1000"/>
                        <a:t>Properties</a:t>
                      </a:r>
                    </a:p>
                  </a:txBody>
                  <a:tcPr marL="91425" marR="91425" marT="91425" marB="91425" anchor="t" anchorCtr="0" horzOverflow="overflow"/>
                </a:tc>
                <a:tc>
                  <a:txBody>
                    <a:bodyPr/>
                    <a:lstStyle/>
                    <a:p>
                      <a:pPr algn="l"/>
                      <a:r>
                        <a:t>~</a:t>
                      </a:r>
                      <a:r>
                        <a:rPr b="1"/>
                        <a:t>157 unique accommodation (candidate) attributes</a:t>
                      </a:r>
                      <a:r>
                        <a:t>; each accommodation could have multiple properties</a:t>
                      </a:r>
                    </a:p>
                  </a:txBody>
                  <a:tcPr marL="91425" marR="91425" marT="91425" marB="91425" anchor="t" anchorCtr="0" horzOverflow="overflow"/>
                </a:tc>
                <a:tc>
                  <a:txBody>
                    <a:bodyPr/>
                    <a:lstStyle/>
                    <a:p>
                      <a:pPr algn="l"/>
                      <a:r>
                        <a:t>Not encoded individually. Used with selected filters to construct </a:t>
                      </a:r>
                      <a:r>
                        <a:rPr b="1" i="1"/>
                        <a:t>filter_match</a:t>
                      </a:r>
                      <a:r>
                        <a:t>, reducing a multi-valued high-cardinality field to a candidate-level behavioural feature</a:t>
                      </a:r>
                    </a:p>
                  </a:txBody>
                  <a:tcPr marL="91425" marR="91425" marT="91425" marB="91425" anchor="t" anchorCtr="0" horzOverflow="overflow"/>
                </a:tc>
              </a:tr>
            </a:tbl>
          </a:graphicData>
        </a:graphic>
      </p:graphicFrame>
      <p:sp>
        <p:nvSpPr>
          <p:cNvPr id="235" name="Google Shape;189;p26"/>
          <p:cNvSpPr txBox="1"/>
          <p:nvPr/>
        </p:nvSpPr>
        <p:spPr>
          <a:xfrm>
            <a:off x="311699" y="3117949"/>
            <a:ext cx="8253302" cy="53346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200"/>
            </a:lvl1pPr>
          </a:lstStyle>
          <a:p>
            <a:pPr/>
            <a:r>
              <a:t>High-cardinality features were retained where useful, but rare or multi-valued categories were consolidated or transformed to limit dimensionality and sparsity.</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Google Shape;194;p27"/>
          <p:cNvSpPr txBox="1"/>
          <p:nvPr>
            <p:ph type="title"/>
          </p:nvPr>
        </p:nvSpPr>
        <p:spPr>
          <a:xfrm>
            <a:off x="311699" y="225485"/>
            <a:ext cx="8520602" cy="417301"/>
          </a:xfrm>
          <a:prstGeom prst="rect">
            <a:avLst/>
          </a:prstGeom>
        </p:spPr>
        <p:txBody>
          <a:bodyPr/>
          <a:lstStyle>
            <a:lvl1pPr>
              <a:defRPr b="1" sz="1600"/>
            </a:lvl1pPr>
          </a:lstStyle>
          <a:p>
            <a:pPr/>
            <a:r>
              <a:t>2.7. Candidate price is strongly right-skewed</a:t>
            </a:r>
          </a:p>
        </p:txBody>
      </p:sp>
      <p:sp>
        <p:nvSpPr>
          <p:cNvPr id="238" name="Google Shape;195;p27"/>
          <p:cNvSpPr txBox="1"/>
          <p:nvPr>
            <p:ph type="body" sz="half" idx="1"/>
          </p:nvPr>
        </p:nvSpPr>
        <p:spPr>
          <a:xfrm>
            <a:off x="311699" y="1173899"/>
            <a:ext cx="3907801" cy="3805801"/>
          </a:xfrm>
          <a:prstGeom prst="rect">
            <a:avLst/>
          </a:prstGeom>
        </p:spPr>
        <p:txBody>
          <a:bodyPr/>
          <a:lstStyle/>
          <a:p>
            <a:pPr marL="0" indent="0">
              <a:buSzTx/>
              <a:buNone/>
              <a:defRPr b="1" sz="1400">
                <a:solidFill>
                  <a:srgbClr val="000000"/>
                </a:solidFill>
              </a:defRPr>
            </a:pPr>
            <a:r>
              <a:t>Price:</a:t>
            </a:r>
          </a:p>
          <a:p>
            <a:pPr indent="-298450">
              <a:spcBef>
                <a:spcPts val="1200"/>
              </a:spcBef>
              <a:buClr>
                <a:srgbClr val="000000"/>
              </a:buClr>
              <a:buSzPts val="1100"/>
              <a:defRPr sz="1100">
                <a:solidFill>
                  <a:srgbClr val="000000"/>
                </a:solidFill>
              </a:defRPr>
            </a:pPr>
            <a:r>
              <a:t>Accommodation prices were strongly right-skewed (median €82 vs mean €120, with extreme values up to €10,000)</a:t>
            </a:r>
          </a:p>
          <a:p>
            <a:pPr indent="-298450">
              <a:buClr>
                <a:srgbClr val="000000"/>
              </a:buClr>
              <a:buSzPts val="1100"/>
              <a:defRPr sz="1100">
                <a:solidFill>
                  <a:srgbClr val="000000"/>
                </a:solidFill>
              </a:defRPr>
            </a:pPr>
            <a:r>
              <a:t>For models requiring scaled numerical inputs, candidate price was log-transformed before scaling to reduce skew and the influence of extreme values (Géron, 2025).</a:t>
            </a:r>
          </a:p>
        </p:txBody>
      </p:sp>
      <p:sp>
        <p:nvSpPr>
          <p:cNvPr id="239" name="Google Shape;196;p27"/>
          <p:cNvSpPr/>
          <p:nvPr/>
        </p:nvSpPr>
        <p:spPr>
          <a:xfrm flipH="1">
            <a:off x="4383675" y="1400349"/>
            <a:ext cx="1" cy="3063702"/>
          </a:xfrm>
          <a:prstGeom prst="line">
            <a:avLst/>
          </a:prstGeom>
          <a:ln>
            <a:solidFill>
              <a:srgbClr val="B7B7B7"/>
            </a:solidFill>
            <a:headEnd type="oval"/>
            <a:tailEnd type="oval"/>
          </a:ln>
        </p:spPr>
        <p:txBody>
          <a:bodyPr lIns="0" tIns="0" rIns="0" bIns="0"/>
          <a:lstStyle/>
          <a:p>
            <a:pPr/>
          </a:p>
        </p:txBody>
      </p:sp>
      <p:pic>
        <p:nvPicPr>
          <p:cNvPr id="240" name="Screenshot 2026-09-23 at 09.31.37.pngGoogle Shape;197;p27" descr="Screenshot 2026-09-23 at 09.31.37.pngGoogle Shape;197;p27"/>
          <p:cNvPicPr>
            <a:picLocks noChangeAspect="1"/>
          </p:cNvPicPr>
          <p:nvPr/>
        </p:nvPicPr>
        <p:blipFill>
          <a:blip r:embed="rId2">
            <a:extLst/>
          </a:blip>
          <a:stretch>
            <a:fillRect/>
          </a:stretch>
        </p:blipFill>
        <p:spPr>
          <a:xfrm>
            <a:off x="4906983" y="1864685"/>
            <a:ext cx="4039969" cy="2135026"/>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Google Shape;202;p28"/>
          <p:cNvSpPr txBox="1"/>
          <p:nvPr>
            <p:ph type="title"/>
          </p:nvPr>
        </p:nvSpPr>
        <p:spPr>
          <a:xfrm>
            <a:off x="311699" y="225485"/>
            <a:ext cx="8520602" cy="417301"/>
          </a:xfrm>
          <a:prstGeom prst="rect">
            <a:avLst/>
          </a:prstGeom>
        </p:spPr>
        <p:txBody>
          <a:bodyPr/>
          <a:lstStyle>
            <a:lvl1pPr>
              <a:defRPr b="1" sz="1600"/>
            </a:lvl1pPr>
          </a:lstStyle>
          <a:p>
            <a:pPr/>
            <a:r>
              <a:t>2.8. Turning session behaviour into predictors</a:t>
            </a:r>
          </a:p>
        </p:txBody>
      </p:sp>
      <p:sp>
        <p:nvSpPr>
          <p:cNvPr id="243" name="Google Shape;203;p28"/>
          <p:cNvSpPr txBox="1"/>
          <p:nvPr>
            <p:ph type="body" sz="half" idx="1"/>
          </p:nvPr>
        </p:nvSpPr>
        <p:spPr>
          <a:xfrm>
            <a:off x="311700" y="976524"/>
            <a:ext cx="4090500" cy="3897602"/>
          </a:xfrm>
          <a:prstGeom prst="rect">
            <a:avLst/>
          </a:prstGeom>
        </p:spPr>
        <p:txBody>
          <a:bodyPr/>
          <a:lstStyle/>
          <a:p>
            <a:pPr indent="-304800">
              <a:buClr>
                <a:srgbClr val="000000"/>
              </a:buClr>
              <a:buSzPts val="1200"/>
              <a:defRPr sz="1200">
                <a:solidFill>
                  <a:srgbClr val="000000"/>
                </a:solidFill>
              </a:defRPr>
            </a:pPr>
            <a:r>
              <a:t>Each ranking event was associated with its preceding sequence of non-clickout interactions.</a:t>
            </a:r>
          </a:p>
          <a:p>
            <a:pPr indent="-304800">
              <a:buClr>
                <a:srgbClr val="000000"/>
              </a:buClr>
              <a:buSzPts val="1200"/>
              <a:defRPr sz="1200">
                <a:solidFill>
                  <a:srgbClr val="000000"/>
                </a:solidFill>
              </a:defRPr>
            </a:pPr>
            <a:r>
              <a:t>Only behaviour occurring before the ranking event was used, preventing target leakage.</a:t>
            </a:r>
          </a:p>
          <a:p>
            <a:pPr indent="-304800">
              <a:buClr>
                <a:srgbClr val="000000"/>
              </a:buClr>
              <a:buSzPts val="1200"/>
              <a:defRPr b="1" sz="1200">
                <a:solidFill>
                  <a:srgbClr val="000000"/>
                </a:solidFill>
              </a:defRPr>
            </a:pPr>
            <a:r>
              <a:t>Nine behavioural count features </a:t>
            </a:r>
            <a:r>
              <a:rPr b="0"/>
              <a:t>were constructed:</a:t>
            </a:r>
          </a:p>
          <a:p>
            <a:pPr lvl="1" marL="914400" indent="-304800">
              <a:buClr>
                <a:srgbClr val="000000"/>
              </a:buClr>
              <a:buSzPts val="1200"/>
              <a:defRPr b="1" sz="1200">
                <a:solidFill>
                  <a:srgbClr val="000000"/>
                </a:solidFill>
              </a:defRPr>
            </a:pPr>
            <a:r>
              <a:t>Searches: </a:t>
            </a:r>
            <a:r>
              <a:rPr b="0"/>
              <a:t>counts of destination, item and POI searches</a:t>
            </a:r>
          </a:p>
          <a:p>
            <a:pPr lvl="1" marL="914400" indent="-304800">
              <a:buClr>
                <a:srgbClr val="000000"/>
              </a:buClr>
              <a:buSzPts val="1200"/>
              <a:defRPr b="1" sz="1200">
                <a:solidFill>
                  <a:srgbClr val="000000"/>
                </a:solidFill>
              </a:defRPr>
            </a:pPr>
            <a:r>
              <a:t>Candidate interactions: </a:t>
            </a:r>
            <a:r>
              <a:rPr b="0"/>
              <a:t>counts of image, info, rating and deals interactions</a:t>
            </a:r>
          </a:p>
          <a:p>
            <a:pPr lvl="1" marL="914400" indent="-304800">
              <a:buClr>
                <a:srgbClr val="000000"/>
              </a:buClr>
              <a:buSzPts val="1200"/>
              <a:defRPr b="1" sz="1200">
                <a:solidFill>
                  <a:srgbClr val="000000"/>
                </a:solidFill>
              </a:defRPr>
            </a:pPr>
            <a:r>
              <a:t>Search refinement: </a:t>
            </a:r>
            <a:r>
              <a:rPr b="0"/>
              <a:t>counts of filter selections and sort changes</a:t>
            </a:r>
          </a:p>
        </p:txBody>
      </p:sp>
      <p:sp>
        <p:nvSpPr>
          <p:cNvPr id="244" name="Google Shape;204;p28"/>
          <p:cNvSpPr/>
          <p:nvPr/>
        </p:nvSpPr>
        <p:spPr>
          <a:xfrm flipH="1">
            <a:off x="4571999" y="1194409"/>
            <a:ext cx="1" cy="3063702"/>
          </a:xfrm>
          <a:prstGeom prst="line">
            <a:avLst/>
          </a:prstGeom>
          <a:ln>
            <a:solidFill>
              <a:srgbClr val="B7B7B7"/>
            </a:solidFill>
            <a:headEnd type="oval"/>
            <a:tailEnd type="oval"/>
          </a:ln>
        </p:spPr>
        <p:txBody>
          <a:bodyPr lIns="0" tIns="0" rIns="0" bIns="0"/>
          <a:lstStyle/>
          <a:p>
            <a:pPr/>
          </a:p>
        </p:txBody>
      </p:sp>
      <p:pic>
        <p:nvPicPr>
          <p:cNvPr id="245" name="Screenshot 2026-09-24 at 02.39.07.pngGoogle Shape;205;p28" descr="Screenshot 2026-09-24 at 02.39.07.pngGoogle Shape;205;p28"/>
          <p:cNvPicPr>
            <a:picLocks noChangeAspect="1"/>
          </p:cNvPicPr>
          <p:nvPr/>
        </p:nvPicPr>
        <p:blipFill>
          <a:blip r:embed="rId2">
            <a:extLst/>
          </a:blip>
          <a:stretch>
            <a:fillRect/>
          </a:stretch>
        </p:blipFill>
        <p:spPr>
          <a:xfrm>
            <a:off x="4831150" y="1476361"/>
            <a:ext cx="3954501" cy="2221226"/>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Google Shape;210;p29"/>
          <p:cNvSpPr txBox="1"/>
          <p:nvPr>
            <p:ph type="title"/>
          </p:nvPr>
        </p:nvSpPr>
        <p:spPr>
          <a:xfrm>
            <a:off x="222249" y="195775"/>
            <a:ext cx="8520602" cy="412201"/>
          </a:xfrm>
          <a:prstGeom prst="rect">
            <a:avLst/>
          </a:prstGeom>
        </p:spPr>
        <p:txBody>
          <a:bodyPr/>
          <a:lstStyle>
            <a:lvl1pPr defTabSz="859536">
              <a:defRPr b="1" sz="1598"/>
            </a:lvl1pPr>
          </a:lstStyle>
          <a:p>
            <a:pPr/>
            <a:r>
              <a:t>2.9. From the raw data to the final modelling dataset</a:t>
            </a:r>
          </a:p>
        </p:txBody>
      </p:sp>
      <p:grpSp>
        <p:nvGrpSpPr>
          <p:cNvPr id="250" name="Google Shape;211;p29"/>
          <p:cNvGrpSpPr/>
          <p:nvPr/>
        </p:nvGrpSpPr>
        <p:grpSpPr>
          <a:xfrm>
            <a:off x="278175" y="853088"/>
            <a:ext cx="4433700" cy="343501"/>
            <a:chOff x="0" y="0"/>
            <a:chExt cx="4433699" cy="343500"/>
          </a:xfrm>
        </p:grpSpPr>
        <p:sp>
          <p:nvSpPr>
            <p:cNvPr id="248" name="Rounded Rectangle"/>
            <p:cNvSpPr/>
            <p:nvPr/>
          </p:nvSpPr>
          <p:spPr>
            <a:xfrm>
              <a:off x="0" y="0"/>
              <a:ext cx="4433700" cy="343501"/>
            </a:xfrm>
            <a:prstGeom prst="roundRect">
              <a:avLst>
                <a:gd name="adj" fmla="val 16667"/>
              </a:avLst>
            </a:prstGeom>
            <a:solidFill>
              <a:srgbClr val="D6FBFF"/>
            </a:solidFill>
            <a:ln w="9525" cap="flat">
              <a:solidFill>
                <a:schemeClr val="accent5"/>
              </a:solidFill>
              <a:prstDash val="solid"/>
              <a:round/>
            </a:ln>
            <a:effectLst/>
          </p:spPr>
          <p:txBody>
            <a:bodyPr wrap="square" lIns="0" tIns="0" rIns="0" bIns="0" numCol="1" anchor="ctr">
              <a:noAutofit/>
            </a:bodyPr>
            <a:lstStyle/>
            <a:p>
              <a:pPr>
                <a:defRPr sz="1000"/>
              </a:pPr>
            </a:p>
          </p:txBody>
        </p:sp>
        <p:sp>
          <p:nvSpPr>
            <p:cNvPr id="249" name="Text"/>
            <p:cNvSpPr txBox="1"/>
            <p:nvPr/>
          </p:nvSpPr>
          <p:spPr>
            <a:xfrm>
              <a:off x="21530" y="12552"/>
              <a:ext cx="4390640" cy="3183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defRPr sz="1000"/>
              </a:lvl1pPr>
            </a:lstStyle>
            <a:p>
              <a:pPr/>
              <a:r>
                <a:t>    </a:t>
              </a:r>
            </a:p>
          </p:txBody>
        </p:sp>
      </p:grpSp>
      <p:grpSp>
        <p:nvGrpSpPr>
          <p:cNvPr id="253" name="Google Shape;212;p29"/>
          <p:cNvGrpSpPr/>
          <p:nvPr/>
        </p:nvGrpSpPr>
        <p:grpSpPr>
          <a:xfrm>
            <a:off x="328753" y="831282"/>
            <a:ext cx="387601" cy="367950"/>
            <a:chOff x="0" y="0"/>
            <a:chExt cx="387600" cy="367948"/>
          </a:xfrm>
        </p:grpSpPr>
        <p:sp>
          <p:nvSpPr>
            <p:cNvPr id="251" name="Google Shape;213;p29"/>
            <p:cNvSpPr/>
            <p:nvPr/>
          </p:nvSpPr>
          <p:spPr>
            <a:xfrm>
              <a:off x="8421" y="50571"/>
              <a:ext cx="286501" cy="286501"/>
            </a:xfrm>
            <a:prstGeom prst="ellipse">
              <a:avLst/>
            </a:prstGeom>
            <a:solidFill>
              <a:schemeClr val="accent5"/>
            </a:solidFill>
            <a:ln w="12700" cap="flat">
              <a:noFill/>
              <a:miter lim="400000"/>
            </a:ln>
            <a:effectLst/>
          </p:spPr>
          <p:txBody>
            <a:bodyPr wrap="square" lIns="0" tIns="0" rIns="0" bIns="0" numCol="1" anchor="ctr">
              <a:noAutofit/>
            </a:bodyPr>
            <a:lstStyle/>
            <a:p>
              <a:pPr algn="ctr"/>
            </a:p>
          </p:txBody>
        </p:sp>
        <p:sp>
          <p:nvSpPr>
            <p:cNvPr id="252" name="Google Shape;214;p29"/>
            <p:cNvSpPr txBox="1"/>
            <p:nvPr/>
          </p:nvSpPr>
          <p:spPr>
            <a:xfrm>
              <a:off x="0" y="0"/>
              <a:ext cx="387601" cy="3679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lvl1pPr>
                <a:defRPr b="1" sz="1300">
                  <a:solidFill>
                    <a:srgbClr val="FFFFFF"/>
                  </a:solidFill>
                </a:defRPr>
              </a:lvl1pPr>
            </a:lstStyle>
            <a:p>
              <a:pPr/>
              <a:r>
                <a:t>1</a:t>
              </a:r>
            </a:p>
          </p:txBody>
        </p:sp>
      </p:grpSp>
      <p:sp>
        <p:nvSpPr>
          <p:cNvPr id="254" name="Google Shape;215;p29"/>
          <p:cNvSpPr txBox="1"/>
          <p:nvPr/>
        </p:nvSpPr>
        <p:spPr>
          <a:xfrm>
            <a:off x="589912" y="785857"/>
            <a:ext cx="3961801" cy="433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900"/>
            </a:pPr>
            <a:r>
              <a:t>Sample complete sessions</a:t>
            </a:r>
          </a:p>
          <a:p>
            <a:pPr>
              <a:defRPr sz="900"/>
            </a:pPr>
            <a:r>
              <a:t>10% sample, retaining all interactions</a:t>
            </a:r>
          </a:p>
        </p:txBody>
      </p:sp>
      <p:sp>
        <p:nvSpPr>
          <p:cNvPr id="255" name="Google Shape;216;p29"/>
          <p:cNvSpPr/>
          <p:nvPr/>
        </p:nvSpPr>
        <p:spPr>
          <a:xfrm>
            <a:off x="3751000" y="1198413"/>
            <a:ext cx="1" cy="153901"/>
          </a:xfrm>
          <a:prstGeom prst="line">
            <a:avLst/>
          </a:prstGeom>
          <a:ln>
            <a:solidFill>
              <a:schemeClr val="accent5"/>
            </a:solidFill>
            <a:tailEnd type="stealth"/>
          </a:ln>
        </p:spPr>
        <p:txBody>
          <a:bodyPr lIns="0" tIns="0" rIns="0" bIns="0"/>
          <a:lstStyle/>
          <a:p>
            <a:pPr/>
          </a:p>
        </p:txBody>
      </p:sp>
      <p:grpSp>
        <p:nvGrpSpPr>
          <p:cNvPr id="258" name="Google Shape;217;p29"/>
          <p:cNvGrpSpPr/>
          <p:nvPr/>
        </p:nvGrpSpPr>
        <p:grpSpPr>
          <a:xfrm>
            <a:off x="278175" y="1351592"/>
            <a:ext cx="4433700" cy="343501"/>
            <a:chOff x="0" y="0"/>
            <a:chExt cx="4433699" cy="343500"/>
          </a:xfrm>
        </p:grpSpPr>
        <p:sp>
          <p:nvSpPr>
            <p:cNvPr id="256" name="Rounded Rectangle"/>
            <p:cNvSpPr/>
            <p:nvPr/>
          </p:nvSpPr>
          <p:spPr>
            <a:xfrm>
              <a:off x="0" y="0"/>
              <a:ext cx="4433700" cy="343501"/>
            </a:xfrm>
            <a:prstGeom prst="roundRect">
              <a:avLst>
                <a:gd name="adj" fmla="val 16667"/>
              </a:avLst>
            </a:prstGeom>
            <a:solidFill>
              <a:srgbClr val="D6FBFF"/>
            </a:solidFill>
            <a:ln w="9525" cap="flat">
              <a:solidFill>
                <a:schemeClr val="accent5"/>
              </a:solidFill>
              <a:prstDash val="solid"/>
              <a:round/>
            </a:ln>
            <a:effectLst/>
          </p:spPr>
          <p:txBody>
            <a:bodyPr wrap="square" lIns="0" tIns="0" rIns="0" bIns="0" numCol="1" anchor="ctr">
              <a:noAutofit/>
            </a:bodyPr>
            <a:lstStyle/>
            <a:p>
              <a:pPr>
                <a:defRPr sz="1000"/>
              </a:pPr>
            </a:p>
          </p:txBody>
        </p:sp>
        <p:sp>
          <p:nvSpPr>
            <p:cNvPr id="257" name="Text"/>
            <p:cNvSpPr txBox="1"/>
            <p:nvPr/>
          </p:nvSpPr>
          <p:spPr>
            <a:xfrm>
              <a:off x="21530" y="12552"/>
              <a:ext cx="4390640" cy="3183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defRPr sz="1000"/>
              </a:lvl1pPr>
            </a:lstStyle>
            <a:p>
              <a:pPr/>
              <a:r>
                <a:t>    </a:t>
              </a:r>
            </a:p>
          </p:txBody>
        </p:sp>
      </p:grpSp>
      <p:grpSp>
        <p:nvGrpSpPr>
          <p:cNvPr id="261" name="Google Shape;218;p29"/>
          <p:cNvGrpSpPr/>
          <p:nvPr/>
        </p:nvGrpSpPr>
        <p:grpSpPr>
          <a:xfrm>
            <a:off x="328753" y="1329785"/>
            <a:ext cx="387601" cy="367950"/>
            <a:chOff x="0" y="0"/>
            <a:chExt cx="387600" cy="367948"/>
          </a:xfrm>
        </p:grpSpPr>
        <p:sp>
          <p:nvSpPr>
            <p:cNvPr id="259" name="Google Shape;219;p29"/>
            <p:cNvSpPr/>
            <p:nvPr/>
          </p:nvSpPr>
          <p:spPr>
            <a:xfrm>
              <a:off x="8421" y="50571"/>
              <a:ext cx="286501" cy="286501"/>
            </a:xfrm>
            <a:prstGeom prst="ellipse">
              <a:avLst/>
            </a:prstGeom>
            <a:solidFill>
              <a:schemeClr val="accent5"/>
            </a:solidFill>
            <a:ln w="12700" cap="flat">
              <a:noFill/>
              <a:miter lim="400000"/>
            </a:ln>
            <a:effectLst/>
          </p:spPr>
          <p:txBody>
            <a:bodyPr wrap="square" lIns="0" tIns="0" rIns="0" bIns="0" numCol="1" anchor="ctr">
              <a:noAutofit/>
            </a:bodyPr>
            <a:lstStyle/>
            <a:p>
              <a:pPr algn="ctr"/>
            </a:p>
          </p:txBody>
        </p:sp>
        <p:sp>
          <p:nvSpPr>
            <p:cNvPr id="260" name="Google Shape;220;p29"/>
            <p:cNvSpPr txBox="1"/>
            <p:nvPr/>
          </p:nvSpPr>
          <p:spPr>
            <a:xfrm>
              <a:off x="0" y="0"/>
              <a:ext cx="387601" cy="3679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lvl1pPr>
                <a:defRPr b="1" sz="1300">
                  <a:solidFill>
                    <a:srgbClr val="FFFFFF"/>
                  </a:solidFill>
                </a:defRPr>
              </a:lvl1pPr>
            </a:lstStyle>
            <a:p>
              <a:pPr/>
              <a:r>
                <a:t>2</a:t>
              </a:r>
            </a:p>
          </p:txBody>
        </p:sp>
      </p:grpSp>
      <p:sp>
        <p:nvSpPr>
          <p:cNvPr id="262" name="Google Shape;221;p29"/>
          <p:cNvSpPr txBox="1"/>
          <p:nvPr/>
        </p:nvSpPr>
        <p:spPr>
          <a:xfrm>
            <a:off x="589912" y="1284362"/>
            <a:ext cx="3961801" cy="4331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900"/>
            </a:pPr>
            <a:r>
              <a:t>Identify ranking events</a:t>
            </a:r>
          </a:p>
          <a:p>
            <a:pPr>
              <a:defRPr sz="900"/>
            </a:pPr>
            <a:r>
              <a:t>Each clickout = one ranking event</a:t>
            </a:r>
          </a:p>
        </p:txBody>
      </p:sp>
      <p:sp>
        <p:nvSpPr>
          <p:cNvPr id="263" name="Google Shape;222;p29"/>
          <p:cNvSpPr/>
          <p:nvPr/>
        </p:nvSpPr>
        <p:spPr>
          <a:xfrm>
            <a:off x="3751000" y="1696916"/>
            <a:ext cx="1" cy="153901"/>
          </a:xfrm>
          <a:prstGeom prst="line">
            <a:avLst/>
          </a:prstGeom>
          <a:ln>
            <a:solidFill>
              <a:schemeClr val="accent5"/>
            </a:solidFill>
            <a:tailEnd type="stealth"/>
          </a:ln>
        </p:spPr>
        <p:txBody>
          <a:bodyPr lIns="0" tIns="0" rIns="0" bIns="0"/>
          <a:lstStyle/>
          <a:p>
            <a:pPr/>
          </a:p>
        </p:txBody>
      </p:sp>
      <p:grpSp>
        <p:nvGrpSpPr>
          <p:cNvPr id="266" name="Google Shape;223;p29"/>
          <p:cNvGrpSpPr/>
          <p:nvPr/>
        </p:nvGrpSpPr>
        <p:grpSpPr>
          <a:xfrm>
            <a:off x="278175" y="1850062"/>
            <a:ext cx="4433700" cy="343501"/>
            <a:chOff x="0" y="0"/>
            <a:chExt cx="4433699" cy="343500"/>
          </a:xfrm>
        </p:grpSpPr>
        <p:sp>
          <p:nvSpPr>
            <p:cNvPr id="264" name="Rounded Rectangle"/>
            <p:cNvSpPr/>
            <p:nvPr/>
          </p:nvSpPr>
          <p:spPr>
            <a:xfrm>
              <a:off x="0" y="0"/>
              <a:ext cx="4433700" cy="343501"/>
            </a:xfrm>
            <a:prstGeom prst="roundRect">
              <a:avLst>
                <a:gd name="adj" fmla="val 16667"/>
              </a:avLst>
            </a:prstGeom>
            <a:solidFill>
              <a:srgbClr val="D6FBFF"/>
            </a:solidFill>
            <a:ln w="9525" cap="flat">
              <a:solidFill>
                <a:schemeClr val="accent5"/>
              </a:solidFill>
              <a:prstDash val="solid"/>
              <a:round/>
            </a:ln>
            <a:effectLst/>
          </p:spPr>
          <p:txBody>
            <a:bodyPr wrap="square" lIns="0" tIns="0" rIns="0" bIns="0" numCol="1" anchor="ctr">
              <a:noAutofit/>
            </a:bodyPr>
            <a:lstStyle/>
            <a:p>
              <a:pPr>
                <a:defRPr sz="1000"/>
              </a:pPr>
            </a:p>
          </p:txBody>
        </p:sp>
        <p:sp>
          <p:nvSpPr>
            <p:cNvPr id="265" name="Text"/>
            <p:cNvSpPr txBox="1"/>
            <p:nvPr/>
          </p:nvSpPr>
          <p:spPr>
            <a:xfrm>
              <a:off x="21530" y="12552"/>
              <a:ext cx="4390640" cy="3183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defRPr sz="1000"/>
              </a:lvl1pPr>
            </a:lstStyle>
            <a:p>
              <a:pPr/>
              <a:r>
                <a:t>    </a:t>
              </a:r>
            </a:p>
          </p:txBody>
        </p:sp>
      </p:grpSp>
      <p:grpSp>
        <p:nvGrpSpPr>
          <p:cNvPr id="269" name="Google Shape;224;p29"/>
          <p:cNvGrpSpPr/>
          <p:nvPr/>
        </p:nvGrpSpPr>
        <p:grpSpPr>
          <a:xfrm>
            <a:off x="328753" y="1828257"/>
            <a:ext cx="387601" cy="367949"/>
            <a:chOff x="0" y="0"/>
            <a:chExt cx="387600" cy="367948"/>
          </a:xfrm>
        </p:grpSpPr>
        <p:sp>
          <p:nvSpPr>
            <p:cNvPr id="267" name="Google Shape;225;p29"/>
            <p:cNvSpPr/>
            <p:nvPr/>
          </p:nvSpPr>
          <p:spPr>
            <a:xfrm>
              <a:off x="8421" y="50571"/>
              <a:ext cx="286501" cy="286501"/>
            </a:xfrm>
            <a:prstGeom prst="ellipse">
              <a:avLst/>
            </a:prstGeom>
            <a:solidFill>
              <a:schemeClr val="accent5"/>
            </a:solidFill>
            <a:ln w="12700" cap="flat">
              <a:noFill/>
              <a:miter lim="400000"/>
            </a:ln>
            <a:effectLst/>
          </p:spPr>
          <p:txBody>
            <a:bodyPr wrap="square" lIns="0" tIns="0" rIns="0" bIns="0" numCol="1" anchor="ctr">
              <a:noAutofit/>
            </a:bodyPr>
            <a:lstStyle/>
            <a:p>
              <a:pPr algn="ctr"/>
            </a:p>
          </p:txBody>
        </p:sp>
        <p:sp>
          <p:nvSpPr>
            <p:cNvPr id="268" name="Google Shape;226;p29"/>
            <p:cNvSpPr txBox="1"/>
            <p:nvPr/>
          </p:nvSpPr>
          <p:spPr>
            <a:xfrm>
              <a:off x="0" y="0"/>
              <a:ext cx="387601" cy="3679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lvl1pPr>
                <a:defRPr b="1" sz="1300">
                  <a:solidFill>
                    <a:srgbClr val="FFFFFF"/>
                  </a:solidFill>
                </a:defRPr>
              </a:lvl1pPr>
            </a:lstStyle>
            <a:p>
              <a:pPr/>
              <a:r>
                <a:t>1</a:t>
              </a:r>
            </a:p>
          </p:txBody>
        </p:sp>
      </p:grpSp>
      <p:sp>
        <p:nvSpPr>
          <p:cNvPr id="270" name="Google Shape;227;p29"/>
          <p:cNvSpPr txBox="1"/>
          <p:nvPr/>
        </p:nvSpPr>
        <p:spPr>
          <a:xfrm>
            <a:off x="589912" y="1782832"/>
            <a:ext cx="3961801" cy="4331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900"/>
            </a:pPr>
            <a:r>
              <a:t>Link preceding behaviour</a:t>
            </a:r>
          </a:p>
          <a:p>
            <a:pPr>
              <a:defRPr sz="900"/>
            </a:pPr>
            <a:r>
              <a:t>Associate interactions occurring before each event</a:t>
            </a:r>
          </a:p>
        </p:txBody>
      </p:sp>
      <p:sp>
        <p:nvSpPr>
          <p:cNvPr id="271" name="Google Shape;228;p29"/>
          <p:cNvSpPr/>
          <p:nvPr/>
        </p:nvSpPr>
        <p:spPr>
          <a:xfrm>
            <a:off x="3751000" y="2195388"/>
            <a:ext cx="1" cy="153901"/>
          </a:xfrm>
          <a:prstGeom prst="line">
            <a:avLst/>
          </a:prstGeom>
          <a:ln>
            <a:solidFill>
              <a:schemeClr val="accent5"/>
            </a:solidFill>
            <a:tailEnd type="stealth"/>
          </a:ln>
        </p:spPr>
        <p:txBody>
          <a:bodyPr lIns="0" tIns="0" rIns="0" bIns="0"/>
          <a:lstStyle/>
          <a:p>
            <a:pPr/>
          </a:p>
        </p:txBody>
      </p:sp>
      <p:grpSp>
        <p:nvGrpSpPr>
          <p:cNvPr id="274" name="Google Shape;229;p29"/>
          <p:cNvGrpSpPr/>
          <p:nvPr/>
        </p:nvGrpSpPr>
        <p:grpSpPr>
          <a:xfrm>
            <a:off x="278175" y="2348565"/>
            <a:ext cx="4433700" cy="343501"/>
            <a:chOff x="0" y="0"/>
            <a:chExt cx="4433699" cy="343500"/>
          </a:xfrm>
        </p:grpSpPr>
        <p:sp>
          <p:nvSpPr>
            <p:cNvPr id="272" name="Rounded Rectangle"/>
            <p:cNvSpPr/>
            <p:nvPr/>
          </p:nvSpPr>
          <p:spPr>
            <a:xfrm>
              <a:off x="0" y="0"/>
              <a:ext cx="4433700" cy="343501"/>
            </a:xfrm>
            <a:prstGeom prst="roundRect">
              <a:avLst>
                <a:gd name="adj" fmla="val 16667"/>
              </a:avLst>
            </a:prstGeom>
            <a:solidFill>
              <a:srgbClr val="D6FBFF"/>
            </a:solidFill>
            <a:ln w="9525" cap="flat">
              <a:solidFill>
                <a:schemeClr val="accent5"/>
              </a:solidFill>
              <a:prstDash val="solid"/>
              <a:round/>
            </a:ln>
            <a:effectLst/>
          </p:spPr>
          <p:txBody>
            <a:bodyPr wrap="square" lIns="0" tIns="0" rIns="0" bIns="0" numCol="1" anchor="ctr">
              <a:noAutofit/>
            </a:bodyPr>
            <a:lstStyle/>
            <a:p>
              <a:pPr>
                <a:defRPr sz="1000"/>
              </a:pPr>
            </a:p>
          </p:txBody>
        </p:sp>
        <p:sp>
          <p:nvSpPr>
            <p:cNvPr id="273" name="Text"/>
            <p:cNvSpPr txBox="1"/>
            <p:nvPr/>
          </p:nvSpPr>
          <p:spPr>
            <a:xfrm>
              <a:off x="21530" y="12552"/>
              <a:ext cx="4390640" cy="3183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defRPr sz="1000"/>
              </a:lvl1pPr>
            </a:lstStyle>
            <a:p>
              <a:pPr/>
              <a:r>
                <a:t>    </a:t>
              </a:r>
            </a:p>
          </p:txBody>
        </p:sp>
      </p:grpSp>
      <p:grpSp>
        <p:nvGrpSpPr>
          <p:cNvPr id="277" name="Google Shape;230;p29"/>
          <p:cNvGrpSpPr/>
          <p:nvPr/>
        </p:nvGrpSpPr>
        <p:grpSpPr>
          <a:xfrm>
            <a:off x="328753" y="2326759"/>
            <a:ext cx="387601" cy="367950"/>
            <a:chOff x="0" y="0"/>
            <a:chExt cx="387600" cy="367948"/>
          </a:xfrm>
        </p:grpSpPr>
        <p:sp>
          <p:nvSpPr>
            <p:cNvPr id="275" name="Google Shape;231;p29"/>
            <p:cNvSpPr/>
            <p:nvPr/>
          </p:nvSpPr>
          <p:spPr>
            <a:xfrm>
              <a:off x="8421" y="50571"/>
              <a:ext cx="286501" cy="286501"/>
            </a:xfrm>
            <a:prstGeom prst="ellipse">
              <a:avLst/>
            </a:prstGeom>
            <a:solidFill>
              <a:schemeClr val="accent5"/>
            </a:solidFill>
            <a:ln w="12700" cap="flat">
              <a:noFill/>
              <a:miter lim="400000"/>
            </a:ln>
            <a:effectLst/>
          </p:spPr>
          <p:txBody>
            <a:bodyPr wrap="square" lIns="0" tIns="0" rIns="0" bIns="0" numCol="1" anchor="ctr">
              <a:noAutofit/>
            </a:bodyPr>
            <a:lstStyle/>
            <a:p>
              <a:pPr algn="ctr"/>
            </a:p>
          </p:txBody>
        </p:sp>
        <p:sp>
          <p:nvSpPr>
            <p:cNvPr id="276" name="Google Shape;232;p29"/>
            <p:cNvSpPr txBox="1"/>
            <p:nvPr/>
          </p:nvSpPr>
          <p:spPr>
            <a:xfrm>
              <a:off x="0" y="0"/>
              <a:ext cx="387601" cy="3679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lvl1pPr>
                <a:defRPr b="1" sz="1300">
                  <a:solidFill>
                    <a:srgbClr val="FFFFFF"/>
                  </a:solidFill>
                </a:defRPr>
              </a:lvl1pPr>
            </a:lstStyle>
            <a:p>
              <a:pPr/>
              <a:r>
                <a:t>1</a:t>
              </a:r>
            </a:p>
          </p:txBody>
        </p:sp>
      </p:grpSp>
      <p:sp>
        <p:nvSpPr>
          <p:cNvPr id="278" name="Google Shape;233;p29"/>
          <p:cNvSpPr txBox="1"/>
          <p:nvPr/>
        </p:nvSpPr>
        <p:spPr>
          <a:xfrm>
            <a:off x="589912" y="2281335"/>
            <a:ext cx="3961801" cy="433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900"/>
            </a:pPr>
            <a:r>
              <a:t>Expand candidate lists</a:t>
            </a:r>
          </a:p>
          <a:p>
            <a:pPr>
              <a:defRPr sz="900"/>
            </a:pPr>
            <a:r>
              <a:t>One row per candidate per ranking event</a:t>
            </a:r>
          </a:p>
        </p:txBody>
      </p:sp>
      <p:sp>
        <p:nvSpPr>
          <p:cNvPr id="279" name="Google Shape;234;p29"/>
          <p:cNvSpPr/>
          <p:nvPr/>
        </p:nvSpPr>
        <p:spPr>
          <a:xfrm>
            <a:off x="3751000" y="2693890"/>
            <a:ext cx="1" cy="153901"/>
          </a:xfrm>
          <a:prstGeom prst="line">
            <a:avLst/>
          </a:prstGeom>
          <a:ln>
            <a:solidFill>
              <a:schemeClr val="accent5"/>
            </a:solidFill>
            <a:tailEnd type="stealth"/>
          </a:ln>
        </p:spPr>
        <p:txBody>
          <a:bodyPr lIns="0" tIns="0" rIns="0" bIns="0"/>
          <a:lstStyle/>
          <a:p>
            <a:pPr/>
          </a:p>
        </p:txBody>
      </p:sp>
      <p:grpSp>
        <p:nvGrpSpPr>
          <p:cNvPr id="282" name="Google Shape;235;p29"/>
          <p:cNvGrpSpPr/>
          <p:nvPr/>
        </p:nvGrpSpPr>
        <p:grpSpPr>
          <a:xfrm>
            <a:off x="278175" y="2853388"/>
            <a:ext cx="4433700" cy="343501"/>
            <a:chOff x="0" y="0"/>
            <a:chExt cx="4433699" cy="343500"/>
          </a:xfrm>
        </p:grpSpPr>
        <p:sp>
          <p:nvSpPr>
            <p:cNvPr id="280" name="Rounded Rectangle"/>
            <p:cNvSpPr/>
            <p:nvPr/>
          </p:nvSpPr>
          <p:spPr>
            <a:xfrm>
              <a:off x="0" y="0"/>
              <a:ext cx="4433700" cy="343501"/>
            </a:xfrm>
            <a:prstGeom prst="roundRect">
              <a:avLst>
                <a:gd name="adj" fmla="val 16667"/>
              </a:avLst>
            </a:prstGeom>
            <a:solidFill>
              <a:srgbClr val="D6FBFF"/>
            </a:solidFill>
            <a:ln w="9525" cap="flat">
              <a:solidFill>
                <a:schemeClr val="accent5"/>
              </a:solidFill>
              <a:prstDash val="solid"/>
              <a:round/>
            </a:ln>
            <a:effectLst/>
          </p:spPr>
          <p:txBody>
            <a:bodyPr wrap="square" lIns="0" tIns="0" rIns="0" bIns="0" numCol="1" anchor="ctr">
              <a:noAutofit/>
            </a:bodyPr>
            <a:lstStyle/>
            <a:p>
              <a:pPr>
                <a:defRPr sz="1000"/>
              </a:pPr>
            </a:p>
          </p:txBody>
        </p:sp>
        <p:sp>
          <p:nvSpPr>
            <p:cNvPr id="281" name="Text"/>
            <p:cNvSpPr txBox="1"/>
            <p:nvPr/>
          </p:nvSpPr>
          <p:spPr>
            <a:xfrm>
              <a:off x="21530" y="12552"/>
              <a:ext cx="4390640" cy="3183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defRPr sz="1000"/>
              </a:lvl1pPr>
            </a:lstStyle>
            <a:p>
              <a:pPr/>
              <a:r>
                <a:t>    </a:t>
              </a:r>
            </a:p>
          </p:txBody>
        </p:sp>
      </p:grpSp>
      <p:grpSp>
        <p:nvGrpSpPr>
          <p:cNvPr id="285" name="Google Shape;236;p29"/>
          <p:cNvGrpSpPr/>
          <p:nvPr/>
        </p:nvGrpSpPr>
        <p:grpSpPr>
          <a:xfrm>
            <a:off x="328753" y="2831582"/>
            <a:ext cx="387601" cy="367949"/>
            <a:chOff x="0" y="0"/>
            <a:chExt cx="387600" cy="367948"/>
          </a:xfrm>
        </p:grpSpPr>
        <p:sp>
          <p:nvSpPr>
            <p:cNvPr id="283" name="Google Shape;237;p29"/>
            <p:cNvSpPr/>
            <p:nvPr/>
          </p:nvSpPr>
          <p:spPr>
            <a:xfrm>
              <a:off x="8421" y="50571"/>
              <a:ext cx="286501" cy="286501"/>
            </a:xfrm>
            <a:prstGeom prst="ellipse">
              <a:avLst/>
            </a:prstGeom>
            <a:solidFill>
              <a:schemeClr val="accent5"/>
            </a:solidFill>
            <a:ln w="12700" cap="flat">
              <a:noFill/>
              <a:miter lim="400000"/>
            </a:ln>
            <a:effectLst/>
          </p:spPr>
          <p:txBody>
            <a:bodyPr wrap="square" lIns="0" tIns="0" rIns="0" bIns="0" numCol="1" anchor="ctr">
              <a:noAutofit/>
            </a:bodyPr>
            <a:lstStyle/>
            <a:p>
              <a:pPr algn="ctr"/>
            </a:p>
          </p:txBody>
        </p:sp>
        <p:sp>
          <p:nvSpPr>
            <p:cNvPr id="284" name="Google Shape;238;p29"/>
            <p:cNvSpPr txBox="1"/>
            <p:nvPr/>
          </p:nvSpPr>
          <p:spPr>
            <a:xfrm>
              <a:off x="0" y="0"/>
              <a:ext cx="387601" cy="3679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lvl1pPr>
                <a:defRPr b="1" sz="1300">
                  <a:solidFill>
                    <a:srgbClr val="FFFFFF"/>
                  </a:solidFill>
                </a:defRPr>
              </a:lvl1pPr>
            </a:lstStyle>
            <a:p>
              <a:pPr/>
              <a:r>
                <a:t>1</a:t>
              </a:r>
            </a:p>
          </p:txBody>
        </p:sp>
      </p:grpSp>
      <p:sp>
        <p:nvSpPr>
          <p:cNvPr id="286" name="Google Shape;239;p29"/>
          <p:cNvSpPr txBox="1"/>
          <p:nvPr/>
        </p:nvSpPr>
        <p:spPr>
          <a:xfrm>
            <a:off x="589912" y="2786158"/>
            <a:ext cx="3961801" cy="4331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900"/>
            </a:pPr>
            <a:r>
              <a:t>Join accommodation metadata</a:t>
            </a:r>
          </a:p>
          <a:p>
            <a:pPr>
              <a:defRPr sz="900"/>
            </a:pPr>
            <a:r>
              <a:t>&gt;99.9% candidate coverage</a:t>
            </a:r>
          </a:p>
        </p:txBody>
      </p:sp>
      <p:sp>
        <p:nvSpPr>
          <p:cNvPr id="287" name="Google Shape;240;p29"/>
          <p:cNvSpPr/>
          <p:nvPr/>
        </p:nvSpPr>
        <p:spPr>
          <a:xfrm>
            <a:off x="3751000" y="3198713"/>
            <a:ext cx="1" cy="153901"/>
          </a:xfrm>
          <a:prstGeom prst="line">
            <a:avLst/>
          </a:prstGeom>
          <a:ln>
            <a:solidFill>
              <a:schemeClr val="accent5"/>
            </a:solidFill>
            <a:tailEnd type="stealth"/>
          </a:ln>
        </p:spPr>
        <p:txBody>
          <a:bodyPr lIns="0" tIns="0" rIns="0" bIns="0"/>
          <a:lstStyle/>
          <a:p>
            <a:pPr/>
          </a:p>
        </p:txBody>
      </p:sp>
      <p:grpSp>
        <p:nvGrpSpPr>
          <p:cNvPr id="290" name="Google Shape;241;p29"/>
          <p:cNvGrpSpPr/>
          <p:nvPr/>
        </p:nvGrpSpPr>
        <p:grpSpPr>
          <a:xfrm>
            <a:off x="278175" y="3351857"/>
            <a:ext cx="4433700" cy="343501"/>
            <a:chOff x="0" y="0"/>
            <a:chExt cx="4433699" cy="343500"/>
          </a:xfrm>
        </p:grpSpPr>
        <p:sp>
          <p:nvSpPr>
            <p:cNvPr id="288" name="Rounded Rectangle"/>
            <p:cNvSpPr/>
            <p:nvPr/>
          </p:nvSpPr>
          <p:spPr>
            <a:xfrm>
              <a:off x="0" y="0"/>
              <a:ext cx="4433700" cy="343501"/>
            </a:xfrm>
            <a:prstGeom prst="roundRect">
              <a:avLst>
                <a:gd name="adj" fmla="val 16667"/>
              </a:avLst>
            </a:prstGeom>
            <a:solidFill>
              <a:srgbClr val="D6FBFF"/>
            </a:solidFill>
            <a:ln w="9525" cap="flat">
              <a:solidFill>
                <a:schemeClr val="accent5"/>
              </a:solidFill>
              <a:prstDash val="solid"/>
              <a:round/>
            </a:ln>
            <a:effectLst/>
          </p:spPr>
          <p:txBody>
            <a:bodyPr wrap="square" lIns="0" tIns="0" rIns="0" bIns="0" numCol="1" anchor="ctr">
              <a:noAutofit/>
            </a:bodyPr>
            <a:lstStyle/>
            <a:p>
              <a:pPr>
                <a:defRPr sz="1000"/>
              </a:pPr>
            </a:p>
          </p:txBody>
        </p:sp>
        <p:sp>
          <p:nvSpPr>
            <p:cNvPr id="289" name="Text"/>
            <p:cNvSpPr txBox="1"/>
            <p:nvPr/>
          </p:nvSpPr>
          <p:spPr>
            <a:xfrm>
              <a:off x="21530" y="12552"/>
              <a:ext cx="4390640" cy="3183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defRPr sz="1000"/>
              </a:lvl1pPr>
            </a:lstStyle>
            <a:p>
              <a:pPr/>
              <a:r>
                <a:t>    </a:t>
              </a:r>
            </a:p>
          </p:txBody>
        </p:sp>
      </p:grpSp>
      <p:grpSp>
        <p:nvGrpSpPr>
          <p:cNvPr id="293" name="Google Shape;242;p29"/>
          <p:cNvGrpSpPr/>
          <p:nvPr/>
        </p:nvGrpSpPr>
        <p:grpSpPr>
          <a:xfrm>
            <a:off x="328753" y="3330052"/>
            <a:ext cx="387601" cy="367950"/>
            <a:chOff x="0" y="0"/>
            <a:chExt cx="387600" cy="367948"/>
          </a:xfrm>
        </p:grpSpPr>
        <p:sp>
          <p:nvSpPr>
            <p:cNvPr id="291" name="Google Shape;243;p29"/>
            <p:cNvSpPr/>
            <p:nvPr/>
          </p:nvSpPr>
          <p:spPr>
            <a:xfrm>
              <a:off x="8421" y="50571"/>
              <a:ext cx="286501" cy="286501"/>
            </a:xfrm>
            <a:prstGeom prst="ellipse">
              <a:avLst/>
            </a:prstGeom>
            <a:solidFill>
              <a:schemeClr val="accent5"/>
            </a:solidFill>
            <a:ln w="12700" cap="flat">
              <a:noFill/>
              <a:miter lim="400000"/>
            </a:ln>
            <a:effectLst/>
          </p:spPr>
          <p:txBody>
            <a:bodyPr wrap="square" lIns="0" tIns="0" rIns="0" bIns="0" numCol="1" anchor="ctr">
              <a:noAutofit/>
            </a:bodyPr>
            <a:lstStyle/>
            <a:p>
              <a:pPr algn="ctr"/>
            </a:p>
          </p:txBody>
        </p:sp>
        <p:sp>
          <p:nvSpPr>
            <p:cNvPr id="292" name="Google Shape;244;p29"/>
            <p:cNvSpPr txBox="1"/>
            <p:nvPr/>
          </p:nvSpPr>
          <p:spPr>
            <a:xfrm>
              <a:off x="0" y="0"/>
              <a:ext cx="387601" cy="3679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lvl1pPr>
                <a:defRPr b="1" sz="1300">
                  <a:solidFill>
                    <a:srgbClr val="FFFFFF"/>
                  </a:solidFill>
                </a:defRPr>
              </a:lvl1pPr>
            </a:lstStyle>
            <a:p>
              <a:pPr/>
              <a:r>
                <a:t>1</a:t>
              </a:r>
            </a:p>
          </p:txBody>
        </p:sp>
      </p:grpSp>
      <p:sp>
        <p:nvSpPr>
          <p:cNvPr id="294" name="Google Shape;245;p29"/>
          <p:cNvSpPr txBox="1"/>
          <p:nvPr/>
        </p:nvSpPr>
        <p:spPr>
          <a:xfrm>
            <a:off x="589912" y="3284628"/>
            <a:ext cx="3961801" cy="4331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900"/>
            </a:pPr>
            <a:r>
              <a:t>Construct target</a:t>
            </a:r>
          </a:p>
          <a:p>
            <a:pPr>
              <a:defRPr sz="900"/>
            </a:pPr>
            <a:r>
              <a:t>Clicked = 1; other candidates = 0</a:t>
            </a:r>
          </a:p>
        </p:txBody>
      </p:sp>
      <p:sp>
        <p:nvSpPr>
          <p:cNvPr id="295" name="Google Shape;246;p29"/>
          <p:cNvSpPr/>
          <p:nvPr/>
        </p:nvSpPr>
        <p:spPr>
          <a:xfrm>
            <a:off x="3751000" y="3697183"/>
            <a:ext cx="1" cy="153901"/>
          </a:xfrm>
          <a:prstGeom prst="line">
            <a:avLst/>
          </a:prstGeom>
          <a:ln>
            <a:solidFill>
              <a:schemeClr val="accent5"/>
            </a:solidFill>
            <a:tailEnd type="stealth"/>
          </a:ln>
        </p:spPr>
        <p:txBody>
          <a:bodyPr lIns="0" tIns="0" rIns="0" bIns="0"/>
          <a:lstStyle/>
          <a:p>
            <a:pPr/>
          </a:p>
        </p:txBody>
      </p:sp>
      <p:grpSp>
        <p:nvGrpSpPr>
          <p:cNvPr id="298" name="Google Shape;247;p29"/>
          <p:cNvGrpSpPr/>
          <p:nvPr/>
        </p:nvGrpSpPr>
        <p:grpSpPr>
          <a:xfrm>
            <a:off x="278175" y="3850361"/>
            <a:ext cx="4433700" cy="343501"/>
            <a:chOff x="0" y="0"/>
            <a:chExt cx="4433699" cy="343500"/>
          </a:xfrm>
        </p:grpSpPr>
        <p:sp>
          <p:nvSpPr>
            <p:cNvPr id="296" name="Rounded Rectangle"/>
            <p:cNvSpPr/>
            <p:nvPr/>
          </p:nvSpPr>
          <p:spPr>
            <a:xfrm>
              <a:off x="0" y="0"/>
              <a:ext cx="4433700" cy="343501"/>
            </a:xfrm>
            <a:prstGeom prst="roundRect">
              <a:avLst>
                <a:gd name="adj" fmla="val 16667"/>
              </a:avLst>
            </a:prstGeom>
            <a:solidFill>
              <a:srgbClr val="D6FBFF"/>
            </a:solidFill>
            <a:ln w="9525" cap="flat">
              <a:solidFill>
                <a:schemeClr val="accent5"/>
              </a:solidFill>
              <a:prstDash val="solid"/>
              <a:round/>
            </a:ln>
            <a:effectLst/>
          </p:spPr>
          <p:txBody>
            <a:bodyPr wrap="square" lIns="0" tIns="0" rIns="0" bIns="0" numCol="1" anchor="ctr">
              <a:noAutofit/>
            </a:bodyPr>
            <a:lstStyle/>
            <a:p>
              <a:pPr>
                <a:defRPr sz="1000"/>
              </a:pPr>
            </a:p>
          </p:txBody>
        </p:sp>
        <p:sp>
          <p:nvSpPr>
            <p:cNvPr id="297" name="Text"/>
            <p:cNvSpPr txBox="1"/>
            <p:nvPr/>
          </p:nvSpPr>
          <p:spPr>
            <a:xfrm>
              <a:off x="21530" y="12552"/>
              <a:ext cx="4390640" cy="3183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lvl1pPr>
                <a:defRPr sz="1000"/>
              </a:lvl1pPr>
            </a:lstStyle>
            <a:p>
              <a:pPr/>
              <a:r>
                <a:t>    </a:t>
              </a:r>
            </a:p>
          </p:txBody>
        </p:sp>
      </p:grpSp>
      <p:grpSp>
        <p:nvGrpSpPr>
          <p:cNvPr id="301" name="Google Shape;248;p29"/>
          <p:cNvGrpSpPr/>
          <p:nvPr/>
        </p:nvGrpSpPr>
        <p:grpSpPr>
          <a:xfrm>
            <a:off x="328753" y="3828555"/>
            <a:ext cx="387601" cy="367950"/>
            <a:chOff x="0" y="0"/>
            <a:chExt cx="387600" cy="367948"/>
          </a:xfrm>
        </p:grpSpPr>
        <p:sp>
          <p:nvSpPr>
            <p:cNvPr id="299" name="Google Shape;249;p29"/>
            <p:cNvSpPr/>
            <p:nvPr/>
          </p:nvSpPr>
          <p:spPr>
            <a:xfrm>
              <a:off x="8421" y="50571"/>
              <a:ext cx="286501" cy="286501"/>
            </a:xfrm>
            <a:prstGeom prst="ellipse">
              <a:avLst/>
            </a:prstGeom>
            <a:solidFill>
              <a:schemeClr val="accent5"/>
            </a:solidFill>
            <a:ln w="12700" cap="flat">
              <a:noFill/>
              <a:miter lim="400000"/>
            </a:ln>
            <a:effectLst/>
          </p:spPr>
          <p:txBody>
            <a:bodyPr wrap="square" lIns="0" tIns="0" rIns="0" bIns="0" numCol="1" anchor="ctr">
              <a:noAutofit/>
            </a:bodyPr>
            <a:lstStyle/>
            <a:p>
              <a:pPr algn="ctr"/>
            </a:p>
          </p:txBody>
        </p:sp>
        <p:sp>
          <p:nvSpPr>
            <p:cNvPr id="300" name="Google Shape;250;p29"/>
            <p:cNvSpPr txBox="1"/>
            <p:nvPr/>
          </p:nvSpPr>
          <p:spPr>
            <a:xfrm>
              <a:off x="0" y="0"/>
              <a:ext cx="387601" cy="3679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t">
              <a:spAutoFit/>
            </a:bodyPr>
            <a:lstStyle>
              <a:lvl1pPr>
                <a:defRPr b="1" sz="1300">
                  <a:solidFill>
                    <a:srgbClr val="FFFFFF"/>
                  </a:solidFill>
                </a:defRPr>
              </a:lvl1pPr>
            </a:lstStyle>
            <a:p>
              <a:pPr/>
              <a:r>
                <a:t>1</a:t>
              </a:r>
            </a:p>
          </p:txBody>
        </p:sp>
      </p:grpSp>
      <p:sp>
        <p:nvSpPr>
          <p:cNvPr id="302" name="Google Shape;251;p29"/>
          <p:cNvSpPr txBox="1"/>
          <p:nvPr/>
        </p:nvSpPr>
        <p:spPr>
          <a:xfrm>
            <a:off x="589912" y="3783131"/>
            <a:ext cx="3961801" cy="433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900"/>
            </a:pPr>
            <a:r>
              <a:t>Engineer predictors</a:t>
            </a:r>
          </a:p>
          <a:p>
            <a:pPr>
              <a:defRPr sz="900"/>
            </a:pPr>
            <a:r>
              <a:t>Candidate, context and behavioural features</a:t>
            </a:r>
          </a:p>
        </p:txBody>
      </p:sp>
      <p:sp>
        <p:nvSpPr>
          <p:cNvPr id="303" name="Google Shape;252;p29"/>
          <p:cNvSpPr/>
          <p:nvPr/>
        </p:nvSpPr>
        <p:spPr>
          <a:xfrm>
            <a:off x="5219300" y="845575"/>
            <a:ext cx="3567001" cy="1435800"/>
          </a:xfrm>
          <a:prstGeom prst="roundRect">
            <a:avLst>
              <a:gd name="adj" fmla="val 16667"/>
            </a:avLst>
          </a:prstGeom>
          <a:solidFill>
            <a:srgbClr val="FFF9E7"/>
          </a:solidFill>
          <a:ln>
            <a:solidFill>
              <a:srgbClr val="F6B26B"/>
            </a:solidFill>
          </a:ln>
        </p:spPr>
        <p:txBody>
          <a:bodyPr lIns="0" tIns="0" rIns="0" bIns="0" anchor="ctr"/>
          <a:lstStyle/>
          <a:p>
            <a:pPr algn="ctr"/>
          </a:p>
        </p:txBody>
      </p:sp>
      <p:sp>
        <p:nvSpPr>
          <p:cNvPr id="304" name="Google Shape;253;p29"/>
          <p:cNvSpPr txBox="1"/>
          <p:nvPr/>
        </p:nvSpPr>
        <p:spPr>
          <a:xfrm>
            <a:off x="5335925" y="888397"/>
            <a:ext cx="3275401" cy="12196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100"/>
            </a:pPr>
            <a:r>
              <a:t>Data exclusions:</a:t>
            </a:r>
          </a:p>
          <a:p>
            <a:pPr marL="285750" indent="-184150">
              <a:spcBef>
                <a:spcPts val="1000"/>
              </a:spcBef>
              <a:buClr>
                <a:srgbClr val="000000"/>
              </a:buClr>
              <a:buSzPts val="1100"/>
              <a:buFont typeface="Arial"/>
              <a:buChar char="●"/>
              <a:defRPr sz="1100"/>
            </a:pPr>
            <a:r>
              <a:t>5 sessions excluded due to ambiguous clickout sequences</a:t>
            </a:r>
          </a:p>
          <a:p>
            <a:pPr marL="285750" indent="-184150">
              <a:buClr>
                <a:srgbClr val="000000"/>
              </a:buClr>
              <a:buSzPts val="1100"/>
              <a:buFont typeface="Arial"/>
              <a:buChar char="●"/>
              <a:defRPr sz="1100"/>
            </a:pPr>
            <a:r>
              <a:t>83 ranking events (0.053%) excluded because the clicked item was absent from the candidate set</a:t>
            </a:r>
          </a:p>
        </p:txBody>
      </p:sp>
      <p:sp>
        <p:nvSpPr>
          <p:cNvPr id="305" name="Google Shape;254;p29"/>
          <p:cNvSpPr/>
          <p:nvPr/>
        </p:nvSpPr>
        <p:spPr>
          <a:xfrm>
            <a:off x="5219300" y="2439574"/>
            <a:ext cx="3567001" cy="1691401"/>
          </a:xfrm>
          <a:prstGeom prst="roundRect">
            <a:avLst>
              <a:gd name="adj" fmla="val 16667"/>
            </a:avLst>
          </a:prstGeom>
          <a:solidFill>
            <a:srgbClr val="FFF9E7"/>
          </a:solidFill>
          <a:ln>
            <a:solidFill>
              <a:srgbClr val="F6B26B"/>
            </a:solidFill>
          </a:ln>
        </p:spPr>
        <p:txBody>
          <a:bodyPr lIns="0" tIns="0" rIns="0" bIns="0" anchor="ctr"/>
          <a:lstStyle/>
          <a:p>
            <a:pPr algn="ctr"/>
          </a:p>
        </p:txBody>
      </p:sp>
      <p:sp>
        <p:nvSpPr>
          <p:cNvPr id="306" name="Google Shape;255;p29"/>
          <p:cNvSpPr txBox="1"/>
          <p:nvPr/>
        </p:nvSpPr>
        <p:spPr>
          <a:xfrm>
            <a:off x="5473624" y="2506024"/>
            <a:ext cx="3000001" cy="139748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100"/>
            </a:pPr>
            <a:r>
              <a:t>Final dataset:</a:t>
            </a:r>
          </a:p>
          <a:p>
            <a:pPr/>
            <a:endParaRPr sz="1100"/>
          </a:p>
          <a:p>
            <a:pPr>
              <a:defRPr b="1" sz="1100"/>
            </a:pPr>
            <a:r>
              <a:t>Unit:</a:t>
            </a:r>
            <a:r>
              <a:rPr b="0"/>
              <a:t> candidate within a ranking event</a:t>
            </a:r>
          </a:p>
          <a:p>
            <a:pPr>
              <a:defRPr b="1" sz="1100"/>
            </a:pPr>
            <a:r>
              <a:t>Target:</a:t>
            </a:r>
            <a:r>
              <a:rPr b="0"/>
              <a:t> clicked / not clicked</a:t>
            </a:r>
          </a:p>
          <a:p>
            <a:pPr>
              <a:defRPr b="1" sz="1100"/>
            </a:pPr>
            <a:r>
              <a:t>Predictors: </a:t>
            </a:r>
            <a:r>
              <a:rPr b="0"/>
              <a:t>candidate + context + preceding behaviour</a:t>
            </a:r>
          </a:p>
          <a:p>
            <a:pPr>
              <a:defRPr b="1" sz="1100"/>
            </a:pPr>
            <a:r>
              <a:t>No leakage: </a:t>
            </a:r>
            <a:r>
              <a:rPr b="0"/>
              <a:t>only information available by the ranking event</a:t>
            </a:r>
          </a:p>
        </p:txBody>
      </p:sp>
      <p:sp>
        <p:nvSpPr>
          <p:cNvPr id="307" name="Google Shape;256;p29"/>
          <p:cNvSpPr txBox="1"/>
          <p:nvPr/>
        </p:nvSpPr>
        <p:spPr>
          <a:xfrm>
            <a:off x="278175" y="4332599"/>
            <a:ext cx="4433700" cy="53346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200"/>
            </a:lvl1pPr>
          </a:lstStyle>
          <a:p>
            <a:pPr/>
            <a:r>
              <a:t>Final candidate dataset: ~3.61M rows across 157,726 valid ranking events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solidFill>
      </p:bgPr>
    </p:bg>
    <p:spTree>
      <p:nvGrpSpPr>
        <p:cNvPr id="1" name=""/>
        <p:cNvGrpSpPr/>
        <p:nvPr/>
      </p:nvGrpSpPr>
      <p:grpSpPr>
        <a:xfrm>
          <a:off x="0" y="0"/>
          <a:ext cx="0" cy="0"/>
          <a:chOff x="0" y="0"/>
          <a:chExt cx="0" cy="0"/>
        </a:xfrm>
      </p:grpSpPr>
      <p:sp>
        <p:nvSpPr>
          <p:cNvPr id="309" name="Google Shape;261;p30"/>
          <p:cNvSpPr txBox="1"/>
          <p:nvPr>
            <p:ph type="title"/>
          </p:nvPr>
        </p:nvSpPr>
        <p:spPr>
          <a:xfrm>
            <a:off x="360424" y="2098350"/>
            <a:ext cx="8520602" cy="946800"/>
          </a:xfrm>
          <a:prstGeom prst="rect">
            <a:avLst/>
          </a:prstGeom>
        </p:spPr>
        <p:txBody>
          <a:bodyPr/>
          <a:lstStyle>
            <a:lvl1pPr>
              <a:defRPr sz="3200">
                <a:solidFill>
                  <a:srgbClr val="FFFFFF"/>
                </a:solidFill>
              </a:defRPr>
            </a:lvl1pPr>
          </a:lstStyle>
          <a:p>
            <a:pPr/>
            <a:r>
              <a:t>3. Experiment design and model selection</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Google Shape;266;p31"/>
          <p:cNvSpPr/>
          <p:nvPr/>
        </p:nvSpPr>
        <p:spPr>
          <a:xfrm>
            <a:off x="311699" y="1237650"/>
            <a:ext cx="4187101" cy="2984101"/>
          </a:xfrm>
          <a:prstGeom prst="rect">
            <a:avLst/>
          </a:prstGeom>
          <a:solidFill>
            <a:srgbClr val="F3F3F3"/>
          </a:solidFill>
          <a:ln w="12700">
            <a:miter lim="400000"/>
          </a:ln>
        </p:spPr>
        <p:txBody>
          <a:bodyPr lIns="0" tIns="0" rIns="0" bIns="0" anchor="ctr"/>
          <a:lstStyle/>
          <a:p>
            <a:pPr algn="ctr"/>
          </a:p>
        </p:txBody>
      </p:sp>
      <p:sp>
        <p:nvSpPr>
          <p:cNvPr id="312" name="Google Shape;267;p31"/>
          <p:cNvSpPr txBox="1"/>
          <p:nvPr>
            <p:ph type="title"/>
          </p:nvPr>
        </p:nvSpPr>
        <p:spPr>
          <a:xfrm>
            <a:off x="311699" y="112066"/>
            <a:ext cx="8520602" cy="402601"/>
          </a:xfrm>
          <a:prstGeom prst="rect">
            <a:avLst/>
          </a:prstGeom>
        </p:spPr>
        <p:txBody>
          <a:bodyPr/>
          <a:lstStyle>
            <a:lvl1pPr>
              <a:defRPr b="1" sz="1400"/>
            </a:lvl1pPr>
          </a:lstStyle>
          <a:p>
            <a:pPr/>
            <a:r>
              <a:t>3.1. Model selection: Classical ML versus Deep Learning</a:t>
            </a:r>
          </a:p>
        </p:txBody>
      </p:sp>
      <p:sp>
        <p:nvSpPr>
          <p:cNvPr id="313" name="Google Shape;268;p31"/>
          <p:cNvSpPr txBox="1"/>
          <p:nvPr/>
        </p:nvSpPr>
        <p:spPr>
          <a:xfrm>
            <a:off x="262049" y="515803"/>
            <a:ext cx="8619902" cy="55938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lnSpc>
                <a:spcPct val="115000"/>
              </a:lnSpc>
              <a:spcBef>
                <a:spcPts val="1200"/>
              </a:spcBef>
              <a:defRPr sz="1200"/>
            </a:lvl1pPr>
          </a:lstStyle>
          <a:p>
            <a:pPr/>
            <a:r>
              <a:t>Two classical and two deep-learning approaches were selected to compare ranking performance against increasing modelling complexity (See appendix A and B for detailed comparison).</a:t>
            </a:r>
          </a:p>
        </p:txBody>
      </p:sp>
      <p:sp>
        <p:nvSpPr>
          <p:cNvPr id="314" name="Google Shape;269;p31"/>
          <p:cNvSpPr/>
          <p:nvPr/>
        </p:nvSpPr>
        <p:spPr>
          <a:xfrm>
            <a:off x="401649" y="1670524"/>
            <a:ext cx="1905001" cy="1824902"/>
          </a:xfrm>
          <a:prstGeom prst="rect">
            <a:avLst/>
          </a:prstGeom>
          <a:solidFill>
            <a:schemeClr val="accent5"/>
          </a:solidFill>
          <a:ln w="12700">
            <a:miter lim="400000"/>
          </a:ln>
        </p:spPr>
        <p:txBody>
          <a:bodyPr lIns="0" tIns="0" rIns="0" bIns="0" anchor="ctr"/>
          <a:lstStyle/>
          <a:p>
            <a:pPr algn="ctr"/>
          </a:p>
        </p:txBody>
      </p:sp>
      <p:sp>
        <p:nvSpPr>
          <p:cNvPr id="315" name="Google Shape;270;p31"/>
          <p:cNvSpPr/>
          <p:nvPr/>
        </p:nvSpPr>
        <p:spPr>
          <a:xfrm>
            <a:off x="2447571" y="1670524"/>
            <a:ext cx="1905001" cy="1824902"/>
          </a:xfrm>
          <a:prstGeom prst="rect">
            <a:avLst/>
          </a:prstGeom>
          <a:solidFill>
            <a:schemeClr val="accent5"/>
          </a:solidFill>
          <a:ln w="12700">
            <a:miter lim="400000"/>
          </a:ln>
        </p:spPr>
        <p:txBody>
          <a:bodyPr lIns="0" tIns="0" rIns="0" bIns="0" anchor="ctr"/>
          <a:lstStyle/>
          <a:p>
            <a:pPr algn="ctr"/>
          </a:p>
        </p:txBody>
      </p:sp>
      <p:sp>
        <p:nvSpPr>
          <p:cNvPr id="316" name="Google Shape;271;p31"/>
          <p:cNvSpPr txBox="1"/>
          <p:nvPr/>
        </p:nvSpPr>
        <p:spPr>
          <a:xfrm>
            <a:off x="961525" y="1266800"/>
            <a:ext cx="3000001" cy="35566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lnSpc>
                <a:spcPct val="115000"/>
              </a:lnSpc>
              <a:spcBef>
                <a:spcPts val="1200"/>
              </a:spcBef>
              <a:defRPr b="1" sz="1200"/>
            </a:lvl1pPr>
          </a:lstStyle>
          <a:p>
            <a:pPr/>
            <a:r>
              <a:t>Classical ML</a:t>
            </a:r>
          </a:p>
        </p:txBody>
      </p:sp>
      <p:sp>
        <p:nvSpPr>
          <p:cNvPr id="317" name="Google Shape;272;p31"/>
          <p:cNvSpPr txBox="1"/>
          <p:nvPr/>
        </p:nvSpPr>
        <p:spPr>
          <a:xfrm>
            <a:off x="481999" y="1797128"/>
            <a:ext cx="1744200" cy="12704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b="1" sz="1200">
                <a:solidFill>
                  <a:srgbClr val="FFFFFF"/>
                </a:solidFill>
              </a:defRPr>
            </a:pPr>
            <a:r>
              <a:t>Logistic Regression (LR)</a:t>
            </a:r>
          </a:p>
          <a:p>
            <a:pPr algn="ctr">
              <a:spcBef>
                <a:spcPts val="1000"/>
              </a:spcBef>
              <a:defRPr sz="1100">
                <a:solidFill>
                  <a:srgbClr val="FFFFFF"/>
                </a:solidFill>
              </a:defRPr>
            </a:pPr>
            <a:r>
              <a:t>Simple, interpretable classical baseline for estimating click probability.</a:t>
            </a:r>
          </a:p>
        </p:txBody>
      </p:sp>
      <p:sp>
        <p:nvSpPr>
          <p:cNvPr id="318" name="Google Shape;273;p31"/>
          <p:cNvSpPr txBox="1"/>
          <p:nvPr/>
        </p:nvSpPr>
        <p:spPr>
          <a:xfrm>
            <a:off x="2536170" y="1797128"/>
            <a:ext cx="1744199" cy="13339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b="1" sz="1200">
                <a:solidFill>
                  <a:srgbClr val="FFFFFF"/>
                </a:solidFill>
              </a:defRPr>
            </a:pPr>
            <a:r>
              <a:t>LightGBM LambdaRank</a:t>
            </a:r>
          </a:p>
          <a:p>
            <a:pPr algn="ctr"/>
            <a:endParaRPr sz="1300">
              <a:solidFill>
                <a:srgbClr val="FFFFFF"/>
              </a:solidFill>
            </a:endParaRPr>
          </a:p>
          <a:p>
            <a:pPr algn="ctr">
              <a:defRPr sz="1100">
                <a:solidFill>
                  <a:srgbClr val="FFFFFF"/>
                </a:solidFill>
              </a:defRPr>
            </a:pPr>
            <a:r>
              <a:t>Tree-based learning-to-rank model designed to optimise ranking within candidate groups.</a:t>
            </a:r>
          </a:p>
        </p:txBody>
      </p:sp>
      <p:sp>
        <p:nvSpPr>
          <p:cNvPr id="319" name="Google Shape;274;p31"/>
          <p:cNvSpPr/>
          <p:nvPr/>
        </p:nvSpPr>
        <p:spPr>
          <a:xfrm>
            <a:off x="4744625" y="1237650"/>
            <a:ext cx="4187100" cy="2984101"/>
          </a:xfrm>
          <a:prstGeom prst="rect">
            <a:avLst/>
          </a:prstGeom>
          <a:solidFill>
            <a:srgbClr val="F3F3F3"/>
          </a:solidFill>
          <a:ln w="12700">
            <a:miter lim="400000"/>
          </a:ln>
        </p:spPr>
        <p:txBody>
          <a:bodyPr lIns="0" tIns="0" rIns="0" bIns="0" anchor="ctr"/>
          <a:lstStyle/>
          <a:p>
            <a:pPr algn="ctr"/>
          </a:p>
        </p:txBody>
      </p:sp>
      <p:sp>
        <p:nvSpPr>
          <p:cNvPr id="320" name="Google Shape;275;p31"/>
          <p:cNvSpPr/>
          <p:nvPr/>
        </p:nvSpPr>
        <p:spPr>
          <a:xfrm>
            <a:off x="4834576" y="1670524"/>
            <a:ext cx="1905001" cy="1824902"/>
          </a:xfrm>
          <a:prstGeom prst="rect">
            <a:avLst/>
          </a:prstGeom>
          <a:solidFill>
            <a:schemeClr val="accent5"/>
          </a:solidFill>
          <a:ln w="12700">
            <a:miter lim="400000"/>
          </a:ln>
        </p:spPr>
        <p:txBody>
          <a:bodyPr lIns="0" tIns="0" rIns="0" bIns="0" anchor="ctr"/>
          <a:lstStyle/>
          <a:p>
            <a:pPr algn="ctr"/>
          </a:p>
        </p:txBody>
      </p:sp>
      <p:sp>
        <p:nvSpPr>
          <p:cNvPr id="321" name="Google Shape;276;p31"/>
          <p:cNvSpPr/>
          <p:nvPr/>
        </p:nvSpPr>
        <p:spPr>
          <a:xfrm>
            <a:off x="6880498" y="1670524"/>
            <a:ext cx="1905001" cy="1824902"/>
          </a:xfrm>
          <a:prstGeom prst="rect">
            <a:avLst/>
          </a:prstGeom>
          <a:solidFill>
            <a:schemeClr val="accent5"/>
          </a:solidFill>
          <a:ln w="12700">
            <a:miter lim="400000"/>
          </a:ln>
        </p:spPr>
        <p:txBody>
          <a:bodyPr lIns="0" tIns="0" rIns="0" bIns="0" anchor="ctr"/>
          <a:lstStyle/>
          <a:p>
            <a:pPr algn="ctr"/>
          </a:p>
        </p:txBody>
      </p:sp>
      <p:sp>
        <p:nvSpPr>
          <p:cNvPr id="322" name="Google Shape;277;p31"/>
          <p:cNvSpPr txBox="1"/>
          <p:nvPr/>
        </p:nvSpPr>
        <p:spPr>
          <a:xfrm>
            <a:off x="5394450" y="1266800"/>
            <a:ext cx="3000001" cy="35566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lnSpc>
                <a:spcPct val="115000"/>
              </a:lnSpc>
              <a:spcBef>
                <a:spcPts val="1200"/>
              </a:spcBef>
              <a:defRPr b="1" sz="1200"/>
            </a:lvl1pPr>
          </a:lstStyle>
          <a:p>
            <a:pPr/>
            <a:r>
              <a:t>Deep Learning</a:t>
            </a:r>
          </a:p>
        </p:txBody>
      </p:sp>
      <p:sp>
        <p:nvSpPr>
          <p:cNvPr id="323" name="Google Shape;278;p31"/>
          <p:cNvSpPr txBox="1"/>
          <p:nvPr/>
        </p:nvSpPr>
        <p:spPr>
          <a:xfrm>
            <a:off x="4914925" y="1797128"/>
            <a:ext cx="1744200" cy="15752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b="1" sz="1200">
                <a:solidFill>
                  <a:srgbClr val="FFFFFF"/>
                </a:solidFill>
              </a:defRPr>
            </a:pPr>
            <a:r>
              <a:t>Multilayer Perceptron (MLP)</a:t>
            </a:r>
          </a:p>
          <a:p>
            <a:pPr algn="ctr">
              <a:spcBef>
                <a:spcPts val="1000"/>
              </a:spcBef>
              <a:defRPr sz="1100">
                <a:solidFill>
                  <a:srgbClr val="FFFFFF"/>
                </a:solidFill>
              </a:defRPr>
            </a:pPr>
            <a:r>
              <a:t>Deep-learning model capable of learning nonlinear interactions between behavioural, contextual and candidate features.</a:t>
            </a:r>
          </a:p>
        </p:txBody>
      </p:sp>
      <p:sp>
        <p:nvSpPr>
          <p:cNvPr id="324" name="Google Shape;279;p31"/>
          <p:cNvSpPr txBox="1"/>
          <p:nvPr/>
        </p:nvSpPr>
        <p:spPr>
          <a:xfrm>
            <a:off x="6969094" y="1797128"/>
            <a:ext cx="1744200" cy="11561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b="1" sz="1200">
                <a:solidFill>
                  <a:srgbClr val="FFFFFF"/>
                </a:solidFill>
              </a:defRPr>
            </a:pPr>
            <a:r>
              <a:t>Wide &amp; Deep</a:t>
            </a:r>
          </a:p>
          <a:p>
            <a:pPr algn="ctr"/>
            <a:endParaRPr sz="1300">
              <a:solidFill>
                <a:srgbClr val="FFFFFF"/>
              </a:solidFill>
            </a:endParaRPr>
          </a:p>
          <a:p>
            <a:pPr algn="ctr">
              <a:defRPr sz="1100">
                <a:solidFill>
                  <a:srgbClr val="FFFFFF"/>
                </a:solidFill>
              </a:defRPr>
            </a:pPr>
            <a:r>
              <a:t>Combines direct effects of selected features with nonlinear representation learning.</a:t>
            </a:r>
          </a:p>
        </p:txBody>
      </p:sp>
      <p:sp>
        <p:nvSpPr>
          <p:cNvPr id="325" name="Google Shape;280;p31"/>
          <p:cNvSpPr txBox="1"/>
          <p:nvPr/>
        </p:nvSpPr>
        <p:spPr>
          <a:xfrm>
            <a:off x="311699" y="3529079"/>
            <a:ext cx="4187101" cy="638459"/>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lnSpc>
                <a:spcPct val="115000"/>
              </a:lnSpc>
              <a:defRPr i="1" sz="1000"/>
            </a:lvl1pPr>
          </a:lstStyle>
          <a:p>
            <a:pPr/>
            <a:r>
              <a:t>Sources: Covington, Adams and Sargin, 2016; Sugiura, Yamagishi and Kishimoto, 2024; Géron, 2025; Devanathan et al., 2025; Zaidi, Rincon and Hassantabar, 2026</a:t>
            </a:r>
          </a:p>
        </p:txBody>
      </p:sp>
      <p:sp>
        <p:nvSpPr>
          <p:cNvPr id="326" name="Google Shape;281;p31"/>
          <p:cNvSpPr txBox="1"/>
          <p:nvPr/>
        </p:nvSpPr>
        <p:spPr>
          <a:xfrm>
            <a:off x="4796075" y="3574982"/>
            <a:ext cx="4084201" cy="478428"/>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lnSpc>
                <a:spcPct val="115000"/>
              </a:lnSpc>
              <a:defRPr i="1" sz="1000"/>
            </a:lvl1pPr>
          </a:lstStyle>
          <a:p>
            <a:pPr/>
            <a:r>
              <a:t>Sources: Covington, Adams and Sargin, 2016; Ramírez et al., 2024; Zaidi, Géron, 2025; Rincon and Hassantabar, 2026</a:t>
            </a:r>
          </a:p>
        </p:txBody>
      </p:sp>
      <p:sp>
        <p:nvSpPr>
          <p:cNvPr id="327" name="Google Shape;282;p31"/>
          <p:cNvSpPr txBox="1"/>
          <p:nvPr/>
        </p:nvSpPr>
        <p:spPr>
          <a:xfrm>
            <a:off x="311699" y="4352925"/>
            <a:ext cx="8619902" cy="53346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sz="1200"/>
            </a:lvl1pPr>
          </a:lstStyle>
          <a:p>
            <a:pPr/>
            <a:r>
              <a:t>For fair comparison, all models used the same observations, binary click target and 15 underlying predictors. Preprocessing and feature representation were adapted where required by each model architecture (Yu et al., 2024).</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cxnSp>
        <p:nvCxnSpPr>
          <p:cNvPr id="329" name="Google Shape;287;p32"/>
          <p:cNvCxnSpPr>
            <a:stCxn id="332" idx="0"/>
            <a:endCxn id="333" idx="0"/>
          </p:cNvCxnSpPr>
          <p:nvPr/>
        </p:nvCxnSpPr>
        <p:spPr>
          <a:xfrm>
            <a:off x="6785074" y="958920"/>
            <a:ext cx="1458751" cy="1667231"/>
          </a:xfrm>
          <a:prstGeom prst="straightConnector1">
            <a:avLst/>
          </a:prstGeom>
          <a:ln>
            <a:solidFill>
              <a:srgbClr val="4A95A5"/>
            </a:solidFill>
            <a:tailEnd type="triangle"/>
          </a:ln>
        </p:spPr>
      </p:cxnSp>
      <p:sp>
        <p:nvSpPr>
          <p:cNvPr id="330" name="Google Shape;290;p32"/>
          <p:cNvSpPr txBox="1"/>
          <p:nvPr>
            <p:ph type="title"/>
          </p:nvPr>
        </p:nvSpPr>
        <p:spPr>
          <a:xfrm>
            <a:off x="311699" y="219000"/>
            <a:ext cx="8520602" cy="402601"/>
          </a:xfrm>
          <a:prstGeom prst="rect">
            <a:avLst/>
          </a:prstGeom>
        </p:spPr>
        <p:txBody>
          <a:bodyPr/>
          <a:lstStyle>
            <a:lvl1pPr>
              <a:defRPr b="1" sz="1400"/>
            </a:lvl1pPr>
          </a:lstStyle>
          <a:p>
            <a:pPr/>
            <a:r>
              <a:t>3.2. Experimental design</a:t>
            </a:r>
          </a:p>
        </p:txBody>
      </p:sp>
      <p:sp>
        <p:nvSpPr>
          <p:cNvPr id="331" name="Google Shape;291;p32"/>
          <p:cNvSpPr txBox="1"/>
          <p:nvPr/>
        </p:nvSpPr>
        <p:spPr>
          <a:xfrm>
            <a:off x="311700" y="780874"/>
            <a:ext cx="4548000" cy="3558898"/>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marR="381000">
              <a:lnSpc>
                <a:spcPct val="115000"/>
              </a:lnSpc>
              <a:spcBef>
                <a:spcPts val="1200"/>
              </a:spcBef>
              <a:defRPr sz="1100"/>
            </a:pPr>
            <a:r>
              <a:t>Complete sessions were split 70% / 15% / 15% into training, validation and test sets, preventing the same session from appearing across multiple splits. The test set remained untouched until final model evaluation.</a:t>
            </a:r>
          </a:p>
          <a:p>
            <a:pPr marR="381000">
              <a:lnSpc>
                <a:spcPct val="115000"/>
              </a:lnSpc>
              <a:spcBef>
                <a:spcPts val="1200"/>
              </a:spcBef>
              <a:defRPr b="1" sz="1100"/>
            </a:pPr>
            <a:r>
              <a:t>Same train/validation observations and predictor set</a:t>
            </a:r>
            <a:r>
              <a:rPr b="0"/>
              <a:t> were used across models to enable a fair comparison.</a:t>
            </a:r>
          </a:p>
          <a:p>
            <a:pPr marR="381000">
              <a:lnSpc>
                <a:spcPct val="115000"/>
              </a:lnSpc>
              <a:spcBef>
                <a:spcPts val="1200"/>
              </a:spcBef>
              <a:defRPr b="1" sz="1100"/>
            </a:pPr>
            <a:r>
              <a:t>Evaluation:</a:t>
            </a:r>
            <a:r>
              <a:rPr b="0"/>
              <a:t> Established ranking metrics captured complementary aspects of how highly each model ranked the observed clicked candidate:</a:t>
            </a:r>
          </a:p>
          <a:p>
            <a:pPr marL="457200" marR="381000" indent="-298450">
              <a:lnSpc>
                <a:spcPct val="115000"/>
              </a:lnSpc>
              <a:spcBef>
                <a:spcPts val="1200"/>
              </a:spcBef>
              <a:buClr>
                <a:srgbClr val="000000"/>
              </a:buClr>
              <a:buSzPts val="1100"/>
              <a:buFont typeface="Arial"/>
              <a:buChar char="●"/>
              <a:defRPr b="1" sz="1100"/>
            </a:pPr>
            <a:r>
              <a:t>HR@1 — </a:t>
            </a:r>
            <a:r>
              <a:rPr b="0"/>
              <a:t>whether the clicked accommodation is ranked first.</a:t>
            </a:r>
          </a:p>
          <a:p>
            <a:pPr marL="457200" marR="381000" indent="-298450">
              <a:lnSpc>
                <a:spcPct val="115000"/>
              </a:lnSpc>
              <a:buClr>
                <a:srgbClr val="000000"/>
              </a:buClr>
              <a:buSzPts val="1100"/>
              <a:buFont typeface="Arial"/>
              <a:buChar char="●"/>
              <a:defRPr b="1" sz="1100"/>
            </a:pPr>
            <a:r>
              <a:t>MRR — </a:t>
            </a:r>
            <a:r>
              <a:rPr b="0"/>
              <a:t>rewards placing the clicked accommodation higher across the entire ranking.</a:t>
            </a:r>
          </a:p>
          <a:p>
            <a:pPr marL="457200" marR="381000" indent="-298450">
              <a:lnSpc>
                <a:spcPct val="115000"/>
              </a:lnSpc>
              <a:buClr>
                <a:srgbClr val="000000"/>
              </a:buClr>
              <a:buSzPts val="1100"/>
              <a:buFont typeface="Arial"/>
              <a:buChar char="●"/>
              <a:defRPr b="1" sz="1100"/>
            </a:pPr>
            <a:r>
              <a:t>NDCG@5 — </a:t>
            </a:r>
            <a:r>
              <a:rPr b="0"/>
              <a:t>ranking quality near the top five.</a:t>
            </a:r>
          </a:p>
          <a:p>
            <a:pPr marL="457200" marR="381000" indent="-298450">
              <a:lnSpc>
                <a:spcPct val="115000"/>
              </a:lnSpc>
              <a:buClr>
                <a:srgbClr val="000000"/>
              </a:buClr>
              <a:buSzPts val="1100"/>
              <a:buFont typeface="Arial"/>
              <a:buChar char="●"/>
              <a:defRPr b="1" sz="1100"/>
            </a:pPr>
            <a:r>
              <a:t>NDCG@10 — </a:t>
            </a:r>
            <a:r>
              <a:rPr b="0"/>
              <a:t>ranking quality within the top ten.</a:t>
            </a:r>
          </a:p>
          <a:p>
            <a:pPr marR="381000">
              <a:lnSpc>
                <a:spcPct val="115000"/>
              </a:lnSpc>
              <a:spcBef>
                <a:spcPts val="1200"/>
              </a:spcBef>
              <a:defRPr sz="1100"/>
            </a:pPr>
            <a:r>
              <a:t>(Adamczak et al., 2020; Theobald, 2024; Zhu and Klabjan,2020)</a:t>
            </a:r>
          </a:p>
        </p:txBody>
      </p:sp>
      <p:sp>
        <p:nvSpPr>
          <p:cNvPr id="332" name="Google Shape;288;p32"/>
          <p:cNvSpPr txBox="1"/>
          <p:nvPr/>
        </p:nvSpPr>
        <p:spPr>
          <a:xfrm>
            <a:off x="6334474" y="793581"/>
            <a:ext cx="901202" cy="330680"/>
          </a:xfrm>
          <a:prstGeom prst="rect">
            <a:avLst/>
          </a:prstGeom>
          <a:solidFill>
            <a:schemeClr val="accent5"/>
          </a:solidFill>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lnSpc>
                <a:spcPct val="115000"/>
              </a:lnSpc>
              <a:spcBef>
                <a:spcPts val="1200"/>
              </a:spcBef>
              <a:defRPr b="1" sz="1100">
                <a:solidFill>
                  <a:srgbClr val="FFFFFF"/>
                </a:solidFill>
              </a:defRPr>
            </a:lvl1pPr>
          </a:lstStyle>
          <a:p>
            <a:pPr/>
            <a:r>
              <a:t>Train data</a:t>
            </a:r>
          </a:p>
        </p:txBody>
      </p:sp>
      <p:sp>
        <p:nvSpPr>
          <p:cNvPr id="333" name="Google Shape;289;p32"/>
          <p:cNvSpPr/>
          <p:nvPr/>
        </p:nvSpPr>
        <p:spPr>
          <a:xfrm>
            <a:off x="7756174" y="2059750"/>
            <a:ext cx="975300" cy="1132801"/>
          </a:xfrm>
          <a:prstGeom prst="rect">
            <a:avLst/>
          </a:prstGeom>
          <a:solidFill>
            <a:schemeClr val="accent5"/>
          </a:solidFill>
          <a:ln w="12700">
            <a:miter lim="400000"/>
          </a:ln>
        </p:spPr>
        <p:txBody>
          <a:bodyPr lIns="0" tIns="0" rIns="0" bIns="0" anchor="ctr"/>
          <a:lstStyle/>
          <a:p>
            <a:pPr algn="ctr"/>
          </a:p>
        </p:txBody>
      </p:sp>
      <p:sp>
        <p:nvSpPr>
          <p:cNvPr id="334" name="Google Shape;292;p32"/>
          <p:cNvSpPr txBox="1"/>
          <p:nvPr/>
        </p:nvSpPr>
        <p:spPr>
          <a:xfrm>
            <a:off x="7756174" y="2169904"/>
            <a:ext cx="975300" cy="87719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b="1" sz="1000">
                <a:solidFill>
                  <a:srgbClr val="FFFFFF"/>
                </a:solidFill>
              </a:defRPr>
            </a:pPr>
            <a:r>
              <a:t>15% for test: </a:t>
            </a:r>
            <a:r>
              <a:rPr b="0"/>
              <a:t>Final evaluation of the selected models</a:t>
            </a:r>
          </a:p>
        </p:txBody>
      </p:sp>
      <p:sp>
        <p:nvSpPr>
          <p:cNvPr id="335" name="Google Shape;293;p32"/>
          <p:cNvSpPr/>
          <p:nvPr/>
        </p:nvSpPr>
        <p:spPr>
          <a:xfrm>
            <a:off x="4937062" y="2067625"/>
            <a:ext cx="1068901" cy="662401"/>
          </a:xfrm>
          <a:prstGeom prst="rect">
            <a:avLst/>
          </a:prstGeom>
          <a:solidFill>
            <a:schemeClr val="accent5"/>
          </a:solidFill>
          <a:ln w="12700">
            <a:miter lim="400000"/>
          </a:ln>
        </p:spPr>
        <p:txBody>
          <a:bodyPr lIns="0" tIns="0" rIns="0" bIns="0" anchor="ctr"/>
          <a:lstStyle/>
          <a:p>
            <a:pPr algn="ctr"/>
          </a:p>
        </p:txBody>
      </p:sp>
      <p:sp>
        <p:nvSpPr>
          <p:cNvPr id="336" name="Google Shape;294;p32"/>
          <p:cNvSpPr txBox="1"/>
          <p:nvPr/>
        </p:nvSpPr>
        <p:spPr>
          <a:xfrm>
            <a:off x="4954875" y="2084758"/>
            <a:ext cx="975300" cy="59779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b="1" sz="1000">
                <a:solidFill>
                  <a:srgbClr val="FFFFFF"/>
                </a:solidFill>
              </a:defRPr>
            </a:pPr>
            <a:r>
              <a:t>70% for train: </a:t>
            </a:r>
            <a:r>
              <a:rPr b="0"/>
              <a:t>model fitting</a:t>
            </a:r>
          </a:p>
        </p:txBody>
      </p:sp>
      <p:sp>
        <p:nvSpPr>
          <p:cNvPr id="337" name="Google Shape;295;p32"/>
          <p:cNvSpPr/>
          <p:nvPr/>
        </p:nvSpPr>
        <p:spPr>
          <a:xfrm>
            <a:off x="6146524" y="2049584"/>
            <a:ext cx="1277101" cy="1416001"/>
          </a:xfrm>
          <a:prstGeom prst="rect">
            <a:avLst/>
          </a:prstGeom>
          <a:solidFill>
            <a:schemeClr val="accent5"/>
          </a:solidFill>
          <a:ln w="12700">
            <a:miter lim="400000"/>
          </a:ln>
        </p:spPr>
        <p:txBody>
          <a:bodyPr lIns="0" tIns="0" rIns="0" bIns="0" anchor="ctr"/>
          <a:lstStyle/>
          <a:p>
            <a:pPr algn="ctr"/>
          </a:p>
        </p:txBody>
      </p:sp>
      <p:sp>
        <p:nvSpPr>
          <p:cNvPr id="338" name="Google Shape;296;p32"/>
          <p:cNvSpPr txBox="1"/>
          <p:nvPr/>
        </p:nvSpPr>
        <p:spPr>
          <a:xfrm>
            <a:off x="6238325" y="2066708"/>
            <a:ext cx="1103101" cy="129629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defRPr b="1" sz="1000">
                <a:solidFill>
                  <a:srgbClr val="FFFFFF"/>
                </a:solidFill>
              </a:defRPr>
            </a:pPr>
            <a:r>
              <a:t>15% for validation: </a:t>
            </a:r>
            <a:r>
              <a:rPr b="0"/>
              <a:t>hyperparameter tuning and model comparison during development</a:t>
            </a:r>
          </a:p>
        </p:txBody>
      </p:sp>
      <p:cxnSp>
        <p:nvCxnSpPr>
          <p:cNvPr id="339" name="Google Shape;297;p32"/>
          <p:cNvCxnSpPr>
            <a:stCxn id="332" idx="0"/>
            <a:endCxn id="335" idx="0"/>
          </p:cNvCxnSpPr>
          <p:nvPr/>
        </p:nvCxnSpPr>
        <p:spPr>
          <a:xfrm flipH="1">
            <a:off x="5471512" y="958920"/>
            <a:ext cx="1313563" cy="1439906"/>
          </a:xfrm>
          <a:prstGeom prst="straightConnector1">
            <a:avLst/>
          </a:prstGeom>
          <a:ln>
            <a:solidFill>
              <a:srgbClr val="4A95A5"/>
            </a:solidFill>
            <a:tailEnd type="triangle"/>
          </a:ln>
        </p:spPr>
      </p:cxnSp>
      <p:cxnSp>
        <p:nvCxnSpPr>
          <p:cNvPr id="340" name="Google Shape;298;p32"/>
          <p:cNvCxnSpPr>
            <a:stCxn id="332" idx="0"/>
            <a:endCxn id="338" idx="0"/>
          </p:cNvCxnSpPr>
          <p:nvPr/>
        </p:nvCxnSpPr>
        <p:spPr>
          <a:xfrm>
            <a:off x="6785074" y="958920"/>
            <a:ext cx="4802" cy="1755937"/>
          </a:xfrm>
          <a:prstGeom prst="straightConnector1">
            <a:avLst/>
          </a:prstGeom>
          <a:ln>
            <a:solidFill>
              <a:srgbClr val="4A95A5"/>
            </a:solidFill>
            <a:tailEnd type="triangle"/>
          </a:ln>
        </p:spPr>
      </p:cxnSp>
      <p:sp>
        <p:nvSpPr>
          <p:cNvPr id="341" name="Google Shape;299;p32"/>
          <p:cNvSpPr txBox="1"/>
          <p:nvPr/>
        </p:nvSpPr>
        <p:spPr>
          <a:xfrm>
            <a:off x="5289875" y="1383750"/>
            <a:ext cx="3000001" cy="318396"/>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i="1" sz="1000"/>
            </a:lvl1pPr>
          </a:lstStyle>
          <a:p>
            <a:pPr/>
            <a:r>
              <a:t>10% Sampled and split by complete sessions</a:t>
            </a:r>
          </a:p>
        </p:txBody>
      </p:sp>
      <p:sp>
        <p:nvSpPr>
          <p:cNvPr id="342" name="Google Shape;300;p32"/>
          <p:cNvSpPr/>
          <p:nvPr/>
        </p:nvSpPr>
        <p:spPr>
          <a:xfrm flipH="1">
            <a:off x="4785324" y="1094299"/>
            <a:ext cx="1" cy="3063702"/>
          </a:xfrm>
          <a:prstGeom prst="line">
            <a:avLst/>
          </a:prstGeom>
          <a:ln>
            <a:solidFill>
              <a:srgbClr val="B7B7B7"/>
            </a:solidFill>
            <a:headEnd type="oval"/>
            <a:tailEnd type="oval"/>
          </a:ln>
        </p:spPr>
        <p:txBody>
          <a:bodyPr lIns="0" tIns="0" rIns="0" bIns="0"/>
          <a:lstStyle/>
          <a:p>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solidFill>
      </p:bgPr>
    </p:bg>
    <p:spTree>
      <p:nvGrpSpPr>
        <p:cNvPr id="1" name=""/>
        <p:cNvGrpSpPr/>
        <p:nvPr/>
      </p:nvGrpSpPr>
      <p:grpSpPr>
        <a:xfrm>
          <a:off x="0" y="0"/>
          <a:ext cx="0" cy="0"/>
          <a:chOff x="0" y="0"/>
          <a:chExt cx="0" cy="0"/>
        </a:xfrm>
      </p:grpSpPr>
      <p:sp>
        <p:nvSpPr>
          <p:cNvPr id="344" name="Google Shape;305;p33"/>
          <p:cNvSpPr txBox="1"/>
          <p:nvPr>
            <p:ph type="title"/>
          </p:nvPr>
        </p:nvSpPr>
        <p:spPr>
          <a:xfrm>
            <a:off x="360424" y="2098350"/>
            <a:ext cx="8520602" cy="946800"/>
          </a:xfrm>
          <a:prstGeom prst="rect">
            <a:avLst/>
          </a:prstGeom>
        </p:spPr>
        <p:txBody>
          <a:bodyPr/>
          <a:lstStyle>
            <a:lvl1pPr>
              <a:defRPr>
                <a:solidFill>
                  <a:srgbClr val="FFFFFF"/>
                </a:solidFill>
              </a:defRPr>
            </a:lvl1pPr>
          </a:lstStyle>
          <a:p>
            <a:pPr/>
            <a:r>
              <a:t>4. Modelling, tuning &amp; evaluation</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Google Shape;310;p34"/>
          <p:cNvSpPr txBox="1"/>
          <p:nvPr>
            <p:ph type="title"/>
          </p:nvPr>
        </p:nvSpPr>
        <p:spPr>
          <a:xfrm>
            <a:off x="311699" y="445025"/>
            <a:ext cx="8520602" cy="572701"/>
          </a:xfrm>
          <a:prstGeom prst="rect">
            <a:avLst/>
          </a:prstGeom>
        </p:spPr>
        <p:txBody>
          <a:bodyPr/>
          <a:lstStyle>
            <a:lvl1pPr>
              <a:defRPr b="1" sz="1600"/>
            </a:lvl1pPr>
          </a:lstStyle>
          <a:p>
            <a:pPr/>
            <a:r>
              <a:t>Base model results before tuning</a:t>
            </a:r>
          </a:p>
        </p:txBody>
      </p:sp>
      <p:sp>
        <p:nvSpPr>
          <p:cNvPr id="347" name="Google Shape;311;p34"/>
          <p:cNvSpPr txBox="1"/>
          <p:nvPr>
            <p:ph type="body" sz="quarter" idx="1"/>
          </p:nvPr>
        </p:nvSpPr>
        <p:spPr>
          <a:xfrm>
            <a:off x="311699" y="922949"/>
            <a:ext cx="8520602" cy="718201"/>
          </a:xfrm>
          <a:prstGeom prst="rect">
            <a:avLst/>
          </a:prstGeom>
        </p:spPr>
        <p:txBody>
          <a:bodyPr/>
          <a:lstStyle>
            <a:lvl1pPr marL="0" indent="0" defTabSz="896111">
              <a:spcBef>
                <a:spcPts val="1100"/>
              </a:spcBef>
              <a:buSzTx/>
              <a:buNone/>
              <a:defRPr sz="1176"/>
            </a:lvl1pPr>
          </a:lstStyle>
          <a:p>
            <a:pPr/>
            <a:r>
              <a:t>Among the initial learned models, MLP achieved the strongest overall ranking performance, while Logistic Regression provided the strongest classical baseline for further tuning. These two models were selected for targeted hyperparameter tuning.</a:t>
            </a:r>
          </a:p>
        </p:txBody>
      </p:sp>
      <p:graphicFrame>
        <p:nvGraphicFramePr>
          <p:cNvPr id="348" name="Google Shape;312;p34"/>
          <p:cNvGraphicFramePr/>
          <p:nvPr/>
        </p:nvGraphicFramePr>
        <p:xfrm>
          <a:off x="383549" y="1808550"/>
          <a:ext cx="7987877" cy="173037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952975"/>
                <a:gridCol w="992699"/>
                <a:gridCol w="812450"/>
                <a:gridCol w="1163750"/>
                <a:gridCol w="1066000"/>
              </a:tblGrid>
              <a:tr h="396875">
                <a:tc>
                  <a:txBody>
                    <a:bodyPr/>
                    <a:lstStyle/>
                    <a:p>
                      <a:pPr algn="l">
                        <a:lnSpc>
                          <a:spcPct val="115000"/>
                        </a:lnSpc>
                        <a:defRPr sz="1800"/>
                      </a:pPr>
                      <a:r>
                        <a:rPr b="1" sz="1200">
                          <a:solidFill>
                            <a:srgbClr val="FFFFFF"/>
                          </a:solidFill>
                        </a:rPr>
                        <a:t>Ranking</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200">
                          <a:solidFill>
                            <a:srgbClr val="FFFFFF"/>
                          </a:solidFill>
                        </a:rPr>
                        <a:t>HR@1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200">
                          <a:solidFill>
                            <a:srgbClr val="FFFFFF"/>
                          </a:solidFill>
                        </a:rPr>
                        <a:t>MRR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200">
                          <a:solidFill>
                            <a:srgbClr val="FFFFFF"/>
                          </a:solidFill>
                        </a:rPr>
                        <a:t>NDCG@5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200">
                          <a:solidFill>
                            <a:srgbClr val="FFFFFF"/>
                          </a:solidFill>
                        </a:rPr>
                        <a:t>NDCG@10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r>
              <a:tr h="190500">
                <a:tc>
                  <a:txBody>
                    <a:bodyPr/>
                    <a:lstStyle/>
                    <a:p>
                      <a:pPr algn="l">
                        <a:defRPr b="1" sz="1200"/>
                      </a:pPr>
                      <a:r>
                        <a:t>Reference ranking: </a:t>
                      </a:r>
                      <a:r>
                        <a:rPr b="0"/>
                        <a:t>Trivago's original candidate order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31.75%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0.458</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0.469</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0.523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b="1" sz="1200"/>
                        <a:t>Classical models</a:t>
                      </a:r>
                    </a:p>
                  </a:txBody>
                  <a:tcPr marL="91425" marR="91425" marT="91425" marB="91425" anchor="t" anchorCtr="0" horzOverflow="overflow">
                    <a:lnL>
                      <a:solidFill>
                        <a:srgbClr val="D9D9D9"/>
                      </a:solidFill>
                    </a:lnL>
                    <a:lnR>
                      <a:solidFill>
                        <a:srgbClr val="FFFFFF"/>
                      </a:solidFill>
                    </a:lnR>
                    <a:lnT>
                      <a:solidFill>
                        <a:srgbClr val="D9D9D9"/>
                      </a:solidFill>
                    </a:lnT>
                    <a:lnB>
                      <a:solidFill>
                        <a:srgbClr val="D9D9D9"/>
                      </a:solidFill>
                    </a:lnB>
                  </a:tcPr>
                </a:tc>
                <a:tc>
                  <a:txBody>
                    <a:bodyPr/>
                    <a:lstStyle/>
                    <a:p>
                      <a:pPr algn="l">
                        <a:defRPr sz="1400"/>
                      </a:pPr>
                    </a:p>
                  </a:txBody>
                  <a:tcPr marL="91425" marR="91425" marT="91425" marB="91425" anchor="t" anchorCtr="0" horzOverflow="overflow">
                    <a:lnL>
                      <a:solidFill>
                        <a:srgbClr val="FFFFFF"/>
                      </a:solidFill>
                    </a:lnL>
                    <a:lnR>
                      <a:solidFill>
                        <a:srgbClr val="FFFFFF"/>
                      </a:solidFill>
                    </a:lnR>
                    <a:lnT>
                      <a:solidFill>
                        <a:srgbClr val="D9D9D9"/>
                      </a:solidFill>
                    </a:lnT>
                    <a:lnB>
                      <a:solidFill>
                        <a:srgbClr val="D9D9D9"/>
                      </a:solidFill>
                    </a:lnB>
                  </a:tcPr>
                </a:tc>
                <a:tc>
                  <a:txBody>
                    <a:bodyPr/>
                    <a:lstStyle/>
                    <a:p>
                      <a:pPr algn="l">
                        <a:defRPr sz="1400"/>
                      </a:pPr>
                    </a:p>
                  </a:txBody>
                  <a:tcPr marL="91425" marR="91425" marT="91425" marB="91425" anchor="t" anchorCtr="0" horzOverflow="overflow">
                    <a:lnL>
                      <a:solidFill>
                        <a:srgbClr val="FFFFFF"/>
                      </a:solidFill>
                    </a:lnL>
                    <a:lnR>
                      <a:solidFill>
                        <a:srgbClr val="FFFFFF"/>
                      </a:solidFill>
                    </a:lnR>
                    <a:lnT>
                      <a:solidFill>
                        <a:srgbClr val="D9D9D9"/>
                      </a:solidFill>
                    </a:lnT>
                    <a:lnB>
                      <a:solidFill>
                        <a:srgbClr val="D9D9D9"/>
                      </a:solidFill>
                    </a:lnB>
                  </a:tcPr>
                </a:tc>
                <a:tc>
                  <a:txBody>
                    <a:bodyPr/>
                    <a:lstStyle/>
                    <a:p>
                      <a:pPr algn="l">
                        <a:defRPr sz="1400"/>
                      </a:pPr>
                    </a:p>
                  </a:txBody>
                  <a:tcPr marL="91425" marR="91425" marT="91425" marB="91425" anchor="t" anchorCtr="0" horzOverflow="overflow">
                    <a:lnL>
                      <a:solidFill>
                        <a:srgbClr val="FFFFFF"/>
                      </a:solidFill>
                    </a:lnL>
                    <a:lnR>
                      <a:solidFill>
                        <a:srgbClr val="FFFFFF"/>
                      </a:solidFill>
                    </a:lnR>
                    <a:lnT>
                      <a:solidFill>
                        <a:srgbClr val="D9D9D9"/>
                      </a:solidFill>
                    </a:lnT>
                    <a:lnB>
                      <a:solidFill>
                        <a:srgbClr val="D9D9D9"/>
                      </a:solidFill>
                    </a:lnB>
                  </a:tcPr>
                </a:tc>
                <a:tc>
                  <a:txBody>
                    <a:bodyPr/>
                    <a:lstStyle/>
                    <a:p>
                      <a:pPr algn="l">
                        <a:defRPr sz="1400"/>
                      </a:pPr>
                    </a:p>
                  </a:txBody>
                  <a:tcPr marL="91425" marR="91425" marT="91425" marB="91425" anchor="t" anchorCtr="0" horzOverflow="overflow">
                    <a:lnL>
                      <a:solidFill>
                        <a:srgbClr val="FFFFFF"/>
                      </a:solidFill>
                    </a:lnL>
                    <a:lnR>
                      <a:solidFill>
                        <a:srgbClr val="D9D9D9"/>
                      </a:solidFill>
                    </a:lnR>
                    <a:lnT>
                      <a:solidFill>
                        <a:srgbClr val="D9D9D9"/>
                      </a:solidFill>
                    </a:lnT>
                    <a:lnB>
                      <a:solidFill>
                        <a:srgbClr val="D9D9D9"/>
                      </a:solidFill>
                    </a:lnB>
                  </a:tcPr>
                </a:tc>
              </a:tr>
              <a:tr h="190500">
                <a:tc>
                  <a:txBody>
                    <a:bodyPr/>
                    <a:lstStyle/>
                    <a:p>
                      <a:pPr algn="l">
                        <a:defRPr sz="1800"/>
                      </a:pPr>
                      <a:r>
                        <a:rPr sz="1200"/>
                        <a:t>Logistic Regression</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11.17%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0.252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0.239</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0.308</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LightGBM LambdaRank</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sz="1200"/>
                        <a:t>9.81%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sz="1200"/>
                        <a:t>0.238</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sz="1200"/>
                        <a:t>0.225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sz="1200"/>
                        <a:t>0.296</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b="1" sz="1200"/>
                        <a:t>Deep learning models</a:t>
                      </a:r>
                    </a:p>
                  </a:txBody>
                  <a:tcPr marL="91425" marR="91425" marT="91425" marB="91425" anchor="t" anchorCtr="0" horzOverflow="overflow">
                    <a:lnL>
                      <a:solidFill>
                        <a:srgbClr val="D9D9D9"/>
                      </a:solidFill>
                    </a:lnL>
                    <a:lnR>
                      <a:solidFill>
                        <a:srgbClr val="FFFFFF"/>
                      </a:solidFill>
                    </a:lnR>
                    <a:lnT>
                      <a:solidFill>
                        <a:srgbClr val="D9D9D9"/>
                      </a:solidFill>
                    </a:lnT>
                    <a:lnB>
                      <a:solidFill>
                        <a:srgbClr val="D9D9D9"/>
                      </a:solidFill>
                    </a:lnB>
                  </a:tcPr>
                </a:tc>
                <a:tc>
                  <a:txBody>
                    <a:bodyPr/>
                    <a:lstStyle/>
                    <a:p>
                      <a:pPr algn="l">
                        <a:defRPr sz="1400"/>
                      </a:pPr>
                    </a:p>
                  </a:txBody>
                  <a:tcPr marL="91425" marR="91425" marT="91425" marB="91425" anchor="t" anchorCtr="0" horzOverflow="overflow">
                    <a:lnL>
                      <a:solidFill>
                        <a:srgbClr val="FFFFFF"/>
                      </a:solidFill>
                    </a:lnL>
                    <a:lnR>
                      <a:solidFill>
                        <a:srgbClr val="FFFFFF"/>
                      </a:solidFill>
                    </a:lnR>
                    <a:lnT>
                      <a:solidFill>
                        <a:srgbClr val="D9D9D9"/>
                      </a:solidFill>
                    </a:lnT>
                    <a:lnB>
                      <a:solidFill>
                        <a:srgbClr val="D9D9D9"/>
                      </a:solidFill>
                    </a:lnB>
                  </a:tcPr>
                </a:tc>
                <a:tc>
                  <a:txBody>
                    <a:bodyPr/>
                    <a:lstStyle/>
                    <a:p>
                      <a:pPr algn="l">
                        <a:defRPr sz="1400"/>
                      </a:pPr>
                    </a:p>
                  </a:txBody>
                  <a:tcPr marL="91425" marR="91425" marT="91425" marB="91425" anchor="t" anchorCtr="0" horzOverflow="overflow">
                    <a:lnL>
                      <a:solidFill>
                        <a:srgbClr val="FFFFFF"/>
                      </a:solidFill>
                    </a:lnL>
                    <a:lnR>
                      <a:solidFill>
                        <a:srgbClr val="FFFFFF"/>
                      </a:solidFill>
                    </a:lnR>
                    <a:lnT>
                      <a:solidFill>
                        <a:srgbClr val="D9D9D9"/>
                      </a:solidFill>
                    </a:lnT>
                    <a:lnB>
                      <a:solidFill>
                        <a:srgbClr val="D9D9D9"/>
                      </a:solidFill>
                    </a:lnB>
                  </a:tcPr>
                </a:tc>
                <a:tc>
                  <a:txBody>
                    <a:bodyPr/>
                    <a:lstStyle/>
                    <a:p>
                      <a:pPr algn="l">
                        <a:defRPr sz="1400"/>
                      </a:pPr>
                    </a:p>
                  </a:txBody>
                  <a:tcPr marL="91425" marR="91425" marT="91425" marB="91425" anchor="t" anchorCtr="0" horzOverflow="overflow">
                    <a:lnL>
                      <a:solidFill>
                        <a:srgbClr val="FFFFFF"/>
                      </a:solidFill>
                    </a:lnL>
                    <a:lnR>
                      <a:solidFill>
                        <a:srgbClr val="FFFFFF"/>
                      </a:solidFill>
                    </a:lnR>
                    <a:lnT>
                      <a:solidFill>
                        <a:srgbClr val="D9D9D9"/>
                      </a:solidFill>
                    </a:lnT>
                    <a:lnB>
                      <a:solidFill>
                        <a:srgbClr val="D9D9D9"/>
                      </a:solidFill>
                    </a:lnB>
                  </a:tcPr>
                </a:tc>
                <a:tc>
                  <a:txBody>
                    <a:bodyPr/>
                    <a:lstStyle/>
                    <a:p>
                      <a:pPr algn="l">
                        <a:defRPr sz="1400"/>
                      </a:pPr>
                    </a:p>
                  </a:txBody>
                  <a:tcPr marL="91425" marR="91425" marT="91425" marB="91425" anchor="t" anchorCtr="0" horzOverflow="overflow">
                    <a:lnL>
                      <a:solidFill>
                        <a:srgbClr val="FFFFFF"/>
                      </a:solidFill>
                    </a:lnL>
                    <a:lnR>
                      <a:solidFill>
                        <a:srgbClr val="D9D9D9"/>
                      </a:solidFill>
                    </a:lnR>
                    <a:lnT>
                      <a:solidFill>
                        <a:srgbClr val="D9D9D9"/>
                      </a:solidFill>
                    </a:lnT>
                    <a:lnB>
                      <a:solidFill>
                        <a:srgbClr val="D9D9D9"/>
                      </a:solidFill>
                    </a:lnB>
                  </a:tcPr>
                </a:tc>
              </a:tr>
              <a:tr h="190500">
                <a:tc>
                  <a:txBody>
                    <a:bodyPr/>
                    <a:lstStyle/>
                    <a:p>
                      <a:pPr algn="l">
                        <a:defRPr sz="1800"/>
                      </a:pPr>
                      <a:r>
                        <a:rPr sz="1200"/>
                        <a:t>MLP</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b="1" sz="1200"/>
                        <a:t>11.52%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b="1" sz="1200"/>
                        <a:t>0.258</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b="1" sz="1200"/>
                        <a:t>0.247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b="1" sz="1200"/>
                        <a:t>0.317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Wide &amp; Deep NN</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sz="1200"/>
                        <a:t>11.14%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sz="1200"/>
                        <a:t>0.252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sz="1200"/>
                        <a:t>0.240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defRPr sz="1800"/>
                      </a:pPr>
                      <a:r>
                        <a:rPr sz="1200"/>
                        <a:t>0.310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bl>
          </a:graphicData>
        </a:graphic>
      </p:graphicFrame>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0" name="Google Shape;317;p35"/>
          <p:cNvSpPr txBox="1"/>
          <p:nvPr>
            <p:ph type="title"/>
          </p:nvPr>
        </p:nvSpPr>
        <p:spPr>
          <a:xfrm>
            <a:off x="311699" y="286800"/>
            <a:ext cx="8520602" cy="572701"/>
          </a:xfrm>
          <a:prstGeom prst="rect">
            <a:avLst/>
          </a:prstGeom>
        </p:spPr>
        <p:txBody>
          <a:bodyPr/>
          <a:lstStyle>
            <a:lvl1pPr>
              <a:defRPr b="1" sz="1600"/>
            </a:lvl1pPr>
          </a:lstStyle>
          <a:p>
            <a:pPr/>
            <a:r>
              <a:t>Targeted Hyperparameter Tuning</a:t>
            </a:r>
          </a:p>
        </p:txBody>
      </p:sp>
      <p:sp>
        <p:nvSpPr>
          <p:cNvPr id="351" name="Google Shape;318;p35"/>
          <p:cNvSpPr txBox="1"/>
          <p:nvPr>
            <p:ph type="body" idx="1"/>
          </p:nvPr>
        </p:nvSpPr>
        <p:spPr>
          <a:xfrm>
            <a:off x="311699" y="859499"/>
            <a:ext cx="8520602" cy="4128901"/>
          </a:xfrm>
          <a:prstGeom prst="rect">
            <a:avLst/>
          </a:prstGeom>
        </p:spPr>
        <p:txBody>
          <a:bodyPr/>
          <a:lstStyle/>
          <a:p>
            <a:pPr marL="0" indent="0">
              <a:buSzTx/>
              <a:buNone/>
              <a:defRPr sz="1200">
                <a:solidFill>
                  <a:srgbClr val="000000"/>
                </a:solidFill>
              </a:defRPr>
            </a:pPr>
            <a:r>
              <a:t>Targeted tuning was applied to the strongest classical baseline, using validation log loss to select configurations. Parameters were varied sequentially, with the best validation configuration carried forward to the next experiment (Géron, 2025).</a:t>
            </a:r>
          </a:p>
          <a:p>
            <a:pPr marL="0" indent="0">
              <a:spcBef>
                <a:spcPts val="1200"/>
              </a:spcBef>
              <a:buSzTx/>
              <a:buNone/>
              <a:defRPr b="1" sz="1200">
                <a:solidFill>
                  <a:srgbClr val="000000"/>
                </a:solidFill>
              </a:defRPr>
            </a:pPr>
            <a:r>
              <a:t>Experiments included (Géron, 2025):</a:t>
            </a:r>
          </a:p>
          <a:p>
            <a:pPr marL="0" indent="0">
              <a:spcBef>
                <a:spcPts val="1200"/>
              </a:spcBef>
              <a:buSzTx/>
              <a:buNone/>
              <a:defRPr b="1" sz="1200">
                <a:solidFill>
                  <a:srgbClr val="000000"/>
                </a:solidFill>
              </a:defRPr>
            </a:pPr>
            <a:r>
              <a:t>1. LR Hyperparameter Tuning:</a:t>
            </a:r>
          </a:p>
          <a:p>
            <a:pPr indent="-304800">
              <a:spcBef>
                <a:spcPts val="1200"/>
              </a:spcBef>
              <a:buClr>
                <a:srgbClr val="000000"/>
              </a:buClr>
              <a:buSzPts val="1200"/>
              <a:defRPr b="1" sz="1200">
                <a:solidFill>
                  <a:srgbClr val="000000"/>
                </a:solidFill>
              </a:defRPr>
            </a:pPr>
            <a:r>
              <a:t>Regularisation: </a:t>
            </a:r>
            <a:r>
              <a:rPr b="0"/>
              <a:t>Compared L1, L2 and Elastic Net, which impose different constraints on model coefficients and can affect sparsity and generalisation. Each was tested at α = 0.00001, 0.0001 and 0.001, spanning weaker to stronger regularisation (Géron, 2025; Scikit-learn, 2026).</a:t>
            </a:r>
          </a:p>
          <a:p>
            <a:pPr indent="-304800">
              <a:spcBef>
                <a:spcPts val="1000"/>
              </a:spcBef>
              <a:buClr>
                <a:srgbClr val="000000"/>
              </a:buClr>
              <a:buSzPts val="1200"/>
              <a:defRPr b="1" sz="1200">
                <a:solidFill>
                  <a:srgbClr val="000000"/>
                </a:solidFill>
              </a:defRPr>
            </a:pPr>
            <a:r>
              <a:t>SGD learning rate:</a:t>
            </a:r>
            <a:r>
              <a:rPr b="0"/>
              <a:t> Using the selected regularisation configuration, compared learning rates to test convergence behaviour while holding the model specification constant (Géron, 2025).</a:t>
            </a:r>
          </a:p>
          <a:p>
            <a:pPr marL="0" indent="0">
              <a:spcBef>
                <a:spcPts val="1000"/>
              </a:spcBef>
              <a:buSzTx/>
              <a:buNone/>
              <a:defRPr sz="1200">
                <a:solidFill>
                  <a:srgbClr val="000000"/>
                </a:solidFill>
              </a:defRPr>
            </a:pPr>
            <a:r>
              <a:t>Other parameters were held constant to isolate the effect of the hyperparameters being tuned and maintain comparability across configurations.</a:t>
            </a:r>
          </a:p>
          <a:p>
            <a:pPr marL="0" indent="0">
              <a:spcBef>
                <a:spcPts val="1000"/>
              </a:spcBef>
              <a:buSzTx/>
              <a:buNone/>
              <a:defRPr b="1" sz="1200">
                <a:solidFill>
                  <a:srgbClr val="000000"/>
                </a:solidFill>
              </a:defRPr>
            </a:pPr>
            <a:r>
              <a:t>Held constant throughout LR tuning: </a:t>
            </a:r>
            <a:r>
              <a:rPr b="0"/>
              <a:t>loss = log loss, class weight = balanced, max iterations = 1,000, tolerance = 0.001, random state = 42, and the same training/validation data and preprocessing.</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Google Shape;323;p36"/>
          <p:cNvSpPr txBox="1"/>
          <p:nvPr>
            <p:ph type="title"/>
          </p:nvPr>
        </p:nvSpPr>
        <p:spPr>
          <a:xfrm>
            <a:off x="311699" y="286800"/>
            <a:ext cx="8520602" cy="572701"/>
          </a:xfrm>
          <a:prstGeom prst="rect">
            <a:avLst/>
          </a:prstGeom>
        </p:spPr>
        <p:txBody>
          <a:bodyPr/>
          <a:lstStyle>
            <a:lvl1pPr>
              <a:defRPr b="1" sz="1600"/>
            </a:lvl1pPr>
          </a:lstStyle>
          <a:p>
            <a:pPr/>
            <a:r>
              <a:t>Targeted Hyperparameter Tuning</a:t>
            </a:r>
          </a:p>
        </p:txBody>
      </p:sp>
      <p:sp>
        <p:nvSpPr>
          <p:cNvPr id="354" name="Google Shape;324;p36"/>
          <p:cNvSpPr txBox="1"/>
          <p:nvPr>
            <p:ph type="body" idx="1"/>
          </p:nvPr>
        </p:nvSpPr>
        <p:spPr>
          <a:xfrm>
            <a:off x="311699" y="859499"/>
            <a:ext cx="8520602" cy="4128901"/>
          </a:xfrm>
          <a:prstGeom prst="rect">
            <a:avLst/>
          </a:prstGeom>
        </p:spPr>
        <p:txBody>
          <a:bodyPr/>
          <a:lstStyle/>
          <a:p>
            <a:pPr marL="0" indent="0">
              <a:buSzTx/>
              <a:buNone/>
              <a:defRPr b="1" sz="1200">
                <a:solidFill>
                  <a:srgbClr val="000000"/>
                </a:solidFill>
              </a:defRPr>
            </a:pPr>
            <a:r>
              <a:t>2. MLP Hyperparameter Tuning </a:t>
            </a:r>
            <a:r>
              <a:rPr b="0"/>
              <a:t>(Géron, 2025)</a:t>
            </a:r>
          </a:p>
          <a:p>
            <a:pPr indent="-304800">
              <a:spcBef>
                <a:spcPts val="1200"/>
              </a:spcBef>
              <a:buClr>
                <a:srgbClr val="000000"/>
              </a:buClr>
              <a:buSzPts val="1200"/>
              <a:defRPr b="1" sz="1200">
                <a:solidFill>
                  <a:srgbClr val="000000"/>
                </a:solidFill>
              </a:defRPr>
            </a:pPr>
            <a:r>
              <a:t>Architecture:</a:t>
            </a:r>
            <a:r>
              <a:rPr b="0"/>
              <a:t> Compared 128→64 (baseline) → 64→64 (reduced model capacity) → 64→64→64 (tested whether additional depth improved performance).</a:t>
            </a:r>
          </a:p>
          <a:p>
            <a:pPr indent="-304800">
              <a:spcBef>
                <a:spcPts val="1000"/>
              </a:spcBef>
              <a:buClr>
                <a:srgbClr val="000000"/>
              </a:buClr>
              <a:buSzPts val="1200"/>
              <a:defRPr b="1" sz="1200">
                <a:solidFill>
                  <a:srgbClr val="000000"/>
                </a:solidFill>
              </a:defRPr>
            </a:pPr>
            <a:r>
              <a:t>Learning rate:</a:t>
            </a:r>
            <a:r>
              <a:rPr b="0"/>
              <a:t> Tuned the learning rate using the selected architecture, while keeping Adam, ReLU and batch size 1024 fixed.</a:t>
            </a:r>
          </a:p>
          <a:p>
            <a:pPr indent="-304800">
              <a:spcBef>
                <a:spcPts val="1000"/>
              </a:spcBef>
              <a:buClr>
                <a:srgbClr val="000000"/>
              </a:buClr>
              <a:buSzPts val="1200"/>
              <a:defRPr b="1" sz="1200">
                <a:solidFill>
                  <a:srgbClr val="000000"/>
                </a:solidFill>
              </a:defRPr>
            </a:pPr>
            <a:r>
              <a:t>Activation function:</a:t>
            </a:r>
            <a:r>
              <a:rPr b="0"/>
              <a:t> Using the selected architecture and learning rate, compared ReLU (baseline), Leaky ReLU and ELU to test alternative nonlinear activation functions (Géron, 2025).</a:t>
            </a:r>
          </a:p>
          <a:p>
            <a:pPr marL="0" indent="0">
              <a:spcBef>
                <a:spcPts val="1000"/>
              </a:spcBef>
              <a:buSzTx/>
              <a:buNone/>
              <a:defRPr b="1" sz="1200">
                <a:solidFill>
                  <a:srgbClr val="000000"/>
                </a:solidFill>
              </a:defRPr>
            </a:pPr>
            <a:r>
              <a:t>Held constant throughout MLP tuning:</a:t>
            </a:r>
            <a:r>
              <a:rPr b="0"/>
              <a:t> Adam and batch size 1024 were retained to constrain the search space and computational cost. Tuning focused on model capacity, learning rate and nonlinear activation, using the same training/validation data and preprocessing throughout.</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Google Shape;329;p37"/>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LR tuning results</a:t>
            </a:r>
          </a:p>
        </p:txBody>
      </p:sp>
      <p:sp>
        <p:nvSpPr>
          <p:cNvPr id="357" name="Google Shape;330;p37"/>
          <p:cNvSpPr txBox="1"/>
          <p:nvPr/>
        </p:nvSpPr>
        <p:spPr>
          <a:xfrm>
            <a:off x="343099" y="700949"/>
            <a:ext cx="7885202" cy="106686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sz="1200"/>
            </a:pPr>
            <a:r>
              <a:t>Hyperparameters were selected using validation log loss; the final tuned model was then evaluated using ranking metrics.</a:t>
            </a:r>
          </a:p>
          <a:p>
            <a:pPr/>
            <a:endParaRPr sz="1200"/>
          </a:p>
          <a:p>
            <a:pPr>
              <a:defRPr sz="1200"/>
            </a:pPr>
            <a:r>
              <a:t>Targeted tuning produced only marginal improvements across the validation ranking metrics. Within the tested configurations, tuning had limited impact on ranking performance.</a:t>
            </a:r>
          </a:p>
        </p:txBody>
      </p:sp>
      <p:sp>
        <p:nvSpPr>
          <p:cNvPr id="358" name="Google Shape;331;p37"/>
          <p:cNvSpPr txBox="1"/>
          <p:nvPr/>
        </p:nvSpPr>
        <p:spPr>
          <a:xfrm>
            <a:off x="6426499" y="2070449"/>
            <a:ext cx="2616601" cy="154946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200">
                <a:solidFill>
                  <a:srgbClr val="FFFFFF"/>
                </a:solidFill>
              </a:defRPr>
            </a:pPr>
            <a:r>
              <a:t>Final selected LR model configuration:</a:t>
            </a:r>
          </a:p>
          <a:p>
            <a:pPr>
              <a:spcBef>
                <a:spcPts val="1000"/>
              </a:spcBef>
              <a:defRPr b="1" sz="1200"/>
            </a:pPr>
            <a:r>
              <a:t>Penalty: </a:t>
            </a:r>
            <a:r>
              <a:rPr b="0"/>
              <a:t>Elastic Net</a:t>
            </a:r>
          </a:p>
          <a:p>
            <a:pPr>
              <a:defRPr b="1" sz="1200"/>
            </a:pPr>
            <a:r>
              <a:t>Alpha: </a:t>
            </a:r>
            <a:r>
              <a:rPr b="0"/>
              <a:t>1e-5</a:t>
            </a:r>
          </a:p>
          <a:p>
            <a:pPr>
              <a:defRPr b="1" sz="1200"/>
            </a:pPr>
            <a:r>
              <a:t>L1 ratio: </a:t>
            </a:r>
            <a:r>
              <a:rPr b="0"/>
              <a:t>0.15</a:t>
            </a:r>
          </a:p>
          <a:p>
            <a:pPr>
              <a:defRPr b="1" sz="1200"/>
            </a:pPr>
            <a:r>
              <a:t>Learning rate: </a:t>
            </a:r>
            <a:r>
              <a:rPr b="0"/>
              <a:t>optimal</a:t>
            </a:r>
          </a:p>
          <a:p>
            <a:pPr>
              <a:defRPr b="1" sz="1200"/>
            </a:pPr>
            <a:r>
              <a:t>Class weight: </a:t>
            </a:r>
            <a:r>
              <a:rPr b="0"/>
              <a:t>balanced</a:t>
            </a:r>
          </a:p>
        </p:txBody>
      </p:sp>
      <p:sp>
        <p:nvSpPr>
          <p:cNvPr id="359" name="Google Shape;332;p37"/>
          <p:cNvSpPr txBox="1"/>
          <p:nvPr/>
        </p:nvSpPr>
        <p:spPr>
          <a:xfrm>
            <a:off x="343099" y="3860724"/>
            <a:ext cx="5077502" cy="35566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200"/>
            </a:lvl1pPr>
          </a:lstStyle>
          <a:p>
            <a:pPr/>
            <a:r>
              <a:t>See D and E in appendix for compared results across experimentation.</a:t>
            </a:r>
          </a:p>
        </p:txBody>
      </p:sp>
      <p:graphicFrame>
        <p:nvGraphicFramePr>
          <p:cNvPr id="360" name="Google Shape;333;p37"/>
          <p:cNvGraphicFramePr/>
          <p:nvPr/>
        </p:nvGraphicFramePr>
        <p:xfrm>
          <a:off x="343100" y="1866900"/>
          <a:ext cx="4925901" cy="9525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632050"/>
                <a:gridCol w="1249850"/>
                <a:gridCol w="1044000"/>
              </a:tblGrid>
              <a:tr h="190500">
                <a:tc>
                  <a:txBody>
                    <a:bodyPr/>
                    <a:lstStyle/>
                    <a:p>
                      <a:pPr algn="l">
                        <a:lnSpc>
                          <a:spcPct val="115000"/>
                        </a:lnSpc>
                        <a:defRPr sz="1800"/>
                      </a:pPr>
                      <a:r>
                        <a:rPr b="1" sz="1100">
                          <a:solidFill>
                            <a:srgbClr val="FFFFFF"/>
                          </a:solidFill>
                        </a:rPr>
                        <a:t>Validation ranking metric</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100">
                          <a:solidFill>
                            <a:srgbClr val="FFFFFF"/>
                          </a:solidFill>
                        </a:rPr>
                        <a:t>Baseline LR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100">
                          <a:solidFill>
                            <a:srgbClr val="FFFFFF"/>
                          </a:solidFill>
                        </a:rPr>
                        <a:t>Tuned LR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r>
              <a:tr h="190500">
                <a:tc>
                  <a:txBody>
                    <a:bodyPr/>
                    <a:lstStyle/>
                    <a:p>
                      <a:pPr algn="l">
                        <a:defRPr sz="1800"/>
                      </a:pPr>
                      <a:r>
                        <a:rPr sz="1200"/>
                        <a:t>HR@1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11.17%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11.18%</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MRR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0.2521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0.2524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NDCG@5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0.2398</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0.2403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NDCG@10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0.3088</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0.3093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bl>
          </a:graphicData>
        </a:graphic>
      </p:graphicFrame>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2" name="Google Shape;338;p38"/>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MLP tuning results</a:t>
            </a:r>
          </a:p>
        </p:txBody>
      </p:sp>
      <p:sp>
        <p:nvSpPr>
          <p:cNvPr id="363" name="Google Shape;339;p38"/>
          <p:cNvSpPr txBox="1"/>
          <p:nvPr/>
        </p:nvSpPr>
        <p:spPr>
          <a:xfrm>
            <a:off x="352874" y="908774"/>
            <a:ext cx="7885202" cy="71126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sz="1200"/>
            </a:pPr>
            <a:r>
              <a:t>The hyperparameters and final tuned model followed the same evaluation framework as the LR one.</a:t>
            </a:r>
          </a:p>
          <a:p>
            <a:pPr/>
            <a:endParaRPr sz="1200"/>
          </a:p>
          <a:p>
            <a:pPr>
              <a:defRPr sz="1200"/>
            </a:pPr>
            <a:r>
              <a:t>Tuning produced small, consistent improvements across all validation ranking metrics.</a:t>
            </a:r>
          </a:p>
        </p:txBody>
      </p:sp>
      <p:sp>
        <p:nvSpPr>
          <p:cNvPr id="364" name="Google Shape;340;p38"/>
          <p:cNvSpPr txBox="1"/>
          <p:nvPr/>
        </p:nvSpPr>
        <p:spPr>
          <a:xfrm>
            <a:off x="6191250" y="2070449"/>
            <a:ext cx="2616600" cy="154946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200">
                <a:solidFill>
                  <a:srgbClr val="FFFFFF"/>
                </a:solidFill>
              </a:defRPr>
            </a:pPr>
            <a:r>
              <a:t>Final selected MLP model configuration:</a:t>
            </a:r>
          </a:p>
          <a:p>
            <a:pPr>
              <a:spcBef>
                <a:spcPts val="1000"/>
              </a:spcBef>
              <a:defRPr b="1" sz="1200"/>
            </a:pPr>
            <a:r>
              <a:t>Layers: </a:t>
            </a:r>
            <a:r>
              <a:rPr b="0"/>
              <a:t>64 → 64</a:t>
            </a:r>
          </a:p>
          <a:p>
            <a:pPr>
              <a:defRPr b="1" sz="1200"/>
            </a:pPr>
            <a:r>
              <a:t>Activation function: </a:t>
            </a:r>
            <a:r>
              <a:rPr b="0"/>
              <a:t>ReLU</a:t>
            </a:r>
          </a:p>
          <a:p>
            <a:pPr>
              <a:defRPr b="1" sz="1200"/>
            </a:pPr>
            <a:r>
              <a:t>Optimiser: </a:t>
            </a:r>
            <a:r>
              <a:rPr b="0"/>
              <a:t>Adam</a:t>
            </a:r>
          </a:p>
          <a:p>
            <a:pPr>
              <a:defRPr b="1" sz="1200"/>
            </a:pPr>
            <a:r>
              <a:t>LR: </a:t>
            </a:r>
            <a:r>
              <a:rPr b="0"/>
              <a:t>0.0001</a:t>
            </a:r>
          </a:p>
          <a:p>
            <a:pPr>
              <a:defRPr b="1" sz="1200"/>
            </a:pPr>
            <a:r>
              <a:t>batch size: </a:t>
            </a:r>
            <a:r>
              <a:rPr b="0"/>
              <a:t>1024</a:t>
            </a:r>
          </a:p>
        </p:txBody>
      </p:sp>
      <p:sp>
        <p:nvSpPr>
          <p:cNvPr id="365" name="Google Shape;341;p38"/>
          <p:cNvSpPr txBox="1"/>
          <p:nvPr/>
        </p:nvSpPr>
        <p:spPr>
          <a:xfrm>
            <a:off x="343099" y="4210225"/>
            <a:ext cx="5936402" cy="35566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200"/>
            </a:lvl1pPr>
          </a:lstStyle>
          <a:p>
            <a:pPr/>
            <a:r>
              <a:t>See F in appendix for compared results across experimentation.</a:t>
            </a:r>
          </a:p>
        </p:txBody>
      </p:sp>
      <p:graphicFrame>
        <p:nvGraphicFramePr>
          <p:cNvPr id="366" name="Google Shape;342;p38"/>
          <p:cNvGraphicFramePr/>
          <p:nvPr/>
        </p:nvGraphicFramePr>
        <p:xfrm>
          <a:off x="352874" y="2114874"/>
          <a:ext cx="4949952" cy="9525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79300"/>
                <a:gridCol w="1858599"/>
                <a:gridCol w="1612050"/>
              </a:tblGrid>
              <a:tr h="190500">
                <a:tc>
                  <a:txBody>
                    <a:bodyPr/>
                    <a:lstStyle/>
                    <a:p>
                      <a:pPr algn="l">
                        <a:lnSpc>
                          <a:spcPct val="115000"/>
                        </a:lnSpc>
                        <a:defRPr sz="1800"/>
                      </a:pPr>
                      <a:r>
                        <a:rPr b="1" sz="1200">
                          <a:solidFill>
                            <a:srgbClr val="FFFFFF"/>
                          </a:solidFill>
                        </a:rPr>
                        <a:t>Metric</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200">
                          <a:solidFill>
                            <a:srgbClr val="FFFFFF"/>
                          </a:solidFill>
                        </a:rPr>
                        <a:t>Baseline MLP</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200">
                          <a:solidFill>
                            <a:srgbClr val="FFFFFF"/>
                          </a:solidFill>
                        </a:rPr>
                        <a:t>Tuned MLP</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r>
              <a:tr h="190500">
                <a:tc>
                  <a:txBody>
                    <a:bodyPr/>
                    <a:lstStyle/>
                    <a:p>
                      <a:pPr algn="l">
                        <a:defRPr sz="1800"/>
                      </a:pPr>
                      <a:r>
                        <a:rPr sz="1200"/>
                        <a:t>HR@1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11.52%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11.66%</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MRR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0.2581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0.2595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NDCG@5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0.2472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0.2486</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NDCG@10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0.3175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0.3191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bl>
          </a:graphicData>
        </a:graphic>
      </p:graphicFrame>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368" name="Google Shape;347;p39"/>
          <p:cNvGraphicFramePr/>
          <p:nvPr/>
        </p:nvGraphicFramePr>
        <p:xfrm>
          <a:off x="343100" y="2126250"/>
          <a:ext cx="6308751" cy="1143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142375"/>
                <a:gridCol w="710550"/>
                <a:gridCol w="821975"/>
                <a:gridCol w="1247600"/>
                <a:gridCol w="1386250"/>
              </a:tblGrid>
              <a:tr h="190500">
                <a:tc>
                  <a:txBody>
                    <a:bodyPr/>
                    <a:lstStyle/>
                    <a:p>
                      <a:pPr algn="l">
                        <a:lnSpc>
                          <a:spcPct val="115000"/>
                        </a:lnSpc>
                        <a:defRPr sz="1800"/>
                      </a:pPr>
                      <a:r>
                        <a:rPr b="1" sz="1200">
                          <a:solidFill>
                            <a:srgbClr val="FFFFFF"/>
                          </a:solidFill>
                        </a:rPr>
                        <a:t>Learning rate</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200">
                          <a:solidFill>
                            <a:srgbClr val="FFFFFF"/>
                          </a:solidFill>
                        </a:rPr>
                        <a:t>HR@1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200">
                          <a:solidFill>
                            <a:srgbClr val="FFFFFF"/>
                          </a:solidFill>
                        </a:rPr>
                        <a:t>MRR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200">
                          <a:solidFill>
                            <a:srgbClr val="FFFFFF"/>
                          </a:solidFill>
                        </a:rPr>
                        <a:t>NDCG@5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200">
                          <a:solidFill>
                            <a:srgbClr val="FFFFFF"/>
                          </a:solidFill>
                        </a:rPr>
                        <a:t>NDCG@10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r>
              <a:tr h="190500">
                <a:tc>
                  <a:txBody>
                    <a:bodyPr/>
                    <a:lstStyle/>
                    <a:p>
                      <a:pPr algn="l">
                        <a:defRPr sz="1800"/>
                      </a:pPr>
                      <a:r>
                        <a:rPr sz="1200"/>
                        <a:t>Tuned LR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11.35%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0.2545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0.2437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0.3111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LightGBM</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11.73%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0.2585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0.2475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0.3165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Tuned MLP</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11.54%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b="1" sz="1200"/>
                        <a:t>0.2586</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b="1" sz="1200"/>
                        <a:t>0.2484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b="1" sz="1200"/>
                        <a:t>0.3181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Wide &amp; Deep</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11.18%</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0.2542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0.2442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0.3123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Trivago’s original ranking</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32.61%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0.4646</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0.4747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nSpc>
                          <a:spcPct val="115000"/>
                        </a:lnSpc>
                        <a:defRPr sz="1800"/>
                      </a:pPr>
                      <a:r>
                        <a:rPr sz="1200"/>
                        <a:t>0.5286</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bl>
          </a:graphicData>
        </a:graphic>
      </p:graphicFrame>
      <p:sp>
        <p:nvSpPr>
          <p:cNvPr id="369" name="Google Shape;348;p39"/>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Final evaluation on the untouched test set</a:t>
            </a:r>
          </a:p>
        </p:txBody>
      </p:sp>
      <p:sp>
        <p:nvSpPr>
          <p:cNvPr id="370" name="Google Shape;349;p39"/>
          <p:cNvSpPr txBox="1"/>
          <p:nvPr/>
        </p:nvSpPr>
        <p:spPr>
          <a:xfrm>
            <a:off x="343099" y="898500"/>
            <a:ext cx="7885202" cy="88906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sz="1200"/>
            </a:pPr>
            <a:r>
              <a:t>The final models were evaluated once on the held-out test set using the same ranking metrics.</a:t>
            </a:r>
          </a:p>
          <a:p>
            <a:pPr/>
            <a:endParaRPr sz="1200"/>
          </a:p>
          <a:p>
            <a:pPr>
              <a:defRPr sz="1200"/>
            </a:pPr>
            <a:r>
              <a:t>MLP achieved the strongest MRR and NDCG performance, while LightGBM achieved the highest HR@1 among the learned models. Differences between the learned models were small.</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2" name="Google Shape;354;p40"/>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Model interpretability: LR coefficients vs SHAP for MLP</a:t>
            </a:r>
          </a:p>
        </p:txBody>
      </p:sp>
      <p:sp>
        <p:nvSpPr>
          <p:cNvPr id="373" name="Google Shape;355;p40"/>
          <p:cNvSpPr txBox="1"/>
          <p:nvPr/>
        </p:nvSpPr>
        <p:spPr>
          <a:xfrm>
            <a:off x="343099" y="830949"/>
            <a:ext cx="7885202" cy="320046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200"/>
            </a:pPr>
            <a:r>
              <a:t>Here we answer the following question:</a:t>
            </a:r>
          </a:p>
          <a:p>
            <a:pPr>
              <a:defRPr sz="1200"/>
            </a:pPr>
            <a:r>
              <a:t>Which features drive the tuned MLP, and does it identify materially different relationships from Logistic Regression?</a:t>
            </a:r>
          </a:p>
          <a:p>
            <a:pPr/>
            <a:endParaRPr sz="1200"/>
          </a:p>
          <a:p>
            <a:pPr>
              <a:defRPr b="1" sz="1200"/>
            </a:pPr>
            <a:r>
              <a:t>LR:</a:t>
            </a:r>
          </a:p>
          <a:p>
            <a:pPr marL="228600" indent="-190500">
              <a:buClr>
                <a:srgbClr val="000000"/>
              </a:buClr>
              <a:buSzPts val="1200"/>
              <a:buFont typeface="Arial"/>
              <a:buChar char="●"/>
              <a:defRPr b="1" sz="1200"/>
            </a:pPr>
            <a:r>
              <a:t>Filter match (+0.265): </a:t>
            </a:r>
            <a:r>
              <a:rPr b="0"/>
              <a:t>matching a selected filter increases the model's click log-odds.</a:t>
            </a:r>
          </a:p>
          <a:p>
            <a:pPr marL="228600" indent="-190500">
              <a:buClr>
                <a:srgbClr val="000000"/>
              </a:buClr>
              <a:buSzPts val="1200"/>
              <a:buFont typeface="Arial"/>
              <a:buChar char="●"/>
              <a:defRPr b="1" sz="1200"/>
            </a:pPr>
            <a:r>
              <a:t>Candidate price (−0.176): </a:t>
            </a:r>
            <a:r>
              <a:rPr b="0"/>
              <a:t>higher prices are associated with lower predicted click propensity, holding other inputs constant.</a:t>
            </a:r>
          </a:p>
          <a:p>
            <a:pPr marL="228600" indent="-190500">
              <a:buClr>
                <a:srgbClr val="000000"/>
              </a:buClr>
              <a:buSzPts val="1200"/>
              <a:buFont typeface="Arial"/>
              <a:buChar char="●"/>
              <a:defRPr b="1" sz="1200"/>
            </a:pPr>
            <a:r>
              <a:t>Sort changes (−0.022): </a:t>
            </a:r>
            <a:r>
              <a:rPr b="0"/>
              <a:t>retained, but the relationship is very small.</a:t>
            </a:r>
          </a:p>
          <a:p>
            <a:pPr marL="228600" indent="-190500">
              <a:buClr>
                <a:srgbClr val="000000"/>
              </a:buClr>
              <a:buSzPts val="1200"/>
              <a:buFont typeface="Arial"/>
              <a:buChar char="●"/>
              <a:defRPr b="1" sz="1200"/>
            </a:pPr>
            <a:r>
              <a:t>Relative price and the other eight behavioural variables: </a:t>
            </a:r>
            <a:r>
              <a:rPr b="0"/>
              <a:t>coefficients were shrunk to zero.</a:t>
            </a:r>
          </a:p>
          <a:p>
            <a:pPr/>
            <a:endParaRPr sz="1200"/>
          </a:p>
          <a:p>
            <a:pPr>
              <a:defRPr b="1" sz="1200"/>
            </a:pPr>
            <a:r>
              <a:t>Learnings:</a:t>
            </a:r>
          </a:p>
          <a:p>
            <a:pPr marL="228600" indent="-190500">
              <a:buClr>
                <a:srgbClr val="000000"/>
              </a:buClr>
              <a:buSzPts val="1200"/>
              <a:buFont typeface="Arial"/>
              <a:buChar char="●"/>
              <a:defRPr sz="1200"/>
            </a:pPr>
            <a:r>
              <a:t>Positive coefficients increase predicted click log-odds; negative coefficients decrease them, holding other encoded features constant.</a:t>
            </a:r>
          </a:p>
          <a:p>
            <a:pPr marL="228600" indent="-190500">
              <a:buClr>
                <a:srgbClr val="000000"/>
              </a:buClr>
              <a:buSzPts val="1200"/>
              <a:buFont typeface="Arial"/>
              <a:buChar char="●"/>
              <a:defRPr sz="1200"/>
            </a:pPr>
            <a:r>
              <a:t>Elastic Net reduced several numerical/behavioural coefficients to zero, including relative_price.</a:t>
            </a:r>
          </a:p>
          <a:p>
            <a:pPr/>
            <a:endParaRPr sz="1200"/>
          </a:p>
          <a:p>
            <a:pPr>
              <a:defRPr sz="1200"/>
            </a:pPr>
            <a:r>
              <a:t>Model details analyses can be found in Appendix item G.</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5" name="Google Shape;360;p41"/>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Model interpretability: LR coefficients vs SHAP for MLP</a:t>
            </a:r>
          </a:p>
        </p:txBody>
      </p:sp>
      <p:sp>
        <p:nvSpPr>
          <p:cNvPr id="376" name="Google Shape;361;p41"/>
          <p:cNvSpPr txBox="1"/>
          <p:nvPr/>
        </p:nvSpPr>
        <p:spPr>
          <a:xfrm>
            <a:off x="343100" y="955500"/>
            <a:ext cx="4389900" cy="340366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200"/>
            </a:pPr>
            <a:r>
              <a:t>MLP:</a:t>
            </a:r>
          </a:p>
          <a:p>
            <a:pPr marL="228600" indent="-184150">
              <a:buClr>
                <a:srgbClr val="000000"/>
              </a:buClr>
              <a:buSzPts val="1100"/>
              <a:buFont typeface="Arial"/>
              <a:buChar char="●"/>
              <a:defRPr b="1" sz="1100"/>
            </a:pPr>
            <a:r>
              <a:t>Relative price: </a:t>
            </a:r>
            <a:r>
              <a:rPr b="0"/>
              <a:t>Shows a pronounced nonlinear relationship with MLP output, despite being reduced to zero by Elastic Net LR.</a:t>
            </a:r>
          </a:p>
          <a:p>
            <a:pPr marL="228600" indent="-184150">
              <a:buClr>
                <a:srgbClr val="000000"/>
              </a:buClr>
              <a:buSzPts val="1100"/>
              <a:buFont typeface="Arial"/>
              <a:buChar char="●"/>
              <a:defRPr b="1" sz="1100"/>
            </a:pPr>
            <a:r>
              <a:t>Candidate price: </a:t>
            </a:r>
            <a:r>
              <a:rPr b="0"/>
              <a:t>Shows a broadly negative relationship, consistent with LR, but with additional nonlinearity.</a:t>
            </a:r>
          </a:p>
          <a:p>
            <a:pPr marL="228600" indent="-184150">
              <a:buClr>
                <a:srgbClr val="000000"/>
              </a:buClr>
              <a:buSzPts val="1100"/>
              <a:buFont typeface="Arial"/>
              <a:buChar char="●"/>
              <a:defRPr b="1" sz="1100"/>
            </a:pPr>
            <a:r>
              <a:t>Other features: </a:t>
            </a:r>
            <a:r>
              <a:rPr b="0"/>
              <a:t>Contextual categorical and behavioural features also contribute to MLP predictions.*</a:t>
            </a:r>
          </a:p>
          <a:p>
            <a:pPr/>
            <a:endParaRPr sz="1200"/>
          </a:p>
          <a:p>
            <a:pPr>
              <a:defRPr b="1" sz="1200"/>
            </a:pPr>
            <a:r>
              <a:t>Learning:</a:t>
            </a:r>
          </a:p>
          <a:p>
            <a:pPr>
              <a:defRPr sz="1200"/>
            </a:pPr>
            <a:r>
              <a:t>The MLP captured relationships not represented by the fitted linear model, particularly for relative price, but this translated into only modest improvements in ranking performance.</a:t>
            </a:r>
          </a:p>
          <a:p>
            <a:pPr/>
            <a:endParaRPr sz="1200"/>
          </a:p>
          <a:p>
            <a:pPr/>
            <a:endParaRPr sz="1200"/>
          </a:p>
          <a:p>
            <a:pPr>
              <a:defRPr i="1" sz="1200"/>
            </a:pPr>
            <a:r>
              <a:t>*Aggregated SHAP magnitudes for categorical features should be interpreted cautiously because they combine multiple one-hot encoded columns.</a:t>
            </a:r>
          </a:p>
          <a:p>
            <a:pPr/>
            <a:endParaRPr i="1" sz="1200"/>
          </a:p>
          <a:p>
            <a:pPr>
              <a:defRPr sz="1200"/>
            </a:pPr>
            <a:r>
              <a:t>Model details analyses can be found in Appendix items H-J.</a:t>
            </a:r>
          </a:p>
        </p:txBody>
      </p:sp>
      <p:sp>
        <p:nvSpPr>
          <p:cNvPr id="377" name="Google Shape;362;p41"/>
          <p:cNvSpPr txBox="1"/>
          <p:nvPr/>
        </p:nvSpPr>
        <p:spPr>
          <a:xfrm>
            <a:off x="5529174" y="3594625"/>
            <a:ext cx="3478501" cy="4331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i="1" sz="900"/>
            </a:lvl1pPr>
          </a:lstStyle>
          <a:p>
            <a:pPr/>
            <a:r>
              <a:t>Figure 2: SHAP dependence for relative_price (Author’s own work, 2026)</a:t>
            </a:r>
          </a:p>
        </p:txBody>
      </p:sp>
      <p:pic>
        <p:nvPicPr>
          <p:cNvPr id="378" name="Google Shape;363;p41" descr="Google Shape;363;p41"/>
          <p:cNvPicPr>
            <a:picLocks noChangeAspect="1"/>
          </p:cNvPicPr>
          <p:nvPr/>
        </p:nvPicPr>
        <p:blipFill>
          <a:blip r:embed="rId2">
            <a:extLst/>
          </a:blip>
          <a:stretch>
            <a:fillRect/>
          </a:stretch>
        </p:blipFill>
        <p:spPr>
          <a:xfrm>
            <a:off x="5437425" y="1181562"/>
            <a:ext cx="3478375" cy="2470151"/>
          </a:xfrm>
          <a:prstGeom prst="rect">
            <a:avLst/>
          </a:prstGeom>
          <a:ln w="12700">
            <a:miter lim="400000"/>
          </a:ln>
        </p:spPr>
      </p:pic>
      <p:sp>
        <p:nvSpPr>
          <p:cNvPr id="379" name="Google Shape;364;p41"/>
          <p:cNvSpPr/>
          <p:nvPr/>
        </p:nvSpPr>
        <p:spPr>
          <a:xfrm flipH="1">
            <a:off x="5021455" y="1198624"/>
            <a:ext cx="1" cy="3063702"/>
          </a:xfrm>
          <a:prstGeom prst="line">
            <a:avLst/>
          </a:prstGeom>
          <a:ln>
            <a:solidFill>
              <a:srgbClr val="B7B7B7"/>
            </a:solidFill>
            <a:headEnd type="oval"/>
            <a:tailEnd type="oval"/>
          </a:ln>
        </p:spPr>
        <p:txBody>
          <a:bodyPr lIns="0" tIns="0" rIns="0" bIns="0"/>
          <a:lstStyle/>
          <a:p>
            <a:pP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solidFill>
      </p:bgPr>
    </p:bg>
    <p:spTree>
      <p:nvGrpSpPr>
        <p:cNvPr id="1" name=""/>
        <p:cNvGrpSpPr/>
        <p:nvPr/>
      </p:nvGrpSpPr>
      <p:grpSpPr>
        <a:xfrm>
          <a:off x="0" y="0"/>
          <a:ext cx="0" cy="0"/>
          <a:chOff x="0" y="0"/>
          <a:chExt cx="0" cy="0"/>
        </a:xfrm>
      </p:grpSpPr>
      <p:sp>
        <p:nvSpPr>
          <p:cNvPr id="381" name="Google Shape;369;p42"/>
          <p:cNvSpPr txBox="1"/>
          <p:nvPr>
            <p:ph type="title"/>
          </p:nvPr>
        </p:nvSpPr>
        <p:spPr>
          <a:xfrm>
            <a:off x="360424" y="2098350"/>
            <a:ext cx="8520602" cy="946800"/>
          </a:xfrm>
          <a:prstGeom prst="rect">
            <a:avLst/>
          </a:prstGeom>
        </p:spPr>
        <p:txBody>
          <a:bodyPr/>
          <a:lstStyle>
            <a:lvl1pPr>
              <a:defRPr sz="3200">
                <a:solidFill>
                  <a:srgbClr val="FFFFFF"/>
                </a:solidFill>
              </a:defRPr>
            </a:lvl1pPr>
          </a:lstStyle>
          <a:p>
            <a:pPr/>
            <a:r>
              <a:t>5. Conclusions, limitations and next steps</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3" name="Google Shape;374;p43"/>
          <p:cNvSpPr txBox="1"/>
          <p:nvPr>
            <p:ph type="title"/>
          </p:nvPr>
        </p:nvSpPr>
        <p:spPr>
          <a:xfrm>
            <a:off x="311699" y="332000"/>
            <a:ext cx="8520602" cy="572701"/>
          </a:xfrm>
          <a:prstGeom prst="rect">
            <a:avLst/>
          </a:prstGeom>
        </p:spPr>
        <p:txBody>
          <a:bodyPr/>
          <a:lstStyle>
            <a:lvl1pPr>
              <a:defRPr b="1" sz="1600"/>
            </a:lvl1pPr>
          </a:lstStyle>
          <a:p>
            <a:pPr/>
            <a:r>
              <a:t>Conclusions: answering the research question</a:t>
            </a:r>
          </a:p>
        </p:txBody>
      </p:sp>
      <p:sp>
        <p:nvSpPr>
          <p:cNvPr id="384" name="Google Shape;375;p43"/>
          <p:cNvSpPr txBox="1"/>
          <p:nvPr>
            <p:ph type="body" idx="1"/>
          </p:nvPr>
        </p:nvSpPr>
        <p:spPr>
          <a:xfrm>
            <a:off x="311699" y="750525"/>
            <a:ext cx="8520602" cy="4083001"/>
          </a:xfrm>
          <a:prstGeom prst="rect">
            <a:avLst/>
          </a:prstGeom>
        </p:spPr>
        <p:txBody>
          <a:bodyPr/>
          <a:lstStyle/>
          <a:p>
            <a:pPr marL="0" indent="0">
              <a:buSzTx/>
              <a:buNone/>
              <a:defRPr b="1" sz="1100">
                <a:solidFill>
                  <a:srgbClr val="000000"/>
                </a:solidFill>
              </a:defRPr>
            </a:pPr>
            <a:r>
              <a:t>Performance</a:t>
            </a:r>
          </a:p>
          <a:p>
            <a:pPr marL="285750" indent="-184150">
              <a:spcBef>
                <a:spcPts val="1200"/>
              </a:spcBef>
              <a:buClr>
                <a:srgbClr val="000000"/>
              </a:buClr>
              <a:buSzPts val="1100"/>
              <a:defRPr sz="1100">
                <a:solidFill>
                  <a:srgbClr val="000000"/>
                </a:solidFill>
              </a:defRPr>
            </a:pPr>
            <a:r>
              <a:t>MLP achieved the strongest MRR and NDCG, while LightGBM achieved the strongest HR@1 among learned models.</a:t>
            </a:r>
          </a:p>
          <a:p>
            <a:pPr marL="285750" indent="-184150">
              <a:buClr>
                <a:srgbClr val="000000"/>
              </a:buClr>
              <a:buSzPts val="1100"/>
              <a:defRPr sz="1100">
                <a:solidFill>
                  <a:srgbClr val="000000"/>
                </a:solidFill>
              </a:defRPr>
            </a:pPr>
            <a:r>
              <a:t>Differences were small: compared with tuned LR, MLP improved MRR by 0.0041 and NDCG@10 by 0.0070.</a:t>
            </a:r>
          </a:p>
          <a:p>
            <a:pPr marL="285750" indent="-184150">
              <a:buClr>
                <a:srgbClr val="000000"/>
              </a:buClr>
              <a:buSzPts val="1100"/>
              <a:defRPr sz="1100">
                <a:solidFill>
                  <a:srgbClr val="000000"/>
                </a:solidFill>
              </a:defRPr>
            </a:pPr>
            <a:r>
              <a:t>Relative model performance also varied between validation and test.</a:t>
            </a:r>
          </a:p>
          <a:p>
            <a:pPr marL="0" indent="0">
              <a:spcBef>
                <a:spcPts val="1200"/>
              </a:spcBef>
              <a:buSzTx/>
              <a:buNone/>
              <a:defRPr b="1" sz="1100">
                <a:solidFill>
                  <a:srgbClr val="000000"/>
                </a:solidFill>
              </a:defRPr>
            </a:pPr>
            <a:r>
              <a:t>Complexity &amp; interpretability</a:t>
            </a:r>
          </a:p>
          <a:p>
            <a:pPr marL="285750" indent="-184150">
              <a:spcBef>
                <a:spcPts val="1200"/>
              </a:spcBef>
              <a:buClr>
                <a:srgbClr val="000000"/>
              </a:buClr>
              <a:buSzPts val="1100"/>
              <a:defRPr sz="1100">
                <a:solidFill>
                  <a:srgbClr val="000000"/>
                </a:solidFill>
              </a:defRPr>
            </a:pPr>
            <a:r>
              <a:t>SHAP indicates that the MLP captured nonlinear relationships not represented by the fitted LR model, particularly for relative price.</a:t>
            </a:r>
          </a:p>
          <a:p>
            <a:pPr marL="285750" indent="-184150">
              <a:buClr>
                <a:srgbClr val="000000"/>
              </a:buClr>
              <a:buSzPts val="1100"/>
              <a:defRPr sz="1100">
                <a:solidFill>
                  <a:srgbClr val="000000"/>
                </a:solidFill>
              </a:defRPr>
            </a:pPr>
            <a:r>
              <a:t>LR remained substantially easier to interpret directly through its coefficients.</a:t>
            </a:r>
          </a:p>
          <a:p>
            <a:pPr marL="0" indent="0">
              <a:spcBef>
                <a:spcPts val="1200"/>
              </a:spcBef>
              <a:buSzTx/>
              <a:buNone/>
              <a:defRPr b="1" sz="1100">
                <a:solidFill>
                  <a:srgbClr val="000000"/>
                </a:solidFill>
              </a:defRPr>
            </a:pPr>
            <a:r>
              <a:t>Research question conclusion</a:t>
            </a:r>
          </a:p>
          <a:p>
            <a:pPr marL="0" indent="0">
              <a:spcBef>
                <a:spcPts val="1200"/>
              </a:spcBef>
              <a:buSzTx/>
              <a:buNone/>
              <a:defRPr b="1" i="1" sz="1100">
                <a:solidFill>
                  <a:srgbClr val="000000"/>
                </a:solidFill>
              </a:defRPr>
            </a:pPr>
            <a:r>
              <a:t>Deep learning produced a modest improvement over LR, but did not demonstrate a clear advantage over classical ML relative to its additional complexity and lower interpretability.</a:t>
            </a:r>
          </a:p>
          <a:p>
            <a:pPr marL="0" indent="0">
              <a:spcBef>
                <a:spcPts val="1200"/>
              </a:spcBef>
              <a:buSzTx/>
              <a:buNone/>
              <a:defRPr b="1" sz="1100">
                <a:solidFill>
                  <a:srgbClr val="000000"/>
                </a:solidFill>
              </a:defRPr>
            </a:pPr>
            <a:r>
              <a:t>Note:</a:t>
            </a:r>
            <a:r>
              <a:rPr b="0" i="1"/>
              <a:t> All learned models substantially underperformed Trivago's original ranking. One possible explanation is that the original ranking uses richer signals unavailable in this dataset.</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6" name="Google Shape;380;p44"/>
          <p:cNvSpPr txBox="1"/>
          <p:nvPr>
            <p:ph type="title"/>
          </p:nvPr>
        </p:nvSpPr>
        <p:spPr>
          <a:xfrm>
            <a:off x="311699" y="332000"/>
            <a:ext cx="8520602" cy="572701"/>
          </a:xfrm>
          <a:prstGeom prst="rect">
            <a:avLst/>
          </a:prstGeom>
        </p:spPr>
        <p:txBody>
          <a:bodyPr/>
          <a:lstStyle/>
          <a:p>
            <a:pPr>
              <a:defRPr b="1" sz="1600"/>
            </a:pPr>
            <a:r>
              <a:t>Ethical Considerations &amp; Potential Bias </a:t>
            </a:r>
            <a:r>
              <a:rPr b="0" sz="1200"/>
              <a:t>(Leslie, 2019; Regulation (EU) 2016/679)</a:t>
            </a:r>
          </a:p>
        </p:txBody>
      </p:sp>
      <p:sp>
        <p:nvSpPr>
          <p:cNvPr id="387" name="Google Shape;381;p44"/>
          <p:cNvSpPr txBox="1"/>
          <p:nvPr>
            <p:ph type="body" idx="1"/>
          </p:nvPr>
        </p:nvSpPr>
        <p:spPr>
          <a:xfrm>
            <a:off x="311699" y="750525"/>
            <a:ext cx="8520602" cy="3416401"/>
          </a:xfrm>
          <a:prstGeom prst="rect">
            <a:avLst/>
          </a:prstGeom>
        </p:spPr>
        <p:txBody>
          <a:bodyPr/>
          <a:lstStyle/>
          <a:p>
            <a:pPr marL="0" indent="0" defTabSz="877823">
              <a:buSzTx/>
              <a:buNone/>
              <a:defRPr b="1" sz="1152">
                <a:solidFill>
                  <a:srgbClr val="000000"/>
                </a:solidFill>
              </a:defRPr>
            </a:pPr>
            <a:r>
              <a:t>Bias &amp; fairness: </a:t>
            </a:r>
            <a:r>
              <a:rPr b="0"/>
              <a:t>Bias &amp; fairness: Historical interaction data may reproduce existing exposure patterns or behavioural differences. Aggregate ranking performance may conceal differences between user or accommodation segments. </a:t>
            </a:r>
            <a:r>
              <a:t>A subgroup diagnostic found differences in MLP ranking performance across levels of city representation </a:t>
            </a:r>
            <a:r>
              <a:rPr b="0"/>
              <a:t>(Appendix K). Demographic attributes were unavailable, so demographic fairness could not be assessed.</a:t>
            </a:r>
            <a:endParaRPr b="0"/>
          </a:p>
          <a:p>
            <a:pPr marL="0" indent="0" defTabSz="877823">
              <a:buSzTx/>
              <a:buNone/>
              <a:defRPr b="1" sz="1152">
                <a:solidFill>
                  <a:srgbClr val="000000"/>
                </a:solidFill>
              </a:defRPr>
            </a:pPr>
          </a:p>
          <a:p>
            <a:pPr marL="0" indent="0" defTabSz="877823">
              <a:spcBef>
                <a:spcPts val="1100"/>
              </a:spcBef>
              <a:buSzTx/>
              <a:buNone/>
              <a:defRPr b="1" sz="1152">
                <a:solidFill>
                  <a:srgbClr val="000000"/>
                </a:solidFill>
              </a:defRPr>
            </a:pPr>
            <a:r>
              <a:t>Explainability &amp; transparency: </a:t>
            </a:r>
            <a:r>
              <a:rPr b="0"/>
              <a:t>Recommendations influence what users see and potentially what they choose. Users should therefore be able to understand why accommodations are recommended and identify potential gaps between their preferences and the system's assumptions.</a:t>
            </a:r>
            <a:endParaRPr b="0"/>
          </a:p>
          <a:p>
            <a:pPr marL="0" indent="0" defTabSz="877823">
              <a:spcBef>
                <a:spcPts val="1100"/>
              </a:spcBef>
              <a:buSzTx/>
              <a:buNone/>
              <a:defRPr b="1" sz="1152">
                <a:solidFill>
                  <a:srgbClr val="000000"/>
                </a:solidFill>
              </a:defRPr>
            </a:pPr>
          </a:p>
          <a:p>
            <a:pPr marL="0" indent="0" defTabSz="877823">
              <a:spcBef>
                <a:spcPts val="1100"/>
              </a:spcBef>
              <a:buSzTx/>
              <a:buNone/>
              <a:defRPr b="1" sz="1152">
                <a:solidFill>
                  <a:srgbClr val="000000"/>
                </a:solidFill>
              </a:defRPr>
            </a:pPr>
            <a:r>
              <a:t>Privacy &amp; consent: </a:t>
            </a:r>
            <a:r>
              <a:rPr b="0"/>
              <a:t>Session and behavioural data should be collected and processed with appropriate transparency, data minimisation and a valid legal basis under applicable data-protection requirements.</a:t>
            </a:r>
            <a:endParaRPr b="0"/>
          </a:p>
          <a:p>
            <a:pPr marL="0" indent="0" defTabSz="877823">
              <a:spcBef>
                <a:spcPts val="1100"/>
              </a:spcBef>
              <a:buSzTx/>
              <a:buNone/>
              <a:defRPr b="1" sz="1152">
                <a:solidFill>
                  <a:srgbClr val="000000"/>
                </a:solidFill>
              </a:defRPr>
            </a:pPr>
          </a:p>
          <a:p>
            <a:pPr marL="0" indent="0" defTabSz="877823">
              <a:spcBef>
                <a:spcPts val="1100"/>
              </a:spcBef>
              <a:buSzTx/>
              <a:buNone/>
              <a:defRPr b="1" sz="1152">
                <a:solidFill>
                  <a:srgbClr val="000000"/>
                </a:solidFill>
              </a:defRPr>
            </a:pPr>
            <a:r>
              <a:t>Responsible deployment: </a:t>
            </a:r>
            <a:r>
              <a:rPr b="0"/>
              <a:t>Offline ranking performance alone is insufficient. Deployed systems should be monitored for performance across relevant segments, behavioural changes and unintended disparities..</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9" name="Google Shape;386;p45"/>
          <p:cNvSpPr txBox="1"/>
          <p:nvPr>
            <p:ph type="title"/>
          </p:nvPr>
        </p:nvSpPr>
        <p:spPr>
          <a:xfrm>
            <a:off x="311699" y="267450"/>
            <a:ext cx="8520602" cy="572701"/>
          </a:xfrm>
          <a:prstGeom prst="rect">
            <a:avLst/>
          </a:prstGeom>
        </p:spPr>
        <p:txBody>
          <a:bodyPr/>
          <a:lstStyle>
            <a:lvl1pPr>
              <a:defRPr b="1" sz="1600"/>
            </a:lvl1pPr>
          </a:lstStyle>
          <a:p>
            <a:pPr/>
            <a:r>
              <a:t>Limitations</a:t>
            </a:r>
          </a:p>
        </p:txBody>
      </p:sp>
      <p:sp>
        <p:nvSpPr>
          <p:cNvPr id="390" name="Google Shape;387;p45"/>
          <p:cNvSpPr txBox="1"/>
          <p:nvPr>
            <p:ph type="body" idx="1"/>
          </p:nvPr>
        </p:nvSpPr>
        <p:spPr>
          <a:xfrm>
            <a:off x="311699" y="748899"/>
            <a:ext cx="8783402" cy="4304102"/>
          </a:xfrm>
          <a:prstGeom prst="rect">
            <a:avLst/>
          </a:prstGeom>
        </p:spPr>
        <p:txBody>
          <a:bodyPr/>
          <a:lstStyle/>
          <a:p>
            <a:pPr marL="0" indent="0">
              <a:buSzTx/>
              <a:buNone/>
              <a:defRPr b="1" sz="1200">
                <a:solidFill>
                  <a:srgbClr val="000000"/>
                </a:solidFill>
              </a:defRPr>
            </a:pPr>
            <a:r>
              <a:t>Dataset and behavioural context</a:t>
            </a:r>
          </a:p>
          <a:p>
            <a:pPr indent="-304800">
              <a:buClr>
                <a:srgbClr val="000000"/>
              </a:buClr>
              <a:buSzPts val="1200"/>
              <a:defRPr sz="1200">
                <a:solidFill>
                  <a:srgbClr val="000000"/>
                </a:solidFill>
              </a:defRPr>
            </a:pPr>
            <a:r>
              <a:t>No long-term user history or personal profile information. Recommendations rely on current session/search context.</a:t>
            </a:r>
          </a:p>
          <a:p>
            <a:pPr indent="-304800">
              <a:buClr>
                <a:srgbClr val="000000"/>
              </a:buClr>
              <a:buSzPts val="1200"/>
              <a:defRPr sz="1200">
                <a:solidFill>
                  <a:srgbClr val="000000"/>
                </a:solidFill>
              </a:defRPr>
            </a:pPr>
            <a:r>
              <a:t>Clicks used as the relevance signal, but a click does not necessarily represent booking or true preference.</a:t>
            </a:r>
          </a:p>
          <a:p>
            <a:pPr indent="-304800">
              <a:buClr>
                <a:srgbClr val="000000"/>
              </a:buClr>
              <a:buSzPts val="1200"/>
              <a:defRPr sz="1200">
                <a:solidFill>
                  <a:srgbClr val="000000"/>
                </a:solidFill>
              </a:defRPr>
            </a:pPr>
            <a:r>
              <a:t>The analysis uses a 10% sample of complete sessions, primarily for computational feasibility.</a:t>
            </a:r>
          </a:p>
          <a:p>
            <a:pPr marL="0" indent="0">
              <a:spcBef>
                <a:spcPts val="1200"/>
              </a:spcBef>
              <a:buSzTx/>
              <a:buNone/>
              <a:defRPr b="1" sz="1200">
                <a:solidFill>
                  <a:srgbClr val="000000"/>
                </a:solidFill>
              </a:defRPr>
            </a:pPr>
            <a:r>
              <a:t>Observational / ranking bias</a:t>
            </a:r>
          </a:p>
          <a:p>
            <a:pPr indent="-304800">
              <a:buClr>
                <a:srgbClr val="000000"/>
              </a:buClr>
              <a:buSzPts val="1200"/>
              <a:defRPr sz="1200">
                <a:solidFill>
                  <a:srgbClr val="000000"/>
                </a:solidFill>
              </a:defRPr>
            </a:pPr>
            <a:r>
              <a:t>Candidate position was strongly associated with clicks but excluded as a predictor because it reflects exposure from Trivago's existing ranking.</a:t>
            </a:r>
          </a:p>
          <a:p>
            <a:pPr indent="-304800">
              <a:buClr>
                <a:srgbClr val="000000"/>
              </a:buClr>
              <a:buSzPts val="1200"/>
              <a:defRPr sz="1200">
                <a:solidFill>
                  <a:srgbClr val="000000"/>
                </a:solidFill>
              </a:defRPr>
            </a:pPr>
            <a:r>
              <a:t>Consequently, observed clicks are likely influenced by the ranking system that generated the data.</a:t>
            </a:r>
          </a:p>
          <a:p>
            <a:pPr indent="-304800">
              <a:buClr>
                <a:srgbClr val="000000"/>
              </a:buClr>
              <a:buSzPts val="1200"/>
              <a:defRPr sz="1200">
                <a:solidFill>
                  <a:srgbClr val="000000"/>
                </a:solidFill>
              </a:defRPr>
            </a:pPr>
            <a:r>
              <a:t>The project evaluates re-ranking of an existing candidate set, not end-to-end candidate generation and recommendation.</a:t>
            </a:r>
            <a:endParaRPr b="1"/>
          </a:p>
          <a:p>
            <a:pPr marL="0" indent="0">
              <a:spcBef>
                <a:spcPts val="1200"/>
              </a:spcBef>
              <a:buSzTx/>
              <a:buNone/>
              <a:defRPr b="1" sz="1200">
                <a:solidFill>
                  <a:srgbClr val="000000"/>
                </a:solidFill>
              </a:defRPr>
            </a:pPr>
            <a:r>
              <a:t>Modelling scope</a:t>
            </a:r>
          </a:p>
          <a:p>
            <a:pPr indent="-304800">
              <a:buClr>
                <a:srgbClr val="000000"/>
              </a:buClr>
              <a:buSzPts val="1200"/>
              <a:defRPr sz="1200">
                <a:solidFill>
                  <a:srgbClr val="000000"/>
                </a:solidFill>
              </a:defRPr>
            </a:pPr>
            <a:r>
              <a:t>Hyperparameter tuning was deliberately targeted rather than exhaustive because of computational cost.</a:t>
            </a:r>
          </a:p>
          <a:p>
            <a:pPr indent="-304800">
              <a:buClr>
                <a:srgbClr val="000000"/>
              </a:buClr>
              <a:buSzPts val="1200"/>
              <a:defRPr sz="1200">
                <a:solidFill>
                  <a:srgbClr val="000000"/>
                </a:solidFill>
              </a:defRPr>
            </a:pPr>
            <a:r>
              <a:t>Only four selected modelling approaches were compared.</a:t>
            </a:r>
          </a:p>
          <a:p>
            <a:pPr indent="-304800">
              <a:buClr>
                <a:srgbClr val="000000"/>
              </a:buClr>
              <a:buSzPts val="1200"/>
              <a:defRPr sz="1200">
                <a:solidFill>
                  <a:srgbClr val="000000"/>
                </a:solidFill>
              </a:defRPr>
            </a:pPr>
            <a:r>
              <a:t>Small differences between models and changes in their relative performance between validation and test limit conclusions about the superiority of individual architectures.</a:t>
            </a:r>
          </a:p>
          <a:p>
            <a:pPr marL="0" indent="0">
              <a:spcBef>
                <a:spcPts val="1200"/>
              </a:spcBef>
              <a:buSzTx/>
              <a:buNone/>
              <a:defRPr b="1" sz="1200">
                <a:solidFill>
                  <a:srgbClr val="000000"/>
                </a:solidFill>
              </a:defRPr>
            </a:pPr>
            <a:r>
              <a:t>Computational constraints</a:t>
            </a:r>
          </a:p>
          <a:p>
            <a:pPr indent="-304800">
              <a:buClr>
                <a:srgbClr val="000000"/>
              </a:buClr>
              <a:buSzPts val="1200"/>
              <a:defRPr sz="1200">
                <a:solidFill>
                  <a:srgbClr val="000000"/>
                </a:solidFill>
              </a:defRPr>
            </a:pPr>
            <a:r>
              <a:t>Computational constraints influenced the sample size, scope of hyperparameter tuning and coding practices.</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2" name="Google Shape;392;p46"/>
          <p:cNvSpPr txBox="1"/>
          <p:nvPr>
            <p:ph type="title"/>
          </p:nvPr>
        </p:nvSpPr>
        <p:spPr>
          <a:xfrm>
            <a:off x="311699" y="267450"/>
            <a:ext cx="8520602" cy="572701"/>
          </a:xfrm>
          <a:prstGeom prst="rect">
            <a:avLst/>
          </a:prstGeom>
        </p:spPr>
        <p:txBody>
          <a:bodyPr/>
          <a:lstStyle>
            <a:lvl1pPr>
              <a:defRPr b="1" sz="1600"/>
            </a:lvl1pPr>
          </a:lstStyle>
          <a:p>
            <a:pPr/>
            <a:r>
              <a:t>Next Steps</a:t>
            </a:r>
          </a:p>
        </p:txBody>
      </p:sp>
      <p:sp>
        <p:nvSpPr>
          <p:cNvPr id="393" name="Google Shape;393;p46"/>
          <p:cNvSpPr txBox="1"/>
          <p:nvPr>
            <p:ph type="body" idx="1"/>
          </p:nvPr>
        </p:nvSpPr>
        <p:spPr>
          <a:xfrm>
            <a:off x="311699" y="748899"/>
            <a:ext cx="8520602" cy="4304102"/>
          </a:xfrm>
          <a:prstGeom prst="rect">
            <a:avLst/>
          </a:prstGeom>
        </p:spPr>
        <p:txBody>
          <a:bodyPr/>
          <a:lstStyle/>
          <a:p>
            <a:pPr marL="0" indent="0">
              <a:buSzTx/>
              <a:buNone/>
              <a:defRPr b="1" sz="1200">
                <a:solidFill>
                  <a:srgbClr val="000000"/>
                </a:solidFill>
              </a:defRPr>
            </a:pPr>
            <a:r>
              <a:t>1. Strengthen the current comparison</a:t>
            </a:r>
          </a:p>
          <a:p>
            <a:pPr marL="0" indent="0">
              <a:spcBef>
                <a:spcPts val="1200"/>
              </a:spcBef>
              <a:buSzTx/>
              <a:buNone/>
              <a:defRPr sz="1200">
                <a:solidFill>
                  <a:srgbClr val="000000"/>
                </a:solidFill>
              </a:defRPr>
            </a:pPr>
            <a:r>
              <a:t>Evaluate L2-regularised LR to assess feature contributions without the sparsity introduced by Elastic Net, and broaden hyperparameter tuning where computationally feasible.</a:t>
            </a:r>
            <a:endParaRPr b="1"/>
          </a:p>
          <a:p>
            <a:pPr marL="0" indent="0">
              <a:spcBef>
                <a:spcPts val="1200"/>
              </a:spcBef>
              <a:buSzTx/>
              <a:buNone/>
              <a:defRPr b="1" sz="1200">
                <a:solidFill>
                  <a:srgbClr val="000000"/>
                </a:solidFill>
              </a:defRPr>
            </a:pPr>
            <a:r>
              <a:t>2. Improve representation of user intent</a:t>
            </a:r>
          </a:p>
          <a:p>
            <a:pPr marL="0" indent="0">
              <a:spcBef>
                <a:spcPts val="1200"/>
              </a:spcBef>
              <a:buSzTx/>
              <a:buNone/>
              <a:defRPr sz="1200">
                <a:solidFill>
                  <a:srgbClr val="000000"/>
                </a:solidFill>
              </a:defRPr>
            </a:pPr>
            <a:r>
              <a:t>Explore richer sequential representations of session behaviour and, where available, longer-term user history.</a:t>
            </a:r>
            <a:endParaRPr b="1"/>
          </a:p>
          <a:p>
            <a:pPr marL="0" indent="0">
              <a:spcBef>
                <a:spcPts val="1200"/>
              </a:spcBef>
              <a:buSzTx/>
              <a:buNone/>
              <a:defRPr b="1" sz="1200">
                <a:solidFill>
                  <a:srgbClr val="000000"/>
                </a:solidFill>
              </a:defRPr>
            </a:pPr>
            <a:r>
              <a:t>3. Improve the learning objective and evaluation</a:t>
            </a:r>
          </a:p>
          <a:p>
            <a:pPr marL="0" indent="0">
              <a:spcBef>
                <a:spcPts val="1200"/>
              </a:spcBef>
              <a:buSzTx/>
              <a:buNone/>
              <a:defRPr sz="1200">
                <a:solidFill>
                  <a:srgbClr val="000000"/>
                </a:solidFill>
              </a:defRPr>
            </a:pPr>
            <a:r>
              <a:t>Use stronger outcome signals, such as bookings or conversion, and explicitly address position/exposure bias.</a:t>
            </a:r>
          </a:p>
          <a:p>
            <a:pPr marL="0" indent="0">
              <a:spcBef>
                <a:spcPts val="1200"/>
              </a:spcBef>
              <a:buSzTx/>
              <a:buNone/>
              <a:defRPr b="1" sz="1200">
                <a:solidFill>
                  <a:srgbClr val="000000"/>
                </a:solidFill>
              </a:defRPr>
            </a:pPr>
            <a:r>
              <a:t>4. Extend towards production evaluation</a:t>
            </a:r>
          </a:p>
          <a:p>
            <a:pPr marL="0" indent="0">
              <a:spcBef>
                <a:spcPts val="1200"/>
              </a:spcBef>
              <a:buSzTx/>
              <a:buNone/>
              <a:defRPr sz="1200">
                <a:solidFill>
                  <a:srgbClr val="000000"/>
                </a:solidFill>
              </a:defRPr>
            </a:pPr>
            <a:r>
              <a:t>Evaluate online through controlled experiments, monitoring ranking performance, user outcomes and relevant segments.</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5" name="Google Shape;398;p47"/>
          <p:cNvSpPr txBox="1"/>
          <p:nvPr>
            <p:ph type="title"/>
          </p:nvPr>
        </p:nvSpPr>
        <p:spPr>
          <a:xfrm>
            <a:off x="311699" y="267450"/>
            <a:ext cx="8520602" cy="572701"/>
          </a:xfrm>
          <a:prstGeom prst="rect">
            <a:avLst/>
          </a:prstGeom>
        </p:spPr>
        <p:txBody>
          <a:bodyPr/>
          <a:lstStyle>
            <a:lvl1pPr>
              <a:defRPr b="1" sz="1600"/>
            </a:lvl1pPr>
          </a:lstStyle>
          <a:p>
            <a:pPr/>
            <a:r>
              <a:t>Next Steps: Deployment</a:t>
            </a:r>
          </a:p>
        </p:txBody>
      </p:sp>
      <p:sp>
        <p:nvSpPr>
          <p:cNvPr id="396" name="Google Shape;399;p47"/>
          <p:cNvSpPr txBox="1"/>
          <p:nvPr/>
        </p:nvSpPr>
        <p:spPr>
          <a:xfrm>
            <a:off x="592903" y="2353747"/>
            <a:ext cx="991801" cy="335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nSpc>
                <a:spcPct val="115000"/>
              </a:lnSpc>
              <a:defRPr b="1" sz="1000">
                <a:solidFill>
                  <a:srgbClr val="0C57D3"/>
                </a:solidFill>
                <a:latin typeface="Roboto"/>
                <a:ea typeface="Roboto"/>
                <a:cs typeface="Roboto"/>
                <a:sym typeface="Roboto"/>
              </a:defRPr>
            </a:lvl1pPr>
          </a:lstStyle>
          <a:p>
            <a:pPr/>
            <a:r>
              <a:t>User session</a:t>
            </a:r>
          </a:p>
        </p:txBody>
      </p:sp>
      <p:grpSp>
        <p:nvGrpSpPr>
          <p:cNvPr id="399" name="Google Shape;400;p47"/>
          <p:cNvGrpSpPr/>
          <p:nvPr/>
        </p:nvGrpSpPr>
        <p:grpSpPr>
          <a:xfrm>
            <a:off x="492149" y="1735780"/>
            <a:ext cx="1209001" cy="380234"/>
            <a:chOff x="0" y="0"/>
            <a:chExt cx="1209000" cy="380233"/>
          </a:xfrm>
        </p:grpSpPr>
        <p:sp>
          <p:nvSpPr>
            <p:cNvPr id="397" name="Shape"/>
            <p:cNvSpPr/>
            <p:nvPr/>
          </p:nvSpPr>
          <p:spPr>
            <a:xfrm flipH="1">
              <a:off x="-1" y="118416"/>
              <a:ext cx="1209002" cy="143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84" y="0"/>
                  </a:lnTo>
                  <a:lnTo>
                    <a:pt x="21600" y="0"/>
                  </a:lnTo>
                  <a:lnTo>
                    <a:pt x="19116" y="21600"/>
                  </a:lnTo>
                  <a:close/>
                </a:path>
              </a:pathLst>
            </a:custGeom>
            <a:solidFill>
              <a:srgbClr val="0D5CDF"/>
            </a:solidFill>
            <a:ln w="12700" cap="flat">
              <a:noFill/>
              <a:miter lim="400000"/>
            </a:ln>
            <a:effectLst/>
          </p:spPr>
          <p:txBody>
            <a:bodyPr wrap="square" lIns="0" tIns="0" rIns="0" bIns="0" numCol="1" anchor="ctr">
              <a:noAutofit/>
            </a:bodyPr>
            <a:lstStyle/>
            <a:p>
              <a:pPr/>
            </a:p>
          </p:txBody>
        </p:sp>
        <p:sp>
          <p:nvSpPr>
            <p:cNvPr id="398" name="Text"/>
            <p:cNvSpPr txBox="1"/>
            <p:nvPr/>
          </p:nvSpPr>
          <p:spPr>
            <a:xfrm>
              <a:off x="158679" y="0"/>
              <a:ext cx="891642"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r>
                <a:t>  </a:t>
              </a:r>
            </a:p>
          </p:txBody>
        </p:sp>
      </p:grpSp>
      <p:sp>
        <p:nvSpPr>
          <p:cNvPr id="400" name="Google Shape;401;p47"/>
          <p:cNvSpPr/>
          <p:nvPr/>
        </p:nvSpPr>
        <p:spPr>
          <a:xfrm>
            <a:off x="492290" y="2008022"/>
            <a:ext cx="1209002" cy="143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84" y="0"/>
                </a:lnTo>
                <a:lnTo>
                  <a:pt x="21600" y="0"/>
                </a:lnTo>
                <a:lnTo>
                  <a:pt x="19116" y="21600"/>
                </a:lnTo>
                <a:close/>
              </a:path>
            </a:pathLst>
          </a:custGeom>
          <a:solidFill>
            <a:srgbClr val="0942A1"/>
          </a:solidFill>
          <a:ln w="12700">
            <a:miter lim="400000"/>
          </a:ln>
        </p:spPr>
        <p:txBody>
          <a:bodyPr lIns="0" tIns="0" rIns="0" bIns="0" anchor="ctr"/>
          <a:lstStyle/>
          <a:p>
            <a:pPr/>
          </a:p>
        </p:txBody>
      </p:sp>
      <p:sp>
        <p:nvSpPr>
          <p:cNvPr id="401" name="Google Shape;402;p47"/>
          <p:cNvSpPr txBox="1"/>
          <p:nvPr/>
        </p:nvSpPr>
        <p:spPr>
          <a:xfrm>
            <a:off x="1718905" y="2178487"/>
            <a:ext cx="991801" cy="5105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nSpc>
                <a:spcPct val="115000"/>
              </a:lnSpc>
              <a:defRPr b="1" sz="1000">
                <a:solidFill>
                  <a:srgbClr val="0C57D3"/>
                </a:solidFill>
                <a:latin typeface="Roboto"/>
                <a:ea typeface="Roboto"/>
                <a:cs typeface="Roboto"/>
                <a:sym typeface="Roboto"/>
              </a:defRPr>
            </a:lvl1pPr>
          </a:lstStyle>
          <a:p>
            <a:pPr/>
            <a:r>
              <a:t>Feature processing</a:t>
            </a:r>
          </a:p>
        </p:txBody>
      </p:sp>
      <p:grpSp>
        <p:nvGrpSpPr>
          <p:cNvPr id="404" name="Google Shape;403;p47"/>
          <p:cNvGrpSpPr/>
          <p:nvPr/>
        </p:nvGrpSpPr>
        <p:grpSpPr>
          <a:xfrm>
            <a:off x="1618151" y="1735780"/>
            <a:ext cx="1209002" cy="380234"/>
            <a:chOff x="0" y="0"/>
            <a:chExt cx="1209000" cy="380233"/>
          </a:xfrm>
        </p:grpSpPr>
        <p:sp>
          <p:nvSpPr>
            <p:cNvPr id="402" name="Shape"/>
            <p:cNvSpPr/>
            <p:nvPr/>
          </p:nvSpPr>
          <p:spPr>
            <a:xfrm flipH="1">
              <a:off x="-1" y="118416"/>
              <a:ext cx="1209002" cy="143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84" y="0"/>
                  </a:lnTo>
                  <a:lnTo>
                    <a:pt x="21600" y="0"/>
                  </a:lnTo>
                  <a:lnTo>
                    <a:pt x="19116" y="21600"/>
                  </a:lnTo>
                  <a:close/>
                </a:path>
              </a:pathLst>
            </a:custGeom>
            <a:solidFill>
              <a:srgbClr val="0D5CDF"/>
            </a:solidFill>
            <a:ln w="12700" cap="flat">
              <a:noFill/>
              <a:miter lim="400000"/>
            </a:ln>
            <a:effectLst/>
          </p:spPr>
          <p:txBody>
            <a:bodyPr wrap="square" lIns="0" tIns="0" rIns="0" bIns="0" numCol="1" anchor="ctr">
              <a:noAutofit/>
            </a:bodyPr>
            <a:lstStyle/>
            <a:p>
              <a:pPr/>
            </a:p>
          </p:txBody>
        </p:sp>
        <p:sp>
          <p:nvSpPr>
            <p:cNvPr id="403" name="Text"/>
            <p:cNvSpPr txBox="1"/>
            <p:nvPr/>
          </p:nvSpPr>
          <p:spPr>
            <a:xfrm>
              <a:off x="158679" y="0"/>
              <a:ext cx="891642"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r>
                <a:t>  </a:t>
              </a:r>
            </a:p>
          </p:txBody>
        </p:sp>
      </p:grpSp>
      <p:sp>
        <p:nvSpPr>
          <p:cNvPr id="405" name="Google Shape;404;p47"/>
          <p:cNvSpPr/>
          <p:nvPr/>
        </p:nvSpPr>
        <p:spPr>
          <a:xfrm>
            <a:off x="1618293" y="2008022"/>
            <a:ext cx="1209001" cy="143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84" y="0"/>
                </a:lnTo>
                <a:lnTo>
                  <a:pt x="21600" y="0"/>
                </a:lnTo>
                <a:lnTo>
                  <a:pt x="19116" y="21600"/>
                </a:lnTo>
                <a:close/>
              </a:path>
            </a:pathLst>
          </a:custGeom>
          <a:solidFill>
            <a:srgbClr val="0942A1"/>
          </a:solidFill>
          <a:ln w="12700">
            <a:miter lim="400000"/>
          </a:ln>
        </p:spPr>
        <p:txBody>
          <a:bodyPr lIns="0" tIns="0" rIns="0" bIns="0" anchor="ctr"/>
          <a:lstStyle/>
          <a:p>
            <a:pPr/>
          </a:p>
        </p:txBody>
      </p:sp>
      <p:sp>
        <p:nvSpPr>
          <p:cNvPr id="406" name="Google Shape;405;p47"/>
          <p:cNvSpPr txBox="1"/>
          <p:nvPr/>
        </p:nvSpPr>
        <p:spPr>
          <a:xfrm>
            <a:off x="2859078" y="2178487"/>
            <a:ext cx="991801" cy="5105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nSpc>
                <a:spcPct val="115000"/>
              </a:lnSpc>
              <a:defRPr b="1" sz="1000">
                <a:solidFill>
                  <a:srgbClr val="0C57D3"/>
                </a:solidFill>
                <a:latin typeface="Roboto"/>
                <a:ea typeface="Roboto"/>
                <a:cs typeface="Roboto"/>
                <a:sym typeface="Roboto"/>
              </a:defRPr>
            </a:lvl1pPr>
          </a:lstStyle>
          <a:p>
            <a:pPr/>
            <a:r>
              <a:t>MLP inference API</a:t>
            </a:r>
          </a:p>
        </p:txBody>
      </p:sp>
      <p:grpSp>
        <p:nvGrpSpPr>
          <p:cNvPr id="409" name="Google Shape;406;p47"/>
          <p:cNvGrpSpPr/>
          <p:nvPr/>
        </p:nvGrpSpPr>
        <p:grpSpPr>
          <a:xfrm>
            <a:off x="2758324" y="1735780"/>
            <a:ext cx="1209001" cy="380234"/>
            <a:chOff x="0" y="0"/>
            <a:chExt cx="1209000" cy="380233"/>
          </a:xfrm>
        </p:grpSpPr>
        <p:sp>
          <p:nvSpPr>
            <p:cNvPr id="407" name="Shape"/>
            <p:cNvSpPr/>
            <p:nvPr/>
          </p:nvSpPr>
          <p:spPr>
            <a:xfrm flipH="1">
              <a:off x="-1" y="118416"/>
              <a:ext cx="1209002" cy="143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84" y="0"/>
                  </a:lnTo>
                  <a:lnTo>
                    <a:pt x="21600" y="0"/>
                  </a:lnTo>
                  <a:lnTo>
                    <a:pt x="19116" y="21600"/>
                  </a:lnTo>
                  <a:close/>
                </a:path>
              </a:pathLst>
            </a:custGeom>
            <a:solidFill>
              <a:srgbClr val="0D5CDF"/>
            </a:solidFill>
            <a:ln w="12700" cap="flat">
              <a:noFill/>
              <a:miter lim="400000"/>
            </a:ln>
            <a:effectLst/>
          </p:spPr>
          <p:txBody>
            <a:bodyPr wrap="square" lIns="0" tIns="0" rIns="0" bIns="0" numCol="1" anchor="ctr">
              <a:noAutofit/>
            </a:bodyPr>
            <a:lstStyle/>
            <a:p>
              <a:pPr/>
            </a:p>
          </p:txBody>
        </p:sp>
        <p:sp>
          <p:nvSpPr>
            <p:cNvPr id="408" name="Text"/>
            <p:cNvSpPr txBox="1"/>
            <p:nvPr/>
          </p:nvSpPr>
          <p:spPr>
            <a:xfrm>
              <a:off x="158679" y="0"/>
              <a:ext cx="891642"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r>
                <a:t>  </a:t>
              </a:r>
            </a:p>
          </p:txBody>
        </p:sp>
      </p:grpSp>
      <p:sp>
        <p:nvSpPr>
          <p:cNvPr id="410" name="Google Shape;407;p47"/>
          <p:cNvSpPr/>
          <p:nvPr/>
        </p:nvSpPr>
        <p:spPr>
          <a:xfrm>
            <a:off x="2758465" y="2008022"/>
            <a:ext cx="1209001" cy="143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84" y="0"/>
                </a:lnTo>
                <a:lnTo>
                  <a:pt x="21600" y="0"/>
                </a:lnTo>
                <a:lnTo>
                  <a:pt x="19116" y="21600"/>
                </a:lnTo>
                <a:close/>
              </a:path>
            </a:pathLst>
          </a:custGeom>
          <a:solidFill>
            <a:srgbClr val="0942A1"/>
          </a:solidFill>
          <a:ln w="12700">
            <a:miter lim="400000"/>
          </a:ln>
        </p:spPr>
        <p:txBody>
          <a:bodyPr lIns="0" tIns="0" rIns="0" bIns="0" anchor="ctr"/>
          <a:lstStyle/>
          <a:p>
            <a:pPr/>
          </a:p>
        </p:txBody>
      </p:sp>
      <p:sp>
        <p:nvSpPr>
          <p:cNvPr id="411" name="Google Shape;408;p47"/>
          <p:cNvSpPr txBox="1"/>
          <p:nvPr/>
        </p:nvSpPr>
        <p:spPr>
          <a:xfrm>
            <a:off x="3985081" y="2178487"/>
            <a:ext cx="991801" cy="5105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nSpc>
                <a:spcPct val="115000"/>
              </a:lnSpc>
              <a:defRPr b="1" sz="1000">
                <a:solidFill>
                  <a:srgbClr val="0C57D3"/>
                </a:solidFill>
                <a:latin typeface="Roboto"/>
                <a:ea typeface="Roboto"/>
                <a:cs typeface="Roboto"/>
                <a:sym typeface="Roboto"/>
              </a:defRPr>
            </a:lvl1pPr>
          </a:lstStyle>
          <a:p>
            <a:pPr/>
            <a:r>
              <a:t>Candidate score</a:t>
            </a:r>
          </a:p>
        </p:txBody>
      </p:sp>
      <p:grpSp>
        <p:nvGrpSpPr>
          <p:cNvPr id="414" name="Google Shape;409;p47"/>
          <p:cNvGrpSpPr/>
          <p:nvPr/>
        </p:nvGrpSpPr>
        <p:grpSpPr>
          <a:xfrm>
            <a:off x="3884326" y="1735780"/>
            <a:ext cx="1209001" cy="380234"/>
            <a:chOff x="0" y="0"/>
            <a:chExt cx="1209000" cy="380233"/>
          </a:xfrm>
        </p:grpSpPr>
        <p:sp>
          <p:nvSpPr>
            <p:cNvPr id="412" name="Shape"/>
            <p:cNvSpPr/>
            <p:nvPr/>
          </p:nvSpPr>
          <p:spPr>
            <a:xfrm flipH="1">
              <a:off x="-1" y="118416"/>
              <a:ext cx="1209002" cy="143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84" y="0"/>
                  </a:lnTo>
                  <a:lnTo>
                    <a:pt x="21600" y="0"/>
                  </a:lnTo>
                  <a:lnTo>
                    <a:pt x="19116" y="21600"/>
                  </a:lnTo>
                  <a:close/>
                </a:path>
              </a:pathLst>
            </a:custGeom>
            <a:solidFill>
              <a:srgbClr val="0D5CDF"/>
            </a:solidFill>
            <a:ln w="12700" cap="flat">
              <a:noFill/>
              <a:miter lim="400000"/>
            </a:ln>
            <a:effectLst/>
          </p:spPr>
          <p:txBody>
            <a:bodyPr wrap="square" lIns="0" tIns="0" rIns="0" bIns="0" numCol="1" anchor="ctr">
              <a:noAutofit/>
            </a:bodyPr>
            <a:lstStyle/>
            <a:p>
              <a:pPr/>
            </a:p>
          </p:txBody>
        </p:sp>
        <p:sp>
          <p:nvSpPr>
            <p:cNvPr id="413" name="Text"/>
            <p:cNvSpPr txBox="1"/>
            <p:nvPr/>
          </p:nvSpPr>
          <p:spPr>
            <a:xfrm>
              <a:off x="158679" y="0"/>
              <a:ext cx="891642"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r>
                <a:t>  </a:t>
              </a:r>
            </a:p>
          </p:txBody>
        </p:sp>
      </p:grpSp>
      <p:sp>
        <p:nvSpPr>
          <p:cNvPr id="415" name="Google Shape;410;p47"/>
          <p:cNvSpPr/>
          <p:nvPr/>
        </p:nvSpPr>
        <p:spPr>
          <a:xfrm>
            <a:off x="3884469" y="2008022"/>
            <a:ext cx="1209001" cy="143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84" y="0"/>
                </a:lnTo>
                <a:lnTo>
                  <a:pt x="21600" y="0"/>
                </a:lnTo>
                <a:lnTo>
                  <a:pt x="19116" y="21600"/>
                </a:lnTo>
                <a:close/>
              </a:path>
            </a:pathLst>
          </a:custGeom>
          <a:solidFill>
            <a:srgbClr val="0942A1"/>
          </a:solidFill>
          <a:ln w="12700">
            <a:miter lim="400000"/>
          </a:ln>
        </p:spPr>
        <p:txBody>
          <a:bodyPr lIns="0" tIns="0" rIns="0" bIns="0" anchor="ctr"/>
          <a:lstStyle/>
          <a:p>
            <a:pPr/>
          </a:p>
        </p:txBody>
      </p:sp>
      <p:sp>
        <p:nvSpPr>
          <p:cNvPr id="416" name="Google Shape;411;p47"/>
          <p:cNvSpPr txBox="1"/>
          <p:nvPr/>
        </p:nvSpPr>
        <p:spPr>
          <a:xfrm>
            <a:off x="5101601" y="2176114"/>
            <a:ext cx="1209001" cy="51051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spAutoFit/>
          </a:bodyPr>
          <a:lstStyle>
            <a:lvl1pPr>
              <a:lnSpc>
                <a:spcPct val="115000"/>
              </a:lnSpc>
              <a:defRPr b="1" sz="1000">
                <a:solidFill>
                  <a:srgbClr val="0C57D3"/>
                </a:solidFill>
                <a:latin typeface="Roboto"/>
                <a:ea typeface="Roboto"/>
                <a:cs typeface="Roboto"/>
                <a:sym typeface="Roboto"/>
              </a:defRPr>
            </a:lvl1pPr>
          </a:lstStyle>
          <a:p>
            <a:pPr/>
            <a:r>
              <a:t>Ranked accommodation</a:t>
            </a:r>
          </a:p>
        </p:txBody>
      </p:sp>
      <p:grpSp>
        <p:nvGrpSpPr>
          <p:cNvPr id="419" name="Google Shape;412;p47"/>
          <p:cNvGrpSpPr/>
          <p:nvPr/>
        </p:nvGrpSpPr>
        <p:grpSpPr>
          <a:xfrm>
            <a:off x="5000840" y="1733405"/>
            <a:ext cx="1209001" cy="380234"/>
            <a:chOff x="0" y="0"/>
            <a:chExt cx="1209000" cy="380233"/>
          </a:xfrm>
        </p:grpSpPr>
        <p:sp>
          <p:nvSpPr>
            <p:cNvPr id="417" name="Shape"/>
            <p:cNvSpPr/>
            <p:nvPr/>
          </p:nvSpPr>
          <p:spPr>
            <a:xfrm flipH="1">
              <a:off x="-1" y="118416"/>
              <a:ext cx="1209002" cy="143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84" y="0"/>
                  </a:lnTo>
                  <a:lnTo>
                    <a:pt x="21600" y="0"/>
                  </a:lnTo>
                  <a:lnTo>
                    <a:pt x="19116" y="21600"/>
                  </a:lnTo>
                  <a:close/>
                </a:path>
              </a:pathLst>
            </a:custGeom>
            <a:solidFill>
              <a:srgbClr val="0D5CDF"/>
            </a:solidFill>
            <a:ln w="12700" cap="flat">
              <a:noFill/>
              <a:miter lim="400000"/>
            </a:ln>
            <a:effectLst/>
          </p:spPr>
          <p:txBody>
            <a:bodyPr wrap="square" lIns="0" tIns="0" rIns="0" bIns="0" numCol="1" anchor="ctr">
              <a:noAutofit/>
            </a:bodyPr>
            <a:lstStyle/>
            <a:p>
              <a:pPr/>
            </a:p>
          </p:txBody>
        </p:sp>
        <p:sp>
          <p:nvSpPr>
            <p:cNvPr id="418" name="Text"/>
            <p:cNvSpPr txBox="1"/>
            <p:nvPr/>
          </p:nvSpPr>
          <p:spPr>
            <a:xfrm>
              <a:off x="158679" y="0"/>
              <a:ext cx="891642" cy="38023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4" tIns="91424" rIns="91424" bIns="91424" numCol="1" anchor="ctr">
              <a:spAutoFit/>
            </a:bodyPr>
            <a:lstStyle/>
            <a:p>
              <a:pPr/>
              <a:r>
                <a:t>  </a:t>
              </a:r>
            </a:p>
          </p:txBody>
        </p:sp>
      </p:grpSp>
      <p:sp>
        <p:nvSpPr>
          <p:cNvPr id="420" name="Google Shape;413;p47"/>
          <p:cNvSpPr/>
          <p:nvPr/>
        </p:nvSpPr>
        <p:spPr>
          <a:xfrm>
            <a:off x="5000981" y="2005646"/>
            <a:ext cx="1209001" cy="143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84" y="0"/>
                </a:lnTo>
                <a:lnTo>
                  <a:pt x="21600" y="0"/>
                </a:lnTo>
                <a:lnTo>
                  <a:pt x="19116" y="21600"/>
                </a:lnTo>
                <a:close/>
              </a:path>
            </a:pathLst>
          </a:custGeom>
          <a:solidFill>
            <a:srgbClr val="0942A1"/>
          </a:solidFill>
          <a:ln w="12700">
            <a:miter lim="400000"/>
          </a:ln>
        </p:spPr>
        <p:txBody>
          <a:bodyPr lIns="0" tIns="0" rIns="0" bIns="0" anchor="ctr"/>
          <a:lstStyle/>
          <a:p>
            <a:pPr/>
          </a:p>
        </p:txBody>
      </p:sp>
      <p:sp>
        <p:nvSpPr>
          <p:cNvPr id="421" name="Google Shape;414;p47"/>
          <p:cNvSpPr txBox="1"/>
          <p:nvPr/>
        </p:nvSpPr>
        <p:spPr>
          <a:xfrm>
            <a:off x="392924" y="840149"/>
            <a:ext cx="6858001" cy="392519"/>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500"/>
            </a:lvl1pPr>
          </a:lstStyle>
          <a:p>
            <a:pPr/>
            <a:r>
              <a:t>1. Continue iterating to reach better ranking results</a:t>
            </a:r>
          </a:p>
        </p:txBody>
      </p:sp>
      <p:sp>
        <p:nvSpPr>
          <p:cNvPr id="422" name="Google Shape;415;p47"/>
          <p:cNvSpPr txBox="1"/>
          <p:nvPr/>
        </p:nvSpPr>
        <p:spPr>
          <a:xfrm>
            <a:off x="392924" y="1347175"/>
            <a:ext cx="6858001" cy="392518"/>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500"/>
            </a:lvl1pPr>
          </a:lstStyle>
          <a:p>
            <a:pPr/>
            <a:r>
              <a:t>2. Build a redeployment pipeline:</a:t>
            </a:r>
          </a:p>
        </p:txBody>
      </p:sp>
      <p:sp>
        <p:nvSpPr>
          <p:cNvPr id="423" name="Google Shape;416;p47"/>
          <p:cNvSpPr txBox="1"/>
          <p:nvPr/>
        </p:nvSpPr>
        <p:spPr>
          <a:xfrm>
            <a:off x="392924" y="2933999"/>
            <a:ext cx="6858001" cy="392519"/>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500"/>
            </a:lvl1pPr>
          </a:lstStyle>
          <a:p>
            <a:pPr/>
            <a:r>
              <a:t>3. Ensure scalability and reliability</a:t>
            </a:r>
          </a:p>
        </p:txBody>
      </p:sp>
      <p:sp>
        <p:nvSpPr>
          <p:cNvPr id="424" name="Google Shape;417;p47"/>
          <p:cNvSpPr txBox="1"/>
          <p:nvPr/>
        </p:nvSpPr>
        <p:spPr>
          <a:xfrm>
            <a:off x="392924" y="4132074"/>
            <a:ext cx="5917801" cy="38023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nSpc>
                <a:spcPct val="115000"/>
              </a:lnSpc>
            </a:lvl1pPr>
          </a:lstStyle>
          <a:p>
            <a:pPr/>
            <a:r>
              <a:t>(Upadhyay, 2025; Caballar and Stryker, 2026)</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solidFill>
      </p:bgPr>
    </p:bg>
    <p:spTree>
      <p:nvGrpSpPr>
        <p:cNvPr id="1" name=""/>
        <p:cNvGrpSpPr/>
        <p:nvPr/>
      </p:nvGrpSpPr>
      <p:grpSpPr>
        <a:xfrm>
          <a:off x="0" y="0"/>
          <a:ext cx="0" cy="0"/>
          <a:chOff x="0" y="0"/>
          <a:chExt cx="0" cy="0"/>
        </a:xfrm>
      </p:grpSpPr>
      <p:sp>
        <p:nvSpPr>
          <p:cNvPr id="426" name="Google Shape;422;p48"/>
          <p:cNvSpPr txBox="1"/>
          <p:nvPr>
            <p:ph type="title"/>
          </p:nvPr>
        </p:nvSpPr>
        <p:spPr>
          <a:xfrm>
            <a:off x="360424" y="2098350"/>
            <a:ext cx="8520602" cy="946800"/>
          </a:xfrm>
          <a:prstGeom prst="rect">
            <a:avLst/>
          </a:prstGeom>
        </p:spPr>
        <p:txBody>
          <a:bodyPr/>
          <a:lstStyle>
            <a:lvl1pPr>
              <a:defRPr>
                <a:solidFill>
                  <a:srgbClr val="FFFFFF"/>
                </a:solidFill>
              </a:defRPr>
            </a:lvl1pPr>
          </a:lstStyle>
          <a:p>
            <a:pPr/>
            <a:r>
              <a:t>Thank you</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solidFill>
      </p:bgPr>
    </p:bg>
    <p:spTree>
      <p:nvGrpSpPr>
        <p:cNvPr id="1" name=""/>
        <p:cNvGrpSpPr/>
        <p:nvPr/>
      </p:nvGrpSpPr>
      <p:grpSpPr>
        <a:xfrm>
          <a:off x="0" y="0"/>
          <a:ext cx="0" cy="0"/>
          <a:chOff x="0" y="0"/>
          <a:chExt cx="0" cy="0"/>
        </a:xfrm>
      </p:grpSpPr>
      <p:sp>
        <p:nvSpPr>
          <p:cNvPr id="428" name="Google Shape;427;p49"/>
          <p:cNvSpPr txBox="1"/>
          <p:nvPr>
            <p:ph type="title"/>
          </p:nvPr>
        </p:nvSpPr>
        <p:spPr>
          <a:xfrm>
            <a:off x="360424" y="2098350"/>
            <a:ext cx="8520602" cy="946800"/>
          </a:xfrm>
          <a:prstGeom prst="rect">
            <a:avLst/>
          </a:prstGeom>
        </p:spPr>
        <p:txBody>
          <a:bodyPr/>
          <a:lstStyle>
            <a:lvl1pPr>
              <a:defRPr>
                <a:solidFill>
                  <a:srgbClr val="FFFFFF"/>
                </a:solidFill>
              </a:defRPr>
            </a:lvl1pPr>
          </a:lstStyle>
          <a:p>
            <a:pPr/>
            <a:r>
              <a:t>Appendix</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430" name="Google Shape;433;p50"/>
          <p:cNvGraphicFramePr/>
          <p:nvPr/>
        </p:nvGraphicFramePr>
        <p:xfrm>
          <a:off x="315362" y="613526"/>
          <a:ext cx="8513276" cy="32083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97325"/>
                <a:gridCol w="114300"/>
                <a:gridCol w="3549424"/>
                <a:gridCol w="114300"/>
                <a:gridCol w="3737925"/>
              </a:tblGrid>
              <a:tr h="279400">
                <a:tc>
                  <a:txBody>
                    <a:bodyPr/>
                    <a:lstStyle/>
                    <a:p>
                      <a:pPr algn="l">
                        <a:lnSpc>
                          <a:spcPct val="115000"/>
                        </a:lnSpc>
                        <a:defRPr sz="1800"/>
                      </a:pPr>
                      <a:r>
                        <a:rPr b="1" sz="800">
                          <a:latin typeface="Open Sans"/>
                          <a:ea typeface="Open Sans"/>
                          <a:cs typeface="Open Sans"/>
                          <a:sym typeface="Open Sans"/>
                        </a:rPr>
                        <a:t>Criteria</a:t>
                      </a:r>
                    </a:p>
                  </a:txBody>
                  <a:tcPr marL="91425" marR="91425" marT="91425" marB="91425" anchor="t" anchorCtr="0" horzOverflow="overflow">
                    <a:lnL>
                      <a:solidFill>
                        <a:schemeClr val="accent1"/>
                      </a:solidFill>
                    </a:lnL>
                    <a:lnR w="0">
                      <a:miter lim="400000"/>
                    </a:lnR>
                    <a:lnT>
                      <a:solidFill>
                        <a:schemeClr val="accent1"/>
                      </a:solidFill>
                    </a:lnT>
                    <a:lnB w="19050">
                      <a:solidFill>
                        <a:schemeClr val="accent1"/>
                      </a:solidFill>
                    </a:lnB>
                  </a:tcPr>
                </a:tc>
                <a:tc>
                  <a:txBody>
                    <a:bodyPr/>
                    <a:lstStyle/>
                    <a:p>
                      <a:pPr algn="l">
                        <a:defRPr sz="1400"/>
                      </a:pPr>
                    </a:p>
                  </a:txBody>
                  <a:tcPr marL="91425" marR="91425" marT="91425" marB="91425" anchor="t" anchorCtr="0" horzOverflow="overflow">
                    <a:lnL w="0">
                      <a:miter lim="400000"/>
                    </a:lnL>
                    <a:lnR w="0">
                      <a:miter lim="400000"/>
                    </a:lnR>
                    <a:lnT w="0">
                      <a:miter lim="400000"/>
                    </a:lnT>
                    <a:lnB w="19050">
                      <a:solidFill>
                        <a:schemeClr val="accent1">
                          <a:alpha val="0"/>
                        </a:schemeClr>
                      </a:solidFill>
                    </a:lnB>
                  </a:tcPr>
                </a:tc>
                <a:tc>
                  <a:txBody>
                    <a:bodyPr/>
                    <a:lstStyle/>
                    <a:p>
                      <a:pPr algn="ctr">
                        <a:lnSpc>
                          <a:spcPct val="115000"/>
                        </a:lnSpc>
                        <a:defRPr sz="1800"/>
                      </a:pPr>
                      <a:r>
                        <a:rPr b="1" sz="800">
                          <a:latin typeface="Open Sans"/>
                          <a:ea typeface="Open Sans"/>
                          <a:cs typeface="Open Sans"/>
                          <a:sym typeface="Open Sans"/>
                        </a:rPr>
                        <a:t>Logistic Regression</a:t>
                      </a:r>
                    </a:p>
                  </a:txBody>
                  <a:tcPr marL="91425" marR="91425" marT="91425" marB="91425" anchor="t" anchorCtr="0" horzOverflow="overflow">
                    <a:lnL w="0">
                      <a:miter lim="400000"/>
                    </a:lnL>
                    <a:lnR w="12700">
                      <a:solidFill>
                        <a:srgbClr val="FFFFFF"/>
                      </a:solidFill>
                    </a:lnR>
                    <a:lnT>
                      <a:solidFill>
                        <a:schemeClr val="accent1"/>
                      </a:solidFill>
                    </a:lnT>
                    <a:lnB w="19050">
                      <a:solidFill>
                        <a:schemeClr val="accent1"/>
                      </a:solidFill>
                    </a:lnB>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a:solidFill>
                        <a:srgbClr val="FFFFFF"/>
                      </a:solidFill>
                    </a:lnT>
                    <a:lnB w="19050">
                      <a:solidFill>
                        <a:schemeClr val="accent1">
                          <a:alpha val="0"/>
                        </a:schemeClr>
                      </a:solidFill>
                    </a:lnB>
                  </a:tcPr>
                </a:tc>
                <a:tc>
                  <a:txBody>
                    <a:bodyPr/>
                    <a:lstStyle/>
                    <a:p>
                      <a:pPr algn="ctr">
                        <a:lnSpc>
                          <a:spcPct val="115000"/>
                        </a:lnSpc>
                        <a:defRPr sz="1800"/>
                      </a:pPr>
                      <a:r>
                        <a:rPr b="1" sz="800">
                          <a:latin typeface="Open Sans"/>
                          <a:ea typeface="Open Sans"/>
                          <a:cs typeface="Open Sans"/>
                          <a:sym typeface="Open Sans"/>
                        </a:rPr>
                        <a:t>LightGBM with LambdaRank objective</a:t>
                      </a:r>
                    </a:p>
                  </a:txBody>
                  <a:tcPr marL="91425" marR="91425" marT="91425" marB="91425" anchor="t" anchorCtr="0" horzOverflow="overflow">
                    <a:lnL w="12700">
                      <a:solidFill>
                        <a:srgbClr val="FFFFFF"/>
                      </a:solidFill>
                    </a:lnL>
                    <a:lnR>
                      <a:solidFill>
                        <a:schemeClr val="accent1"/>
                      </a:solidFill>
                    </a:lnR>
                    <a:lnT>
                      <a:solidFill>
                        <a:schemeClr val="accent1"/>
                      </a:solidFill>
                    </a:lnT>
                    <a:lnB w="19050">
                      <a:solidFill>
                        <a:schemeClr val="accent1"/>
                      </a:solidFill>
                    </a:lnB>
                  </a:tcPr>
                </a:tc>
              </a:tr>
              <a:tr h="524500">
                <a:tc>
                  <a:txBody>
                    <a:bodyPr/>
                    <a:lstStyle/>
                    <a:p>
                      <a:pPr algn="l">
                        <a:defRPr sz="1800"/>
                      </a:pPr>
                      <a:r>
                        <a:rPr b="1" sz="800">
                          <a:latin typeface="Open Sans"/>
                          <a:ea typeface="Open Sans"/>
                          <a:cs typeface="Open Sans"/>
                          <a:sym typeface="Open Sans"/>
                        </a:rPr>
                        <a:t>Ranking Suitability</a:t>
                      </a:r>
                    </a:p>
                  </a:txBody>
                  <a:tcPr marL="91425" marR="91425" marT="91425" marB="91425" anchor="t" anchorCtr="0" horzOverflow="overflow">
                    <a:lnL>
                      <a:solidFill>
                        <a:schemeClr val="accent1"/>
                      </a:solidFill>
                    </a:lnL>
                    <a:lnR w="0">
                      <a:miter lim="400000"/>
                    </a:lnR>
                    <a:lnT w="19050">
                      <a:solidFill>
                        <a:schemeClr val="accent1"/>
                      </a:solidFill>
                    </a:lnT>
                  </a:tcPr>
                </a:tc>
                <a:tc>
                  <a:txBody>
                    <a:bodyPr/>
                    <a:lstStyle/>
                    <a:p>
                      <a:pPr algn="l">
                        <a:defRPr sz="1400">
                          <a:solidFill>
                            <a:srgbClr val="FFFFFF"/>
                          </a:solidFill>
                        </a:defRPr>
                      </a:pPr>
                    </a:p>
                  </a:txBody>
                  <a:tcPr marL="91425" marR="91425" marT="91425" marB="91425" anchor="t" anchorCtr="0" horzOverflow="overflow">
                    <a:lnL w="0">
                      <a:miter lim="400000"/>
                    </a:lnL>
                    <a:lnR w="0">
                      <a:miter lim="400000"/>
                    </a:lnR>
                    <a:lnT w="19050">
                      <a:solidFill>
                        <a:schemeClr val="accent1">
                          <a:alpha val="0"/>
                        </a:schemeClr>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Predicts ranking indirectly, learning by relationships present in a row, and not by relationships between rows.</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0">
                      <a:miter lim="400000"/>
                    </a:lnL>
                    <a:lnR w="12700">
                      <a:solidFill>
                        <a:srgbClr val="FFFFFF"/>
                      </a:solidFill>
                    </a:lnR>
                    <a:lnT w="19050">
                      <a:solidFill>
                        <a:schemeClr val="accent1"/>
                      </a:solidFill>
                    </a:lnT>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9050">
                      <a:solidFill>
                        <a:schemeClr val="accent1">
                          <a:alpha val="0"/>
                        </a:schemeClr>
                      </a:solidFill>
                    </a:lnT>
                  </a:tcPr>
                </a:tc>
                <a:tc>
                  <a:txBody>
                    <a:bodyPr/>
                    <a:lstStyle/>
                    <a:p>
                      <a:pPr algn="ctr">
                        <a:lnSpc>
                          <a:spcPct val="115000"/>
                        </a:lnSpc>
                        <a:defRPr sz="800">
                          <a:latin typeface="Open Sans"/>
                          <a:ea typeface="Open Sans"/>
                          <a:cs typeface="Open Sans"/>
                          <a:sym typeface="Open Sans"/>
                        </a:defRPr>
                      </a:pPr>
                      <a:r>
                        <a:t>LambdaRank is specifically designed to learn relative ordering within candidate groups and optimise ranking.</a:t>
                      </a:r>
                    </a:p>
                    <a:p>
                      <a:pPr algn="ctr">
                        <a:lnSpc>
                          <a:spcPct val="115000"/>
                        </a:lnSpc>
                        <a:defRPr sz="800">
                          <a:latin typeface="Open Sans"/>
                          <a:ea typeface="Open Sans"/>
                          <a:cs typeface="Open Sans"/>
                          <a:sym typeface="Open Sans"/>
                        </a:defRPr>
                      </a:pPr>
                      <a:r>
                        <a:t>🔵🔵🔵 </a:t>
                      </a:r>
                    </a:p>
                  </a:txBody>
                  <a:tcPr marL="91425" marR="91425" marT="91425" marB="91425" anchor="t" anchorCtr="0" horzOverflow="overflow">
                    <a:lnL w="12700">
                      <a:solidFill>
                        <a:srgbClr val="FFFFFF"/>
                      </a:solidFill>
                    </a:lnL>
                    <a:lnR>
                      <a:solidFill>
                        <a:schemeClr val="accent1"/>
                      </a:solidFill>
                    </a:lnR>
                    <a:lnT w="19050">
                      <a:solidFill>
                        <a:schemeClr val="accent1"/>
                      </a:solidFill>
                    </a:lnT>
                  </a:tcPr>
                </a:tc>
              </a:tr>
              <a:tr h="415449">
                <a:tc>
                  <a:txBody>
                    <a:bodyPr/>
                    <a:lstStyle/>
                    <a:p>
                      <a:pPr algn="l">
                        <a:defRPr sz="1800"/>
                      </a:pPr>
                      <a:r>
                        <a:rPr b="1" sz="800">
                          <a:latin typeface="Open Sans"/>
                          <a:ea typeface="Open Sans"/>
                          <a:cs typeface="Open Sans"/>
                          <a:sym typeface="Open Sans"/>
                        </a:rPr>
                        <a:t>Mixed Data Handling</a:t>
                      </a:r>
                    </a:p>
                  </a:txBody>
                  <a:tcPr marL="91425" marR="91425" marT="91425" marB="91425" anchor="t" anchorCtr="0" horzOverflow="overflow">
                    <a:lnL>
                      <a:solidFill>
                        <a:schemeClr val="accent1"/>
                      </a:solidFill>
                    </a:lnL>
                    <a:lnR w="12700">
                      <a:solidFill>
                        <a:srgbClr val="FFFFFF"/>
                      </a:solidFill>
                    </a:lnR>
                  </a:tcPr>
                </a:tc>
                <a:tc>
                  <a:txBody>
                    <a:bodyPr/>
                    <a:lstStyle/>
                    <a:p>
                      <a:pPr algn="l">
                        <a:defRPr sz="1400">
                          <a:solidFill>
                            <a:srgbClr val="FFFFFF"/>
                          </a:solidFill>
                        </a:defRPr>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Supports numerical variables, and encoded categorical variables.</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B w="12700">
                      <a:solidFill>
                        <a:srgbClr val="FFFFFF"/>
                      </a:solidFill>
                    </a:lnB>
                  </a:tcPr>
                </a:tc>
                <a:tc>
                  <a:txBody>
                    <a:bodyPr/>
                    <a:lstStyle/>
                    <a:p>
                      <a:pPr algn="ctr">
                        <a:lnSpc>
                          <a:spcPct val="115000"/>
                        </a:lnSpc>
                        <a:defRPr sz="800">
                          <a:latin typeface="Open Sans"/>
                          <a:ea typeface="Open Sans"/>
                          <a:cs typeface="Open Sans"/>
                          <a:sym typeface="Open Sans"/>
                        </a:defRPr>
                      </a:pPr>
                      <a:r>
                        <a:t>Supports numerical and categorical features.</a:t>
                      </a:r>
                    </a:p>
                    <a:p>
                      <a:pPr algn="ctr">
                        <a:lnSpc>
                          <a:spcPct val="115000"/>
                        </a:lnSpc>
                        <a:defRPr sz="800">
                          <a:latin typeface="Open Sans"/>
                          <a:ea typeface="Open Sans"/>
                          <a:cs typeface="Open Sans"/>
                          <a:sym typeface="Open Sans"/>
                        </a:defRPr>
                      </a:pPr>
                      <a:r>
                        <a:t>🔵🔵🔵 </a:t>
                      </a:r>
                    </a:p>
                  </a:txBody>
                  <a:tcPr marL="91425" marR="91425" marT="91425" marB="91425" anchor="t" anchorCtr="0" horzOverflow="overflow">
                    <a:lnL w="12700">
                      <a:solidFill>
                        <a:srgbClr val="FFFFFF"/>
                      </a:solidFill>
                    </a:lnL>
                    <a:lnR>
                      <a:solidFill>
                        <a:schemeClr val="accent1"/>
                      </a:solidFill>
                    </a:lnR>
                  </a:tcPr>
                </a:tc>
              </a:tr>
              <a:tr h="524500">
                <a:tc>
                  <a:txBody>
                    <a:bodyPr/>
                    <a:lstStyle/>
                    <a:p>
                      <a:pPr algn="l">
                        <a:defRPr sz="1800"/>
                      </a:pPr>
                      <a:r>
                        <a:rPr b="1" sz="800">
                          <a:latin typeface="Open Sans"/>
                          <a:ea typeface="Open Sans"/>
                          <a:cs typeface="Open Sans"/>
                          <a:sym typeface="Open Sans"/>
                        </a:rPr>
                        <a:t>Non-linear Relationships &amp; Interactions</a:t>
                      </a:r>
                    </a:p>
                  </a:txBody>
                  <a:tcPr marL="91425" marR="91425" marT="91425" marB="91425" anchor="t" anchorCtr="0" horzOverflow="overflow">
                    <a:lnL>
                      <a:solidFill>
                        <a:schemeClr val="accent1"/>
                      </a:solidFill>
                    </a:lnL>
                    <a:lnR w="12700">
                      <a:solidFill>
                        <a:srgbClr val="FFFFFF"/>
                      </a:solidFill>
                    </a:lnR>
                  </a:tcPr>
                </a:tc>
                <a:tc>
                  <a:txBody>
                    <a:bodyPr/>
                    <a:lstStyle/>
                    <a:p>
                      <a:pPr algn="l">
                        <a:defRPr sz="1400">
                          <a:solidFill>
                            <a:srgbClr val="FFFFFF"/>
                          </a:solidFill>
                        </a:defRPr>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Primarily learns linear/additive relationships, or requires feature engineering.</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As a Decision trees model, it naturally capture non-linear relationships and interactions between features.</a:t>
                      </a:r>
                    </a:p>
                    <a:p>
                      <a:pPr algn="ctr">
                        <a:lnSpc>
                          <a:spcPct val="115000"/>
                        </a:lnSpc>
                        <a:defRPr sz="800">
                          <a:latin typeface="Open Sans"/>
                          <a:ea typeface="Open Sans"/>
                          <a:cs typeface="Open Sans"/>
                          <a:sym typeface="Open Sans"/>
                        </a:defRPr>
                      </a:pPr>
                      <a:r>
                        <a:t>🔵🔵🔵 </a:t>
                      </a:r>
                    </a:p>
                  </a:txBody>
                  <a:tcPr marL="91425" marR="91425" marT="91425" marB="91425" anchor="t" anchorCtr="0" horzOverflow="overflow">
                    <a:lnL w="12700">
                      <a:solidFill>
                        <a:srgbClr val="FFFFFF"/>
                      </a:solidFill>
                    </a:lnL>
                    <a:lnR>
                      <a:solidFill>
                        <a:schemeClr val="accent1"/>
                      </a:solidFill>
                    </a:lnR>
                  </a:tcPr>
                </a:tc>
              </a:tr>
              <a:tr h="524500">
                <a:tc>
                  <a:txBody>
                    <a:bodyPr/>
                    <a:lstStyle/>
                    <a:p>
                      <a:pPr algn="l">
                        <a:defRPr sz="1800"/>
                      </a:pPr>
                      <a:r>
                        <a:rPr b="1" sz="800">
                          <a:latin typeface="Open Sans"/>
                          <a:ea typeface="Open Sans"/>
                          <a:cs typeface="Open Sans"/>
                          <a:sym typeface="Open Sans"/>
                        </a:rPr>
                        <a:t>High-Cardinality Handling</a:t>
                      </a:r>
                    </a:p>
                  </a:txBody>
                  <a:tcPr marL="91425" marR="91425" marT="91425" marB="91425" anchor="t" anchorCtr="0" horzOverflow="overflow">
                    <a:lnL>
                      <a:solidFill>
                        <a:schemeClr val="accent1"/>
                      </a:solidFill>
                    </a:lnL>
                    <a:lnR w="0">
                      <a:miter lim="400000"/>
                    </a:lnR>
                  </a:tcPr>
                </a:tc>
                <a:tc>
                  <a:txBody>
                    <a:bodyPr/>
                    <a:lstStyle/>
                    <a:p>
                      <a:pPr algn="l">
                        <a:defRPr sz="1400">
                          <a:solidFill>
                            <a:srgbClr val="FFFFFF"/>
                          </a:solidFill>
                        </a:defRPr>
                      </a:pPr>
                    </a:p>
                  </a:txBody>
                  <a:tcPr marL="91425" marR="91425" marT="91425" marB="91425" anchor="t" anchorCtr="0" horzOverflow="overflow">
                    <a:lnL w="0">
                      <a:miter lim="400000"/>
                    </a:lnL>
                    <a:lnR w="0">
                      <a:miter lim="400000"/>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Requires encoding for categorical variable, which can lead to very large sparse feature spaces.</a:t>
                      </a:r>
                    </a:p>
                    <a:p>
                      <a:pPr algn="ctr">
                        <a:lnSpc>
                          <a:spcPct val="115000"/>
                        </a:lnSpc>
                        <a:defRPr sz="800">
                          <a:latin typeface="Open Sans"/>
                          <a:ea typeface="Open Sans"/>
                          <a:cs typeface="Open Sans"/>
                          <a:sym typeface="Open Sans"/>
                        </a:defRPr>
                      </a:pPr>
                      <a:r>
                        <a:t>🔵⚪⚪ </a:t>
                      </a:r>
                    </a:p>
                  </a:txBody>
                  <a:tcPr marL="91425" marR="91425" marT="91425" marB="91425" anchor="t" anchorCtr="0" horzOverflow="overflow">
                    <a:lnL w="0">
                      <a:miter lim="400000"/>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Doesn’t require one-hot encoding, which helps maintain a lower feature space.</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a:solidFill>
                        <a:schemeClr val="accent1"/>
                      </a:solidFill>
                    </a:lnR>
                  </a:tcPr>
                </a:tc>
              </a:tr>
              <a:tr h="524500">
                <a:tc>
                  <a:txBody>
                    <a:bodyPr/>
                    <a:lstStyle/>
                    <a:p>
                      <a:pPr algn="l">
                        <a:defRPr sz="1800"/>
                      </a:pPr>
                      <a:r>
                        <a:rPr b="1" sz="800">
                          <a:latin typeface="Open Sans"/>
                          <a:ea typeface="Open Sans"/>
                          <a:cs typeface="Open Sans"/>
                          <a:sym typeface="Open Sans"/>
                        </a:rPr>
                        <a:t>Scalability / Computational Efficiency</a:t>
                      </a:r>
                    </a:p>
                  </a:txBody>
                  <a:tcPr marL="91425" marR="91425" marT="91425" marB="91425" anchor="t" anchorCtr="0" horzOverflow="overflow">
                    <a:lnL>
                      <a:solidFill>
                        <a:schemeClr val="accent1"/>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Comparatively simple but with large dataset can computationally expensive.</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Designed for efficient training on large tabular datasets, but much more computationally complex than LR</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a:solidFill>
                        <a:schemeClr val="accent1"/>
                      </a:solidFill>
                    </a:lnR>
                  </a:tcPr>
                </a:tc>
              </a:tr>
              <a:tr h="415449">
                <a:tc>
                  <a:txBody>
                    <a:bodyPr/>
                    <a:lstStyle/>
                    <a:p>
                      <a:pPr algn="l">
                        <a:defRPr sz="1800"/>
                      </a:pPr>
                      <a:r>
                        <a:rPr b="1" sz="800">
                          <a:latin typeface="Open Sans"/>
                          <a:ea typeface="Open Sans"/>
                          <a:cs typeface="Open Sans"/>
                          <a:sym typeface="Open Sans"/>
                        </a:rPr>
                        <a:t>Explainability</a:t>
                      </a:r>
                    </a:p>
                  </a:txBody>
                  <a:tcPr marL="91425" marR="91425" marT="91425" marB="91425" anchor="t" anchorCtr="0" horzOverflow="overflow">
                    <a:lnL>
                      <a:solidFill>
                        <a:schemeClr val="accent1"/>
                      </a:solidFill>
                    </a:lnL>
                    <a:lnR w="0">
                      <a:miter lim="400000"/>
                    </a:lnR>
                    <a:lnB>
                      <a:solidFill>
                        <a:schemeClr val="accent1"/>
                      </a:solidFill>
                    </a:lnB>
                  </a:tcPr>
                </a:tc>
                <a:tc>
                  <a:txBody>
                    <a:bodyPr/>
                    <a:lstStyle/>
                    <a:p>
                      <a:pPr algn="l">
                        <a:defRPr sz="1400"/>
                      </a:pPr>
                    </a:p>
                  </a:txBody>
                  <a:tcPr marL="91425" marR="91425" marT="91425" marB="91425" anchor="t" anchorCtr="0" horzOverflow="overflow">
                    <a:lnL w="0">
                      <a:miter lim="400000"/>
                    </a:lnL>
                    <a:lnR w="0">
                      <a:miter lim="400000"/>
                    </a:lnR>
                    <a:lnT w="12700">
                      <a:solidFill>
                        <a:srgbClr val="FFFFFF"/>
                      </a:solidFill>
                    </a:lnT>
                    <a:lnB w="0">
                      <a:miter lim="400000"/>
                    </a:lnB>
                  </a:tcPr>
                </a:tc>
                <a:tc>
                  <a:txBody>
                    <a:bodyPr/>
                    <a:lstStyle/>
                    <a:p>
                      <a:pPr algn="ctr">
                        <a:lnSpc>
                          <a:spcPct val="115000"/>
                        </a:lnSpc>
                        <a:defRPr sz="800">
                          <a:latin typeface="Open Sans"/>
                          <a:ea typeface="Open Sans"/>
                          <a:cs typeface="Open Sans"/>
                          <a:sym typeface="Open Sans"/>
                        </a:defRPr>
                      </a:pPr>
                      <a:r>
                        <a:t>Coefficients allows straightforward interpretation.</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0">
                      <a:miter lim="400000"/>
                    </a:lnL>
                    <a:lnR w="12700">
                      <a:solidFill>
                        <a:srgbClr val="FFFFFF"/>
                      </a:solidFill>
                    </a:lnR>
                    <a:lnB>
                      <a:solidFill>
                        <a:schemeClr val="accent1"/>
                      </a:solidFill>
                    </a:lnB>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a:solidFill>
                        <a:srgbClr val="FFFFFF"/>
                      </a:solidFill>
                    </a:lnB>
                  </a:tcPr>
                </a:tc>
                <a:tc>
                  <a:txBody>
                    <a:bodyPr/>
                    <a:lstStyle/>
                    <a:p>
                      <a:pPr algn="ctr">
                        <a:lnSpc>
                          <a:spcPct val="115000"/>
                        </a:lnSpc>
                        <a:defRPr sz="800">
                          <a:latin typeface="Open Sans"/>
                          <a:ea typeface="Open Sans"/>
                          <a:cs typeface="Open Sans"/>
                          <a:sym typeface="Open Sans"/>
                        </a:defRPr>
                      </a:pPr>
                      <a:r>
                        <a:t>Less interpretable, but supported by techniques such as SHAP.</a:t>
                      </a:r>
                    </a:p>
                    <a:p>
                      <a:pPr algn="ctr">
                        <a:lnSpc>
                          <a:spcPct val="115000"/>
                        </a:lnSpc>
                        <a:defRPr sz="800">
                          <a:latin typeface="Open Sans"/>
                          <a:ea typeface="Open Sans"/>
                          <a:cs typeface="Open Sans"/>
                          <a:sym typeface="Open Sans"/>
                        </a:defRPr>
                      </a:pPr>
                      <a:r>
                        <a:t>🔵🔵⚪ </a:t>
                      </a:r>
                    </a:p>
                  </a:txBody>
                  <a:tcPr marL="91425" marR="91425" marT="91425" marB="91425" anchor="t" anchorCtr="0" horzOverflow="overflow">
                    <a:lnL w="12700">
                      <a:solidFill>
                        <a:srgbClr val="FFFFFF"/>
                      </a:solidFill>
                    </a:lnL>
                    <a:lnR>
                      <a:solidFill>
                        <a:schemeClr val="accent1"/>
                      </a:solidFill>
                    </a:lnR>
                    <a:lnB>
                      <a:solidFill>
                        <a:schemeClr val="accent1"/>
                      </a:solidFill>
                    </a:lnB>
                  </a:tcPr>
                </a:tc>
              </a:tr>
            </a:tbl>
          </a:graphicData>
        </a:graphic>
      </p:graphicFrame>
      <p:sp>
        <p:nvSpPr>
          <p:cNvPr id="431" name="Google Shape;434;p50"/>
          <p:cNvSpPr txBox="1"/>
          <p:nvPr/>
        </p:nvSpPr>
        <p:spPr>
          <a:xfrm>
            <a:off x="2156262" y="63528"/>
            <a:ext cx="4831502"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800">
                <a:latin typeface="Open Sans"/>
                <a:ea typeface="Open Sans"/>
                <a:cs typeface="Open Sans"/>
                <a:sym typeface="Open Sans"/>
              </a:defRPr>
            </a:lvl1pPr>
          </a:lstStyle>
          <a:p>
            <a:pPr/>
            <a:r>
              <a:t>A: Classical ML Model Comparison</a:t>
            </a:r>
          </a:p>
        </p:txBody>
      </p:sp>
      <p:sp>
        <p:nvSpPr>
          <p:cNvPr id="432" name="Google Shape;436;p50"/>
          <p:cNvSpPr txBox="1"/>
          <p:nvPr/>
        </p:nvSpPr>
        <p:spPr>
          <a:xfrm>
            <a:off x="315300" y="4640622"/>
            <a:ext cx="8513400" cy="478428"/>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lnSpc>
                <a:spcPct val="115000"/>
              </a:lnSpc>
              <a:defRPr i="1" sz="1000"/>
            </a:lvl1pPr>
          </a:lstStyle>
          <a:p>
            <a:pPr/>
            <a:r>
              <a:t>Sources: Covington, Adams and Sargin, 2016; Sugiura, Yamagishi and Kishimoto, 2024; Géron, 2025; Devanathan et al., 2025; Zaidi, Rincon and Hassantabar, 2026</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434" name="Google Shape;442;p51"/>
          <p:cNvGraphicFramePr/>
          <p:nvPr/>
        </p:nvGraphicFramePr>
        <p:xfrm>
          <a:off x="315362" y="510209"/>
          <a:ext cx="8513276" cy="33038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97325"/>
                <a:gridCol w="114300"/>
                <a:gridCol w="3549424"/>
                <a:gridCol w="114300"/>
                <a:gridCol w="3737925"/>
              </a:tblGrid>
              <a:tr h="279400">
                <a:tc>
                  <a:txBody>
                    <a:bodyPr/>
                    <a:lstStyle/>
                    <a:p>
                      <a:pPr algn="l">
                        <a:lnSpc>
                          <a:spcPct val="115000"/>
                        </a:lnSpc>
                        <a:defRPr sz="1800"/>
                      </a:pPr>
                      <a:r>
                        <a:rPr b="1" sz="800">
                          <a:latin typeface="Open Sans"/>
                          <a:ea typeface="Open Sans"/>
                          <a:cs typeface="Open Sans"/>
                          <a:sym typeface="Open Sans"/>
                        </a:rPr>
                        <a:t>Criteria</a:t>
                      </a:r>
                    </a:p>
                  </a:txBody>
                  <a:tcPr marL="91425" marR="91425" marT="91425" marB="91425" anchor="t" anchorCtr="0" horzOverflow="overflow">
                    <a:lnL>
                      <a:solidFill>
                        <a:schemeClr val="accent1"/>
                      </a:solidFill>
                    </a:lnL>
                    <a:lnR w="12700">
                      <a:solidFill>
                        <a:srgbClr val="FFFFFF"/>
                      </a:solidFill>
                    </a:lnR>
                    <a:lnT>
                      <a:solidFill>
                        <a:schemeClr val="accent1"/>
                      </a:solidFill>
                    </a:lnT>
                    <a:lnB w="19050">
                      <a:solidFill>
                        <a:schemeClr val="accent1"/>
                      </a:solidFill>
                    </a:lnB>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a:solidFill>
                        <a:srgbClr val="FFFFFF"/>
                      </a:solidFill>
                    </a:lnT>
                    <a:lnB w="19050">
                      <a:solidFill>
                        <a:schemeClr val="accent1">
                          <a:alpha val="0"/>
                        </a:schemeClr>
                      </a:solidFill>
                    </a:lnB>
                  </a:tcPr>
                </a:tc>
                <a:tc>
                  <a:txBody>
                    <a:bodyPr/>
                    <a:lstStyle/>
                    <a:p>
                      <a:pPr algn="ctr">
                        <a:lnSpc>
                          <a:spcPct val="115000"/>
                        </a:lnSpc>
                        <a:defRPr sz="1800"/>
                      </a:pPr>
                      <a:r>
                        <a:rPr b="1" sz="800">
                          <a:latin typeface="Open Sans"/>
                          <a:ea typeface="Open Sans"/>
                          <a:cs typeface="Open Sans"/>
                          <a:sym typeface="Open Sans"/>
                        </a:rPr>
                        <a:t>Dense Neural Network / MLP</a:t>
                      </a:r>
                    </a:p>
                  </a:txBody>
                  <a:tcPr marL="91425" marR="91425" marT="91425" marB="91425" anchor="t" anchorCtr="0" horzOverflow="overflow">
                    <a:lnL w="12700">
                      <a:solidFill>
                        <a:srgbClr val="FFFFFF"/>
                      </a:solidFill>
                    </a:lnL>
                    <a:lnR w="12700">
                      <a:solidFill>
                        <a:srgbClr val="FFFFFF"/>
                      </a:solidFill>
                    </a:lnR>
                    <a:lnT>
                      <a:solidFill>
                        <a:schemeClr val="accent1"/>
                      </a:solidFill>
                    </a:lnT>
                    <a:lnB w="19050">
                      <a:solidFill>
                        <a:schemeClr val="accent1"/>
                      </a:solidFill>
                    </a:lnB>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a:solidFill>
                        <a:srgbClr val="FFFFFF"/>
                      </a:solidFill>
                    </a:lnT>
                    <a:lnB w="19050">
                      <a:solidFill>
                        <a:srgbClr val="FFFFFF"/>
                      </a:solidFill>
                    </a:lnB>
                  </a:tcPr>
                </a:tc>
                <a:tc>
                  <a:txBody>
                    <a:bodyPr/>
                    <a:lstStyle/>
                    <a:p>
                      <a:pPr algn="ctr">
                        <a:lnSpc>
                          <a:spcPct val="115000"/>
                        </a:lnSpc>
                        <a:defRPr sz="1800"/>
                      </a:pPr>
                      <a:r>
                        <a:rPr b="1" sz="800">
                          <a:latin typeface="Open Sans"/>
                          <a:ea typeface="Open Sans"/>
                          <a:cs typeface="Open Sans"/>
                          <a:sym typeface="Open Sans"/>
                        </a:rPr>
                        <a:t>Wide &amp; Deep NN</a:t>
                      </a:r>
                    </a:p>
                  </a:txBody>
                  <a:tcPr marL="91425" marR="91425" marT="91425" marB="91425" anchor="t" anchorCtr="0" horzOverflow="overflow">
                    <a:lnL w="12700">
                      <a:solidFill>
                        <a:srgbClr val="FFFFFF"/>
                      </a:solidFill>
                    </a:lnL>
                    <a:lnR>
                      <a:solidFill>
                        <a:schemeClr val="accent1"/>
                      </a:solidFill>
                    </a:lnR>
                    <a:lnT>
                      <a:solidFill>
                        <a:schemeClr val="accent1"/>
                      </a:solidFill>
                    </a:lnT>
                    <a:lnB w="19050">
                      <a:solidFill>
                        <a:schemeClr val="accent1"/>
                      </a:solidFill>
                    </a:lnB>
                  </a:tcPr>
                </a:tc>
              </a:tr>
              <a:tr h="524500">
                <a:tc>
                  <a:txBody>
                    <a:bodyPr/>
                    <a:lstStyle/>
                    <a:p>
                      <a:pPr algn="l">
                        <a:defRPr sz="1800"/>
                      </a:pPr>
                      <a:r>
                        <a:rPr b="1" sz="800">
                          <a:latin typeface="Open Sans"/>
                          <a:ea typeface="Open Sans"/>
                          <a:cs typeface="Open Sans"/>
                          <a:sym typeface="Open Sans"/>
                        </a:rPr>
                        <a:t>Ranking Suitability</a:t>
                      </a:r>
                    </a:p>
                  </a:txBody>
                  <a:tcPr marL="91425" marR="91425" marT="91425" marB="91425" anchor="t" anchorCtr="0" horzOverflow="overflow">
                    <a:lnL>
                      <a:solidFill>
                        <a:schemeClr val="accent1"/>
                      </a:solidFill>
                    </a:lnL>
                    <a:lnR w="12700">
                      <a:solidFill>
                        <a:srgbClr val="FFFFFF"/>
                      </a:solidFill>
                    </a:lnR>
                    <a:lnT w="19050">
                      <a:solidFill>
                        <a:schemeClr val="accent1"/>
                      </a:solidFill>
                    </a:lnT>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9050">
                      <a:solidFill>
                        <a:schemeClr val="accent1">
                          <a:alpha val="0"/>
                        </a:schemeClr>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assigns relevance scores to individual candidates, which can then be sorted into a ranking.</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w="12700">
                      <a:solidFill>
                        <a:srgbClr val="FFFFFF"/>
                      </a:solidFill>
                    </a:lnR>
                    <a:lnT w="19050">
                      <a:solidFill>
                        <a:schemeClr val="accent1"/>
                      </a:solidFill>
                    </a:lnT>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905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Assigns relevance scores to individual candidates, which can then be sorted into a ranking.</a:t>
                      </a:r>
                    </a:p>
                    <a:p>
                      <a:pPr algn="ctr">
                        <a:lnSpc>
                          <a:spcPct val="115000"/>
                        </a:lnSpc>
                        <a:defRPr sz="800">
                          <a:latin typeface="Open Sans"/>
                          <a:ea typeface="Open Sans"/>
                          <a:cs typeface="Open Sans"/>
                          <a:sym typeface="Open Sans"/>
                        </a:defRPr>
                      </a:pPr>
                      <a:r>
                        <a:t>🔵🔵⚪ </a:t>
                      </a:r>
                    </a:p>
                  </a:txBody>
                  <a:tcPr marL="91425" marR="91425" marT="91425" marB="91425" anchor="t" anchorCtr="0" horzOverflow="overflow">
                    <a:lnL w="12700">
                      <a:solidFill>
                        <a:srgbClr val="FFFFFF"/>
                      </a:solidFill>
                    </a:lnL>
                    <a:lnR>
                      <a:solidFill>
                        <a:schemeClr val="accent1"/>
                      </a:solidFill>
                    </a:lnR>
                    <a:lnT w="19050">
                      <a:solidFill>
                        <a:schemeClr val="accent1"/>
                      </a:solidFill>
                    </a:lnT>
                  </a:tcPr>
                </a:tc>
              </a:tr>
              <a:tr h="415449">
                <a:tc>
                  <a:txBody>
                    <a:bodyPr/>
                    <a:lstStyle/>
                    <a:p>
                      <a:pPr algn="l">
                        <a:defRPr sz="1800"/>
                      </a:pPr>
                      <a:r>
                        <a:rPr b="1" sz="800">
                          <a:latin typeface="Open Sans"/>
                          <a:ea typeface="Open Sans"/>
                          <a:cs typeface="Open Sans"/>
                          <a:sym typeface="Open Sans"/>
                        </a:rPr>
                        <a:t>Mixed Data Handling</a:t>
                      </a:r>
                    </a:p>
                  </a:txBody>
                  <a:tcPr marL="91425" marR="91425" marT="91425" marB="91425" anchor="t" anchorCtr="0" horzOverflow="overflow">
                    <a:lnL>
                      <a:solidFill>
                        <a:schemeClr val="accent1"/>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Supports continuous features and categorical/contextual features through encoding or embeddings.</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Combines a direct “wide” pathway with a deep pathway, allowing different feature representations to contribute to predictions.</a:t>
                      </a:r>
                    </a:p>
                    <a:p>
                      <a:pPr algn="ctr">
                        <a:lnSpc>
                          <a:spcPct val="115000"/>
                        </a:lnSpc>
                        <a:defRPr sz="800">
                          <a:latin typeface="Open Sans"/>
                          <a:ea typeface="Open Sans"/>
                          <a:cs typeface="Open Sans"/>
                          <a:sym typeface="Open Sans"/>
                        </a:defRPr>
                      </a:pPr>
                      <a:r>
                        <a:t>🔵🔵🔵 </a:t>
                      </a:r>
                    </a:p>
                  </a:txBody>
                  <a:tcPr marL="91425" marR="91425" marT="91425" marB="91425" anchor="t" anchorCtr="0" horzOverflow="overflow">
                    <a:lnL w="12700">
                      <a:solidFill>
                        <a:srgbClr val="FFFFFF"/>
                      </a:solidFill>
                    </a:lnL>
                    <a:lnR>
                      <a:solidFill>
                        <a:schemeClr val="accent1"/>
                      </a:solidFill>
                    </a:lnR>
                  </a:tcPr>
                </a:tc>
              </a:tr>
              <a:tr h="620050">
                <a:tc>
                  <a:txBody>
                    <a:bodyPr/>
                    <a:lstStyle/>
                    <a:p>
                      <a:pPr algn="l">
                        <a:defRPr sz="1800"/>
                      </a:pPr>
                      <a:r>
                        <a:rPr b="1" sz="800">
                          <a:latin typeface="Open Sans"/>
                          <a:ea typeface="Open Sans"/>
                          <a:cs typeface="Open Sans"/>
                          <a:sym typeface="Open Sans"/>
                        </a:rPr>
                        <a:t>Non-linear Relationships &amp; Interactions</a:t>
                      </a:r>
                    </a:p>
                  </a:txBody>
                  <a:tcPr marL="91425" marR="91425" marT="91425" marB="91425" anchor="t" anchorCtr="0" horzOverflow="overflow">
                    <a:lnL>
                      <a:solidFill>
                        <a:schemeClr val="accent1"/>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Can learn complex non-linear relationships and feature interactions.</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Deep layers learn complex non-linear relationships, while the wide pathway preserves direct feature relationships.</a:t>
                      </a:r>
                    </a:p>
                    <a:p>
                      <a:pPr algn="ctr">
                        <a:lnSpc>
                          <a:spcPct val="115000"/>
                        </a:lnSpc>
                        <a:defRPr sz="800">
                          <a:latin typeface="Open Sans"/>
                          <a:ea typeface="Open Sans"/>
                          <a:cs typeface="Open Sans"/>
                          <a:sym typeface="Open Sans"/>
                        </a:defRPr>
                      </a:pPr>
                      <a:r>
                        <a:t>🔵🔵🔵 </a:t>
                      </a:r>
                    </a:p>
                  </a:txBody>
                  <a:tcPr marL="91425" marR="91425" marT="91425" marB="91425" anchor="t" anchorCtr="0" horzOverflow="overflow">
                    <a:lnL w="12700">
                      <a:solidFill>
                        <a:srgbClr val="FFFFFF"/>
                      </a:solidFill>
                    </a:lnL>
                    <a:lnR>
                      <a:solidFill>
                        <a:schemeClr val="accent1"/>
                      </a:solidFill>
                    </a:lnR>
                  </a:tcPr>
                </a:tc>
              </a:tr>
              <a:tr h="524500">
                <a:tc>
                  <a:txBody>
                    <a:bodyPr/>
                    <a:lstStyle/>
                    <a:p>
                      <a:pPr algn="l">
                        <a:defRPr sz="1800"/>
                      </a:pPr>
                      <a:r>
                        <a:rPr b="1" sz="800">
                          <a:latin typeface="Open Sans"/>
                          <a:ea typeface="Open Sans"/>
                          <a:cs typeface="Open Sans"/>
                          <a:sym typeface="Open Sans"/>
                        </a:rPr>
                        <a:t>High Cardinality Handling</a:t>
                      </a:r>
                    </a:p>
                  </a:txBody>
                  <a:tcPr marL="91425" marR="91425" marT="91425" marB="91425" anchor="t" anchorCtr="0" horzOverflow="overflow">
                    <a:lnL>
                      <a:solidFill>
                        <a:schemeClr val="accent1"/>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Supports learned embeddings for high cardinality categorical features.</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Supports learned embeddings for high-cardinality categorical features.</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a:solidFill>
                        <a:schemeClr val="accent1"/>
                      </a:solidFill>
                    </a:lnR>
                  </a:tcPr>
                </a:tc>
              </a:tr>
              <a:tr h="524500">
                <a:tc>
                  <a:txBody>
                    <a:bodyPr/>
                    <a:lstStyle/>
                    <a:p>
                      <a:pPr algn="l">
                        <a:defRPr sz="1800"/>
                      </a:pPr>
                      <a:r>
                        <a:rPr b="1" sz="800">
                          <a:latin typeface="Open Sans"/>
                          <a:ea typeface="Open Sans"/>
                          <a:cs typeface="Open Sans"/>
                          <a:sym typeface="Open Sans"/>
                        </a:rPr>
                        <a:t>Scalability / Computational Efficiency</a:t>
                      </a:r>
                    </a:p>
                  </a:txBody>
                  <a:tcPr marL="91425" marR="91425" marT="91425" marB="91425" anchor="t" anchorCtr="0" horzOverflow="overflow">
                    <a:lnL>
                      <a:solidFill>
                        <a:schemeClr val="accent1"/>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Scalable to large datasets, but requires greater computational resources and tuning.</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w="12700">
                      <a:solidFill>
                        <a:srgbClr val="FFFFFF"/>
                      </a:solidFill>
                    </a:lnR>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w="12700">
                      <a:solidFill>
                        <a:srgbClr val="FFFFFF"/>
                      </a:solidFill>
                    </a:lnB>
                  </a:tcPr>
                </a:tc>
                <a:tc>
                  <a:txBody>
                    <a:bodyPr/>
                    <a:lstStyle/>
                    <a:p>
                      <a:pPr algn="ctr">
                        <a:lnSpc>
                          <a:spcPct val="115000"/>
                        </a:lnSpc>
                        <a:defRPr sz="800">
                          <a:latin typeface="Open Sans"/>
                          <a:ea typeface="Open Sans"/>
                          <a:cs typeface="Open Sans"/>
                          <a:sym typeface="Open Sans"/>
                        </a:defRPr>
                      </a:pPr>
                      <a:r>
                        <a:t>Scalable to large datasets, but more computationally demanding and complex than a standard MLP.</a:t>
                      </a:r>
                    </a:p>
                    <a:p>
                      <a:pPr algn="ctr">
                        <a:lnSpc>
                          <a:spcPct val="115000"/>
                        </a:lnSpc>
                        <a:defRPr sz="800">
                          <a:latin typeface="Open Sans"/>
                          <a:ea typeface="Open Sans"/>
                          <a:cs typeface="Open Sans"/>
                          <a:sym typeface="Open Sans"/>
                        </a:defRPr>
                      </a:pPr>
                      <a:r>
                        <a:t>🔵⚪ ⚪ </a:t>
                      </a:r>
                    </a:p>
                  </a:txBody>
                  <a:tcPr marL="91425" marR="91425" marT="91425" marB="91425" anchor="t" anchorCtr="0" horzOverflow="overflow">
                    <a:lnL w="12700">
                      <a:solidFill>
                        <a:srgbClr val="FFFFFF"/>
                      </a:solidFill>
                    </a:lnL>
                    <a:lnR>
                      <a:solidFill>
                        <a:schemeClr val="accent1"/>
                      </a:solidFill>
                    </a:lnR>
                  </a:tcPr>
                </a:tc>
              </a:tr>
              <a:tr h="415449">
                <a:tc>
                  <a:txBody>
                    <a:bodyPr/>
                    <a:lstStyle/>
                    <a:p>
                      <a:pPr algn="l">
                        <a:defRPr sz="1800"/>
                      </a:pPr>
                      <a:r>
                        <a:rPr b="1" sz="800">
                          <a:latin typeface="Open Sans"/>
                          <a:ea typeface="Open Sans"/>
                          <a:cs typeface="Open Sans"/>
                          <a:sym typeface="Open Sans"/>
                        </a:rPr>
                        <a:t>Explainability</a:t>
                      </a:r>
                    </a:p>
                  </a:txBody>
                  <a:tcPr marL="91425" marR="91425" marT="91425" marB="91425" anchor="t" anchorCtr="0" horzOverflow="overflow">
                    <a:lnL>
                      <a:solidFill>
                        <a:schemeClr val="accent1"/>
                      </a:solidFill>
                    </a:lnL>
                    <a:lnR w="12700">
                      <a:solidFill>
                        <a:srgbClr val="FFFFFF"/>
                      </a:solidFill>
                    </a:lnR>
                    <a:lnB>
                      <a:solidFill>
                        <a:schemeClr val="accent1"/>
                      </a:solidFill>
                    </a:lnB>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a:solidFill>
                        <a:srgbClr val="FFFFFF"/>
                      </a:solidFill>
                    </a:lnB>
                  </a:tcPr>
                </a:tc>
                <a:tc>
                  <a:txBody>
                    <a:bodyPr/>
                    <a:lstStyle/>
                    <a:p>
                      <a:pPr algn="ctr">
                        <a:lnSpc>
                          <a:spcPct val="115000"/>
                        </a:lnSpc>
                        <a:defRPr sz="800">
                          <a:latin typeface="Open Sans"/>
                          <a:ea typeface="Open Sans"/>
                          <a:cs typeface="Open Sans"/>
                          <a:sym typeface="Open Sans"/>
                        </a:defRPr>
                      </a:pPr>
                      <a:r>
                        <a:t>Low explainability, but post-hoc XAI can be applied.</a:t>
                      </a:r>
                    </a:p>
                    <a:p>
                      <a:pPr algn="ctr">
                        <a:lnSpc>
                          <a:spcPct val="115000"/>
                        </a:lnSpc>
                        <a:defRPr sz="800">
                          <a:latin typeface="Open Sans"/>
                          <a:ea typeface="Open Sans"/>
                          <a:cs typeface="Open Sans"/>
                          <a:sym typeface="Open Sans"/>
                        </a:defRPr>
                      </a:pPr>
                      <a:r>
                        <a:t>🔵🔵⚪</a:t>
                      </a:r>
                    </a:p>
                  </a:txBody>
                  <a:tcPr marL="91425" marR="91425" marT="91425" marB="91425" anchor="t" anchorCtr="0" horzOverflow="overflow">
                    <a:lnL w="12700">
                      <a:solidFill>
                        <a:srgbClr val="FFFFFF"/>
                      </a:solidFill>
                    </a:lnL>
                    <a:lnR w="12700">
                      <a:solidFill>
                        <a:srgbClr val="FFFFFF"/>
                      </a:solidFill>
                    </a:lnR>
                    <a:lnB>
                      <a:solidFill>
                        <a:schemeClr val="accent1"/>
                      </a:solidFill>
                    </a:lnB>
                  </a:tcPr>
                </a:tc>
                <a:tc>
                  <a:txBody>
                    <a:bodyPr/>
                    <a:lstStyle/>
                    <a:p>
                      <a:pPr algn="l">
                        <a:defRPr sz="1400"/>
                      </a:pPr>
                    </a:p>
                  </a:txBody>
                  <a:tcPr marL="91425" marR="91425" marT="91425" marB="91425" anchor="t" anchorCtr="0" horzOverflow="overflow">
                    <a:lnL w="12700">
                      <a:solidFill>
                        <a:srgbClr val="FFFFFF"/>
                      </a:solidFill>
                    </a:lnL>
                    <a:lnR w="12700">
                      <a:solidFill>
                        <a:srgbClr val="FFFFFF"/>
                      </a:solidFill>
                    </a:lnR>
                    <a:lnT w="12700">
                      <a:solidFill>
                        <a:srgbClr val="FFFFFF"/>
                      </a:solidFill>
                    </a:lnT>
                    <a:lnB>
                      <a:solidFill>
                        <a:srgbClr val="FFFFFF"/>
                      </a:solidFill>
                    </a:lnB>
                  </a:tcPr>
                </a:tc>
                <a:tc>
                  <a:txBody>
                    <a:bodyPr/>
                    <a:lstStyle/>
                    <a:p>
                      <a:pPr algn="ctr">
                        <a:lnSpc>
                          <a:spcPct val="115000"/>
                        </a:lnSpc>
                        <a:defRPr sz="800">
                          <a:latin typeface="Open Sans"/>
                          <a:ea typeface="Open Sans"/>
                          <a:cs typeface="Open Sans"/>
                          <a:sym typeface="Open Sans"/>
                        </a:defRPr>
                      </a:pPr>
                      <a:r>
                        <a:t>Low explainability. Post-hoc XAI can be applied, but interactions between the wide &amp; deep can make predictions harder to interpret.</a:t>
                      </a:r>
                    </a:p>
                    <a:p>
                      <a:pPr algn="ctr">
                        <a:lnSpc>
                          <a:spcPct val="115000"/>
                        </a:lnSpc>
                        <a:defRPr sz="800">
                          <a:latin typeface="Open Sans"/>
                          <a:ea typeface="Open Sans"/>
                          <a:cs typeface="Open Sans"/>
                          <a:sym typeface="Open Sans"/>
                        </a:defRPr>
                      </a:pPr>
                      <a:r>
                        <a:t>🔵⚪⚪ </a:t>
                      </a:r>
                    </a:p>
                  </a:txBody>
                  <a:tcPr marL="91425" marR="91425" marT="91425" marB="91425" anchor="t" anchorCtr="0" horzOverflow="overflow">
                    <a:lnL w="12700">
                      <a:solidFill>
                        <a:srgbClr val="FFFFFF"/>
                      </a:solidFill>
                    </a:lnL>
                    <a:lnR>
                      <a:solidFill>
                        <a:schemeClr val="accent1"/>
                      </a:solidFill>
                    </a:lnR>
                    <a:lnB>
                      <a:solidFill>
                        <a:schemeClr val="accent1"/>
                      </a:solidFill>
                    </a:lnB>
                  </a:tcPr>
                </a:tc>
              </a:tr>
            </a:tbl>
          </a:graphicData>
        </a:graphic>
      </p:graphicFrame>
      <p:sp>
        <p:nvSpPr>
          <p:cNvPr id="435" name="Google Shape;443;p51"/>
          <p:cNvSpPr txBox="1"/>
          <p:nvPr/>
        </p:nvSpPr>
        <p:spPr>
          <a:xfrm>
            <a:off x="2079974" y="29100"/>
            <a:ext cx="4998001"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800">
                <a:latin typeface="Open Sans"/>
                <a:ea typeface="Open Sans"/>
                <a:cs typeface="Open Sans"/>
                <a:sym typeface="Open Sans"/>
              </a:defRPr>
            </a:lvl1pPr>
          </a:lstStyle>
          <a:p>
            <a:pPr/>
            <a:r>
              <a:t>B: Deep Learning Model Comparison</a:t>
            </a:r>
          </a:p>
        </p:txBody>
      </p:sp>
      <p:sp>
        <p:nvSpPr>
          <p:cNvPr id="436" name="Google Shape;445;p51"/>
          <p:cNvSpPr txBox="1"/>
          <p:nvPr/>
        </p:nvSpPr>
        <p:spPr>
          <a:xfrm>
            <a:off x="315300" y="4721871"/>
            <a:ext cx="8513400" cy="31839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lnSpc>
                <a:spcPct val="115000"/>
              </a:lnSpc>
              <a:defRPr i="1" sz="1000"/>
            </a:lvl1pPr>
          </a:lstStyle>
          <a:p>
            <a:pPr/>
            <a:r>
              <a:t>Sources: Covington, Adams and Sargin, 2016; Ramírez et al., 2024; Zaidi, Géron, 2025; Rincon and Hassantabar, 2026</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8" name="Google Shape;450;p52"/>
          <p:cNvSpPr txBox="1"/>
          <p:nvPr>
            <p:ph type="title"/>
          </p:nvPr>
        </p:nvSpPr>
        <p:spPr>
          <a:xfrm>
            <a:off x="416299" y="153199"/>
            <a:ext cx="8520601" cy="572702"/>
          </a:xfrm>
          <a:prstGeom prst="rect">
            <a:avLst/>
          </a:prstGeom>
        </p:spPr>
        <p:txBody>
          <a:bodyPr/>
          <a:lstStyle>
            <a:lvl1pPr>
              <a:defRPr b="1" sz="1600"/>
            </a:lvl1pPr>
          </a:lstStyle>
          <a:p>
            <a:pPr/>
            <a:r>
              <a:t>C: Tooling &amp; implementation environment</a:t>
            </a:r>
          </a:p>
        </p:txBody>
      </p:sp>
      <p:graphicFrame>
        <p:nvGraphicFramePr>
          <p:cNvPr id="439" name="Google Shape;451;p52"/>
          <p:cNvGraphicFramePr/>
          <p:nvPr/>
        </p:nvGraphicFramePr>
        <p:xfrm>
          <a:off x="416325" y="868549"/>
          <a:ext cx="8159926" cy="17145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77775"/>
                <a:gridCol w="6682150"/>
              </a:tblGrid>
              <a:tr h="190500">
                <a:tc>
                  <a:txBody>
                    <a:bodyPr/>
                    <a:lstStyle/>
                    <a:p>
                      <a:pPr algn="l">
                        <a:lnSpc>
                          <a:spcPct val="115000"/>
                        </a:lnSpc>
                        <a:defRPr sz="1800"/>
                      </a:pPr>
                      <a:r>
                        <a:rPr b="1" sz="1100"/>
                        <a:t>Tool</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c>
                  <a:txBody>
                    <a:bodyPr/>
                    <a:lstStyle/>
                    <a:p>
                      <a:pPr algn="l">
                        <a:lnSpc>
                          <a:spcPct val="115000"/>
                        </a:lnSpc>
                        <a:defRPr sz="1800"/>
                      </a:pPr>
                      <a:r>
                        <a:rPr b="1" sz="1100"/>
                        <a:t>Use in this project</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r>
              <a:tr h="190500">
                <a:tc>
                  <a:txBody>
                    <a:bodyPr/>
                    <a:lstStyle/>
                    <a:p>
                      <a:pPr algn="l">
                        <a:defRPr sz="1800"/>
                      </a:pPr>
                      <a:r>
                        <a:rPr b="1" sz="1100"/>
                        <a:t>Python</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c>
                  <a:txBody>
                    <a:bodyPr/>
                    <a:lstStyle/>
                    <a:p>
                      <a:pPr algn="l">
                        <a:defRPr sz="1800"/>
                      </a:pPr>
                      <a:r>
                        <a:rPr sz="1100"/>
                        <a:t>Data preparation, feature engineering, modelling and evaluation</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r>
              <a:tr h="190500">
                <a:tc>
                  <a:txBody>
                    <a:bodyPr/>
                    <a:lstStyle/>
                    <a:p>
                      <a:pPr algn="l">
                        <a:defRPr sz="1800"/>
                      </a:pPr>
                      <a:r>
                        <a:rPr b="1" sz="1100"/>
                        <a:t>Google Colab</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c>
                  <a:txBody>
                    <a:bodyPr/>
                    <a:lstStyle/>
                    <a:p>
                      <a:pPr algn="l">
                        <a:defRPr sz="1800"/>
                      </a:pPr>
                      <a:r>
                        <a:rPr sz="1100"/>
                        <a:t>Notebook environment and GPU-accelerated neural-network training</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r>
              <a:tr h="190500">
                <a:tc>
                  <a:txBody>
                    <a:bodyPr/>
                    <a:lstStyle/>
                    <a:p>
                      <a:pPr algn="l">
                        <a:defRPr sz="1800"/>
                      </a:pPr>
                      <a:r>
                        <a:rPr b="1" sz="1100"/>
                        <a:t>pandas / NumPy</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c>
                  <a:txBody>
                    <a:bodyPr/>
                    <a:lstStyle/>
                    <a:p>
                      <a:pPr algn="l">
                        <a:defRPr sz="1800"/>
                      </a:pPr>
                      <a:r>
                        <a:rPr sz="1100"/>
                        <a:t>Data manipulation, session reconstruction and feature engineering</a:t>
                      </a:r>
                    </a:p>
                  </a:txBody>
                  <a:tcPr marL="91425" marR="91425" marT="91425" marB="91425" anchor="t" anchorCtr="0" horzOverflow="overflow">
                    <a:lnL>
                      <a:solidFill>
                        <a:srgbClr val="CCCCCC"/>
                      </a:solidFill>
                    </a:lnL>
                    <a:lnR>
                      <a:solidFill>
                        <a:srgbClr val="CCCCCC"/>
                      </a:solidFill>
                    </a:lnR>
                    <a:lnT>
                      <a:solidFill>
                        <a:srgbClr val="CCCCCC"/>
                      </a:solidFill>
                    </a:lnT>
                    <a:lnB>
                      <a:solidFill>
                        <a:schemeClr val="accent2">
                          <a:lumOff val="-2588"/>
                        </a:schemeClr>
                      </a:solidFill>
                    </a:lnB>
                  </a:tcPr>
                </a:tc>
              </a:tr>
              <a:tr h="190500">
                <a:tc>
                  <a:txBody>
                    <a:bodyPr/>
                    <a:lstStyle/>
                    <a:p>
                      <a:pPr algn="l">
                        <a:defRPr sz="1800"/>
                      </a:pPr>
                      <a:r>
                        <a:rPr b="1" sz="1100"/>
                        <a:t>scikit-learn</a:t>
                      </a:r>
                    </a:p>
                  </a:txBody>
                  <a:tcPr marL="91425" marR="91425" marT="91425" marB="91425" anchor="t" anchorCtr="0" horzOverflow="overflow">
                    <a:lnL>
                      <a:solidFill>
                        <a:srgbClr val="CCCCCC"/>
                      </a:solidFill>
                    </a:lnL>
                    <a:lnR>
                      <a:solidFill>
                        <a:schemeClr val="accent2">
                          <a:lumOff val="-2588"/>
                        </a:schemeClr>
                      </a:solidFill>
                    </a:lnR>
                    <a:lnT>
                      <a:solidFill>
                        <a:srgbClr val="CCCCCC"/>
                      </a:solidFill>
                    </a:lnT>
                    <a:lnB>
                      <a:solidFill>
                        <a:srgbClr val="CCCCCC"/>
                      </a:solidFill>
                    </a:lnB>
                  </a:tcPr>
                </a:tc>
                <a:tc>
                  <a:txBody>
                    <a:bodyPr/>
                    <a:lstStyle/>
                    <a:p>
                      <a:pPr algn="l">
                        <a:defRPr sz="1100"/>
                      </a:pPr>
                      <a:r>
                        <a:t>Preprocessing and Logistic Regression using SGDClassifier</a:t>
                      </a:r>
                      <a:r>
                        <a:rPr>
                          <a:solidFill>
                            <a:srgbClr val="188038"/>
                          </a:solidFill>
                          <a:latin typeface="Roboto Mono"/>
                          <a:ea typeface="Roboto Mono"/>
                          <a:cs typeface="Roboto Mono"/>
                          <a:sym typeface="Roboto Mono"/>
                        </a:rPr>
                        <a:t> </a:t>
                      </a:r>
                      <a:r>
                        <a:t>(Pedregosa, F. et al., 2011)</a:t>
                      </a:r>
                    </a:p>
                  </a:txBody>
                  <a:tcPr marL="91425" marR="91425" marT="91425" marB="91425" anchor="t" anchorCtr="0" horzOverflow="overflow">
                    <a:lnL>
                      <a:solidFill>
                        <a:schemeClr val="accent2">
                          <a:lumOff val="-2588"/>
                        </a:schemeClr>
                      </a:solidFill>
                    </a:lnL>
                    <a:lnR>
                      <a:solidFill>
                        <a:schemeClr val="accent2">
                          <a:lumOff val="-2588"/>
                        </a:schemeClr>
                      </a:solidFill>
                    </a:lnR>
                    <a:lnT>
                      <a:solidFill>
                        <a:schemeClr val="accent2">
                          <a:lumOff val="-2588"/>
                        </a:schemeClr>
                      </a:solidFill>
                    </a:lnT>
                    <a:lnB>
                      <a:solidFill>
                        <a:schemeClr val="accent2">
                          <a:lumOff val="-2588"/>
                        </a:schemeClr>
                      </a:solidFill>
                    </a:lnB>
                  </a:tcPr>
                </a:tc>
              </a:tr>
              <a:tr h="190500">
                <a:tc>
                  <a:txBody>
                    <a:bodyPr/>
                    <a:lstStyle/>
                    <a:p>
                      <a:pPr algn="l">
                        <a:defRPr sz="1800"/>
                      </a:pPr>
                      <a:r>
                        <a:rPr b="1" sz="1100"/>
                        <a:t>LightGBM</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c>
                  <a:txBody>
                    <a:bodyPr/>
                    <a:lstStyle/>
                    <a:p>
                      <a:pPr algn="l">
                        <a:defRPr sz="1800"/>
                      </a:pPr>
                      <a:r>
                        <a:rPr sz="1100"/>
                        <a:t>LambdaRank learning-to-rank model (Ke, G. et al., 2017)</a:t>
                      </a:r>
                    </a:p>
                  </a:txBody>
                  <a:tcPr marL="91425" marR="91425" marT="91425" marB="91425" anchor="t" anchorCtr="0" horzOverflow="overflow">
                    <a:lnL>
                      <a:solidFill>
                        <a:srgbClr val="CCCCCC"/>
                      </a:solidFill>
                    </a:lnL>
                    <a:lnR>
                      <a:solidFill>
                        <a:srgbClr val="CCCCCC"/>
                      </a:solidFill>
                    </a:lnR>
                    <a:lnT>
                      <a:solidFill>
                        <a:schemeClr val="accent2">
                          <a:lumOff val="-2588"/>
                        </a:schemeClr>
                      </a:solidFill>
                    </a:lnT>
                    <a:lnB>
                      <a:solidFill>
                        <a:srgbClr val="CCCCCC"/>
                      </a:solidFill>
                    </a:lnB>
                  </a:tcPr>
                </a:tc>
              </a:tr>
              <a:tr h="190500">
                <a:tc>
                  <a:txBody>
                    <a:bodyPr/>
                    <a:lstStyle/>
                    <a:p>
                      <a:pPr algn="l">
                        <a:defRPr sz="1800"/>
                      </a:pPr>
                      <a:r>
                        <a:rPr b="1" sz="1100"/>
                        <a:t>PyTorch</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c>
                  <a:txBody>
                    <a:bodyPr/>
                    <a:lstStyle/>
                    <a:p>
                      <a:pPr algn="l">
                        <a:defRPr sz="1800"/>
                      </a:pPr>
                      <a:r>
                        <a:rPr sz="1100"/>
                        <a:t>MLP and Wide &amp; Deep neural networks, mini-batch training and GPU execution (Paszke, A. et al., 2019)</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r>
              <a:tr h="190500">
                <a:tc>
                  <a:txBody>
                    <a:bodyPr/>
                    <a:lstStyle/>
                    <a:p>
                      <a:pPr algn="l">
                        <a:defRPr sz="1800"/>
                      </a:pPr>
                      <a:r>
                        <a:rPr b="1" sz="1100"/>
                        <a:t>Google Drive</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c>
                  <a:txBody>
                    <a:bodyPr/>
                    <a:lstStyle/>
                    <a:p>
                      <a:pPr algn="l">
                        <a:defRPr sz="1800"/>
                      </a:pPr>
                      <a:r>
                        <a:rPr sz="1100"/>
                        <a:t>Dataset and model-checkpoint storage</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r>
              <a:tr h="190500">
                <a:tc>
                  <a:txBody>
                    <a:bodyPr/>
                    <a:lstStyle/>
                    <a:p>
                      <a:pPr algn="l">
                        <a:defRPr sz="1800"/>
                      </a:pPr>
                      <a:r>
                        <a:rPr b="1" sz="1100"/>
                        <a:t>Github</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c>
                  <a:txBody>
                    <a:bodyPr/>
                    <a:lstStyle/>
                    <a:p>
                      <a:pPr algn="l">
                        <a:defRPr sz="1800"/>
                      </a:pPr>
                      <a:r>
                        <a:rPr sz="1100"/>
                        <a:t>Storing the Jupyter notebook files (Halimi, 2026)</a:t>
                      </a:r>
                    </a:p>
                  </a:txBody>
                  <a:tcPr marL="91425" marR="91425" marT="91425" marB="91425" anchor="t" anchorCtr="0" horzOverflow="overflow">
                    <a:lnL>
                      <a:solidFill>
                        <a:srgbClr val="CCCCCC"/>
                      </a:solidFill>
                    </a:lnL>
                    <a:lnR>
                      <a:solidFill>
                        <a:srgbClr val="CCCCCC"/>
                      </a:solidFill>
                    </a:lnR>
                    <a:lnT>
                      <a:solidFill>
                        <a:srgbClr val="CCCCCC"/>
                      </a:solidFill>
                    </a:lnT>
                    <a:lnB>
                      <a:solidFill>
                        <a:srgbClr val="CCCCCC"/>
                      </a:solidFill>
                    </a:lnB>
                  </a:tcPr>
                </a:tc>
              </a:tr>
            </a:tbl>
          </a:graphicData>
        </a:graphic>
      </p:graphicFrame>
      <p:sp>
        <p:nvSpPr>
          <p:cNvPr id="440" name="Google Shape;452;p52"/>
          <p:cNvSpPr txBox="1"/>
          <p:nvPr/>
        </p:nvSpPr>
        <p:spPr>
          <a:xfrm>
            <a:off x="416287" y="4090312"/>
            <a:ext cx="8160001" cy="53346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200"/>
            </a:pPr>
            <a:r>
              <a:t>Implementation approach: </a:t>
            </a:r>
            <a:r>
              <a:rPr b="0"/>
              <a:t>Classical ML models were implemented with scikit-learn and LightGBM, while deep-learning models were implemented in PyTorch and trained using GPU acceleration in Google Colab.</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2" name="Google Shape;457;p53"/>
          <p:cNvSpPr txBox="1"/>
          <p:nvPr/>
        </p:nvSpPr>
        <p:spPr>
          <a:xfrm>
            <a:off x="136125" y="74550"/>
            <a:ext cx="88674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800">
                <a:latin typeface="Open Sans"/>
                <a:ea typeface="Open Sans"/>
                <a:cs typeface="Open Sans"/>
                <a:sym typeface="Open Sans"/>
              </a:defRPr>
            </a:lvl1pPr>
          </a:lstStyle>
          <a:p>
            <a:pPr/>
            <a:r>
              <a:t>D: LR regularisation tuning results</a:t>
            </a:r>
          </a:p>
        </p:txBody>
      </p:sp>
      <p:graphicFrame>
        <p:nvGraphicFramePr>
          <p:cNvPr id="443" name="Google Shape;458;p53"/>
          <p:cNvGraphicFramePr/>
          <p:nvPr/>
        </p:nvGraphicFramePr>
        <p:xfrm>
          <a:off x="2458287" y="706493"/>
          <a:ext cx="4227426" cy="1905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55025"/>
                <a:gridCol w="1434950"/>
                <a:gridCol w="1537450"/>
              </a:tblGrid>
              <a:tr h="190500">
                <a:tc>
                  <a:txBody>
                    <a:bodyPr/>
                    <a:lstStyle/>
                    <a:p>
                      <a:pPr algn="l">
                        <a:lnSpc>
                          <a:spcPct val="115000"/>
                        </a:lnSpc>
                        <a:defRPr sz="1800"/>
                      </a:pPr>
                      <a:r>
                        <a:rPr b="1" sz="1200"/>
                        <a:t>Penalty</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α</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Validation log loss</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b="1" sz="1200"/>
                        <a:t>Elastic Net</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0.00001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0.655873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Elastic Net</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0.688797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L2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0.00001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0.692007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L2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0.704295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L2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0.706332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Elastic Net</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0.706391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L1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0.719664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L1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0.816161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L1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0.00001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0.850463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bl>
          </a:graphicData>
        </a:graphic>
      </p:graphicFrame>
      <p:sp>
        <p:nvSpPr>
          <p:cNvPr id="444" name="Google Shape;459;p53"/>
          <p:cNvSpPr txBox="1"/>
          <p:nvPr/>
        </p:nvSpPr>
        <p:spPr>
          <a:xfrm>
            <a:off x="1529412" y="4453006"/>
            <a:ext cx="5925301" cy="3061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i="1" sz="900"/>
            </a:lvl1pPr>
          </a:lstStyle>
          <a:p>
            <a:pPr/>
            <a:r>
              <a:t>Table 1: Validation log loss across LR regularisation configurations(Author’s own work, 2026)</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6" name="Google Shape;464;p54"/>
          <p:cNvSpPr txBox="1"/>
          <p:nvPr/>
        </p:nvSpPr>
        <p:spPr>
          <a:xfrm>
            <a:off x="289350" y="181500"/>
            <a:ext cx="85653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b="1" sz="1800">
                <a:latin typeface="Open Sans"/>
                <a:ea typeface="Open Sans"/>
                <a:cs typeface="Open Sans"/>
                <a:sym typeface="Open Sans"/>
              </a:defRPr>
            </a:lvl1pPr>
          </a:lstStyle>
          <a:p>
            <a:pPr/>
            <a:r>
              <a:t>E: LR learning-rate tuning with Elastic Net (α = 1 × 10⁻⁵)</a:t>
            </a:r>
          </a:p>
        </p:txBody>
      </p:sp>
      <p:graphicFrame>
        <p:nvGraphicFramePr>
          <p:cNvPr id="447" name="Google Shape;465;p54"/>
          <p:cNvGraphicFramePr/>
          <p:nvPr/>
        </p:nvGraphicFramePr>
        <p:xfrm>
          <a:off x="2177063" y="864550"/>
          <a:ext cx="4789876" cy="9525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59650"/>
                <a:gridCol w="1940175"/>
                <a:gridCol w="1590050"/>
              </a:tblGrid>
              <a:tr h="190500">
                <a:tc>
                  <a:txBody>
                    <a:bodyPr/>
                    <a:lstStyle/>
                    <a:p>
                      <a:pPr algn="l">
                        <a:lnSpc>
                          <a:spcPct val="115000"/>
                        </a:lnSpc>
                        <a:defRPr sz="1800"/>
                      </a:pPr>
                      <a:r>
                        <a:rPr b="1" sz="1200"/>
                        <a:t>Learning rate</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η₀ (initial learning rate)</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Validation log loss</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b="1" sz="1200"/>
                        <a:t>optimal</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N/A</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0.655873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invscaling</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0.694651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invscaling</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0.697591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invscaling</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0.702680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bl>
          </a:graphicData>
        </a:graphic>
      </p:graphicFrame>
      <p:sp>
        <p:nvSpPr>
          <p:cNvPr id="448" name="Google Shape;466;p54"/>
          <p:cNvSpPr txBox="1"/>
          <p:nvPr/>
        </p:nvSpPr>
        <p:spPr>
          <a:xfrm>
            <a:off x="474575" y="3755645"/>
            <a:ext cx="8329501" cy="55938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nSpc>
                <a:spcPct val="115000"/>
              </a:lnSpc>
              <a:defRPr b="1" sz="1200"/>
            </a:pPr>
            <a:r>
              <a:t>Held constant: </a:t>
            </a:r>
            <a:r>
              <a:rPr b="0"/>
              <a:t>Elastic Net regularisation, α = 0.00001, L1 ratio = 0.15, class weight = balanced, max iterations = 1,000, tolerance = 0.001.</a:t>
            </a:r>
          </a:p>
        </p:txBody>
      </p:sp>
      <p:sp>
        <p:nvSpPr>
          <p:cNvPr id="449" name="Google Shape;467;p54"/>
          <p:cNvSpPr txBox="1"/>
          <p:nvPr/>
        </p:nvSpPr>
        <p:spPr>
          <a:xfrm>
            <a:off x="1523663" y="2788255"/>
            <a:ext cx="5925301" cy="306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i="1" sz="900"/>
            </a:lvl1pPr>
          </a:lstStyle>
          <a:p>
            <a:pPr/>
            <a:r>
              <a:t>Table 2: Validation log loss across LR learning-rate configurations (Author’s own work, 2026)</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451" name="Google Shape;472;p55"/>
          <p:cNvGraphicFramePr/>
          <p:nvPr/>
        </p:nvGraphicFramePr>
        <p:xfrm>
          <a:off x="343100" y="1337342"/>
          <a:ext cx="2618825" cy="762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40450"/>
                <a:gridCol w="839325"/>
                <a:gridCol w="639050"/>
              </a:tblGrid>
              <a:tr h="190500">
                <a:tc>
                  <a:txBody>
                    <a:bodyPr/>
                    <a:lstStyle/>
                    <a:p>
                      <a:pPr algn="l">
                        <a:lnSpc>
                          <a:spcPct val="115000"/>
                        </a:lnSpc>
                        <a:defRPr sz="1800"/>
                      </a:pPr>
                      <a:r>
                        <a:rPr b="1" sz="1000">
                          <a:solidFill>
                            <a:srgbClr val="FFFFFF"/>
                          </a:solidFill>
                        </a:rPr>
                        <a:t>Architecture</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000">
                          <a:solidFill>
                            <a:srgbClr val="FFFFFF"/>
                          </a:solidFill>
                        </a:rPr>
                        <a:t>Validation Loss rate</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000">
                          <a:solidFill>
                            <a:srgbClr val="FFFFFF"/>
                          </a:solidFill>
                        </a:rPr>
                        <a:t>Best Epoch</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r>
              <a:tr h="190500">
                <a:tc>
                  <a:txBody>
                    <a:bodyPr/>
                    <a:lstStyle/>
                    <a:p>
                      <a:pPr algn="l">
                        <a:defRPr sz="1800"/>
                      </a:pPr>
                      <a:r>
                        <a:rPr sz="1000"/>
                        <a:t>Baseline 128 → 64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0.176180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000"/>
                        <a:t>64 → 64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0.176067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000"/>
                        <a:t>64 → 64 → 64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0.176257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bl>
          </a:graphicData>
        </a:graphic>
      </p:graphicFrame>
      <p:sp>
        <p:nvSpPr>
          <p:cNvPr id="452" name="Google Shape;473;p55"/>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F: MLP tuning results during experimentation</a:t>
            </a:r>
          </a:p>
        </p:txBody>
      </p:sp>
      <p:sp>
        <p:nvSpPr>
          <p:cNvPr id="453" name="Google Shape;474;p55"/>
          <p:cNvSpPr txBox="1"/>
          <p:nvPr/>
        </p:nvSpPr>
        <p:spPr>
          <a:xfrm>
            <a:off x="343099" y="566375"/>
            <a:ext cx="7885202" cy="35566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200"/>
            </a:lvl1pPr>
          </a:lstStyle>
          <a:p>
            <a:pPr/>
            <a:r>
              <a:t>Architecture and learning-rate experiments kept Adam, ReLU and batch size consistent with the baseline model.</a:t>
            </a:r>
          </a:p>
        </p:txBody>
      </p:sp>
      <p:sp>
        <p:nvSpPr>
          <p:cNvPr id="454" name="Google Shape;475;p55"/>
          <p:cNvSpPr txBox="1"/>
          <p:nvPr/>
        </p:nvSpPr>
        <p:spPr>
          <a:xfrm>
            <a:off x="258863" y="930717"/>
            <a:ext cx="2787301" cy="33068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100">
                <a:solidFill>
                  <a:schemeClr val="accent5"/>
                </a:solidFill>
              </a:defRPr>
            </a:lvl1pPr>
          </a:lstStyle>
          <a:p>
            <a:pPr/>
            <a:r>
              <a:t>Architecture experiment:</a:t>
            </a:r>
          </a:p>
        </p:txBody>
      </p:sp>
      <p:graphicFrame>
        <p:nvGraphicFramePr>
          <p:cNvPr id="455" name="Google Shape;476;p55"/>
          <p:cNvGraphicFramePr/>
          <p:nvPr/>
        </p:nvGraphicFramePr>
        <p:xfrm>
          <a:off x="3164116" y="1337342"/>
          <a:ext cx="2618826" cy="5715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40450"/>
                <a:gridCol w="830924"/>
                <a:gridCol w="647450"/>
              </a:tblGrid>
              <a:tr h="190500">
                <a:tc>
                  <a:txBody>
                    <a:bodyPr/>
                    <a:lstStyle/>
                    <a:p>
                      <a:pPr algn="l">
                        <a:lnSpc>
                          <a:spcPct val="115000"/>
                        </a:lnSpc>
                        <a:defRPr sz="1800"/>
                      </a:pPr>
                      <a:r>
                        <a:rPr b="1" sz="1000">
                          <a:solidFill>
                            <a:srgbClr val="FFFFFF"/>
                          </a:solidFill>
                        </a:rPr>
                        <a:t>Learning rate</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000">
                          <a:solidFill>
                            <a:srgbClr val="FFFFFF"/>
                          </a:solidFill>
                        </a:rPr>
                        <a:t>Validation Loss rate</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000">
                          <a:solidFill>
                            <a:srgbClr val="FFFFFF"/>
                          </a:solidFill>
                        </a:rPr>
                        <a:t>Best Epoch</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r>
              <a:tr h="190500">
                <a:tc>
                  <a:txBody>
                    <a:bodyPr/>
                    <a:lstStyle/>
                    <a:p>
                      <a:pPr algn="l">
                        <a:defRPr sz="1800"/>
                      </a:pPr>
                      <a:r>
                        <a:rPr sz="1000"/>
                        <a:t>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0.176067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000"/>
                        <a:t>0.0001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0.175847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9</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bl>
          </a:graphicData>
        </a:graphic>
      </p:graphicFrame>
      <p:sp>
        <p:nvSpPr>
          <p:cNvPr id="456" name="Google Shape;477;p55"/>
          <p:cNvSpPr txBox="1"/>
          <p:nvPr/>
        </p:nvSpPr>
        <p:spPr>
          <a:xfrm>
            <a:off x="3079879" y="930717"/>
            <a:ext cx="2787301" cy="33068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100">
                <a:solidFill>
                  <a:schemeClr val="accent5"/>
                </a:solidFill>
              </a:defRPr>
            </a:lvl1pPr>
          </a:lstStyle>
          <a:p>
            <a:pPr/>
            <a:r>
              <a:t>Learning rate experiment with 64 → 64:</a:t>
            </a:r>
          </a:p>
        </p:txBody>
      </p:sp>
      <p:sp>
        <p:nvSpPr>
          <p:cNvPr id="457" name="Google Shape;478;p55"/>
          <p:cNvSpPr txBox="1"/>
          <p:nvPr/>
        </p:nvSpPr>
        <p:spPr>
          <a:xfrm>
            <a:off x="343099" y="3287331"/>
            <a:ext cx="2618702" cy="9402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100"/>
            </a:lvl1pPr>
          </a:lstStyle>
          <a:p>
            <a:pPr/>
            <a:r>
              <a:t>The 64→64 architecture achieved a modestly lower validation loss (0.176067), compared with baseline architecture. Adding a third hidden layer did not improve performance.</a:t>
            </a:r>
          </a:p>
        </p:txBody>
      </p:sp>
      <p:graphicFrame>
        <p:nvGraphicFramePr>
          <p:cNvPr id="458" name="Google Shape;479;p55"/>
          <p:cNvGraphicFramePr/>
          <p:nvPr/>
        </p:nvGraphicFramePr>
        <p:xfrm>
          <a:off x="6017354" y="1387905"/>
          <a:ext cx="2787376" cy="104667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13850"/>
                <a:gridCol w="847800"/>
                <a:gridCol w="725725"/>
              </a:tblGrid>
              <a:tr h="475175">
                <a:tc>
                  <a:txBody>
                    <a:bodyPr/>
                    <a:lstStyle/>
                    <a:p>
                      <a:pPr algn="l">
                        <a:lnSpc>
                          <a:spcPct val="115000"/>
                        </a:lnSpc>
                        <a:defRPr sz="1800"/>
                      </a:pPr>
                      <a:r>
                        <a:rPr b="1" sz="1000">
                          <a:solidFill>
                            <a:srgbClr val="FFFFFF"/>
                          </a:solidFill>
                        </a:rPr>
                        <a:t>Activation function</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000">
                          <a:solidFill>
                            <a:srgbClr val="FFFFFF"/>
                          </a:solidFill>
                        </a:rPr>
                        <a:t>Validation Loss rate</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c>
                  <a:txBody>
                    <a:bodyPr/>
                    <a:lstStyle/>
                    <a:p>
                      <a:pPr algn="l">
                        <a:lnSpc>
                          <a:spcPct val="115000"/>
                        </a:lnSpc>
                        <a:defRPr sz="1800"/>
                      </a:pPr>
                      <a:r>
                        <a:rPr b="1" sz="1000">
                          <a:solidFill>
                            <a:srgbClr val="FFFFFF"/>
                          </a:solidFill>
                        </a:rPr>
                        <a:t>Best Epoch</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solidFill>
                      <a:schemeClr val="accent5"/>
                    </a:solidFill>
                  </a:tcPr>
                </a:tc>
              </a:tr>
              <a:tr h="190500">
                <a:tc>
                  <a:txBody>
                    <a:bodyPr/>
                    <a:lstStyle/>
                    <a:p>
                      <a:pPr algn="l">
                        <a:defRPr sz="1800"/>
                      </a:pPr>
                      <a:r>
                        <a:rPr sz="1000"/>
                        <a:t>ReLU</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0.175847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9</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000"/>
                        <a:t>Leaky ReLU</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0.175914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13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000"/>
                        <a:t>ELU</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0.176241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000"/>
                        <a:t>18</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bl>
          </a:graphicData>
        </a:graphic>
      </p:graphicFrame>
      <p:sp>
        <p:nvSpPr>
          <p:cNvPr id="459" name="Google Shape;480;p55"/>
          <p:cNvSpPr txBox="1"/>
          <p:nvPr/>
        </p:nvSpPr>
        <p:spPr>
          <a:xfrm>
            <a:off x="5924629" y="930705"/>
            <a:ext cx="2787301" cy="48308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100">
                <a:solidFill>
                  <a:schemeClr val="accent5"/>
                </a:solidFill>
              </a:defRPr>
            </a:pPr>
            <a:r>
              <a:t>Activation function experiment with </a:t>
            </a:r>
          </a:p>
          <a:p>
            <a:pPr>
              <a:defRPr b="1" sz="1100">
                <a:solidFill>
                  <a:schemeClr val="accent5"/>
                </a:solidFill>
              </a:defRPr>
            </a:pPr>
            <a:r>
              <a:t>64 → 64 and 0.0001 LR:</a:t>
            </a:r>
          </a:p>
        </p:txBody>
      </p:sp>
      <p:sp>
        <p:nvSpPr>
          <p:cNvPr id="460" name="Google Shape;481;p55"/>
          <p:cNvSpPr txBox="1"/>
          <p:nvPr/>
        </p:nvSpPr>
        <p:spPr>
          <a:xfrm>
            <a:off x="3178349" y="3287331"/>
            <a:ext cx="2604602" cy="9402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100"/>
            </a:lvl1pPr>
          </a:lstStyle>
          <a:p>
            <a:pPr/>
            <a:r>
              <a:t>Reducing the learning rate from 0.001 to 0.0001 lowered validation loss from 0.176067 to 0.175847, so 0.0001 was carried forward to the activation-function experiment.</a:t>
            </a:r>
          </a:p>
        </p:txBody>
      </p:sp>
      <p:sp>
        <p:nvSpPr>
          <p:cNvPr id="461" name="Google Shape;482;p55"/>
          <p:cNvSpPr txBox="1"/>
          <p:nvPr/>
        </p:nvSpPr>
        <p:spPr>
          <a:xfrm>
            <a:off x="5999500" y="3287331"/>
            <a:ext cx="2604601" cy="9402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100"/>
            </a:lvl1pPr>
          </a:lstStyle>
          <a:p>
            <a:pPr/>
            <a:r>
              <a:t>ReLU achieved the lowest validation loss and reached its best result in fewer epochs than Leaky ReLU and ELU, so it was retained for the final model.</a:t>
            </a:r>
          </a:p>
        </p:txBody>
      </p:sp>
      <p:sp>
        <p:nvSpPr>
          <p:cNvPr id="462" name="Google Shape;483;p55"/>
          <p:cNvSpPr txBox="1"/>
          <p:nvPr/>
        </p:nvSpPr>
        <p:spPr>
          <a:xfrm>
            <a:off x="344150" y="4548914"/>
            <a:ext cx="8460600" cy="355666"/>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gn="ctr">
              <a:spcBef>
                <a:spcPts val="1000"/>
              </a:spcBef>
              <a:defRPr b="1" sz="1200">
                <a:solidFill>
                  <a:srgbClr val="FFFFFF"/>
                </a:solidFill>
              </a:defRPr>
            </a:pPr>
            <a:r>
              <a:rPr>
                <a:solidFill>
                  <a:srgbClr val="000000"/>
                </a:solidFill>
              </a:rPr>
              <a:t>Final selected MLP model configuration:   </a:t>
            </a:r>
            <a:r>
              <a:rPr>
                <a:solidFill>
                  <a:srgbClr val="000000"/>
                </a:solidFill>
              </a:rPr>
              <a:t>64 → 64 | ReLU | Adam | LR = 0.0001 | batch size = 1024</a:t>
            </a:r>
          </a:p>
        </p:txBody>
      </p:sp>
      <p:sp>
        <p:nvSpPr>
          <p:cNvPr id="463" name="Google Shape;484;p55"/>
          <p:cNvSpPr txBox="1"/>
          <p:nvPr/>
        </p:nvSpPr>
        <p:spPr>
          <a:xfrm>
            <a:off x="344175" y="2994348"/>
            <a:ext cx="8460600" cy="3061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i="1" sz="900"/>
            </a:lvl1pPr>
          </a:lstStyle>
          <a:p>
            <a:pPr/>
            <a:r>
              <a:t>Table 3, 4 and 5: MLP tuning results(Author’s own work, 2026)</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5" name="Google Shape;489;p56"/>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G: LR Coefficients Analysis Results</a:t>
            </a:r>
          </a:p>
        </p:txBody>
      </p:sp>
      <p:graphicFrame>
        <p:nvGraphicFramePr>
          <p:cNvPr id="466" name="Google Shape;490;p56"/>
          <p:cNvGraphicFramePr/>
          <p:nvPr/>
        </p:nvGraphicFramePr>
        <p:xfrm>
          <a:off x="233975" y="1299725"/>
          <a:ext cx="5637925" cy="17907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68675"/>
                <a:gridCol w="1188525"/>
                <a:gridCol w="856174"/>
                <a:gridCol w="257150"/>
                <a:gridCol w="768675"/>
                <a:gridCol w="932825"/>
                <a:gridCol w="865899"/>
              </a:tblGrid>
              <a:tr h="209550">
                <a:tc gridSpan="3">
                  <a:txBody>
                    <a:bodyPr/>
                    <a:lstStyle/>
                    <a:p>
                      <a:pPr algn="ctr">
                        <a:lnSpc>
                          <a:spcPct val="115000"/>
                        </a:lnSpc>
                        <a:defRPr sz="1800"/>
                      </a:pPr>
                      <a:r>
                        <a:rPr b="1" sz="900"/>
                        <a:t>Strongest positive coefficients</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hMerge="1">
                  <a:tcPr/>
                </a:tc>
                <a:tc hMerge="1">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CCCCCC"/>
                      </a:solidFill>
                    </a:lnT>
                    <a:lnB>
                      <a:solidFill>
                        <a:srgbClr val="CCCCCC"/>
                      </a:solidFill>
                    </a:lnB>
                  </a:tcPr>
                </a:tc>
                <a:tc gridSpan="3">
                  <a:txBody>
                    <a:bodyPr/>
                    <a:lstStyle/>
                    <a:p>
                      <a:pPr algn="ctr">
                        <a:lnSpc>
                          <a:spcPct val="115000"/>
                        </a:lnSpc>
                        <a:defRPr sz="1800"/>
                      </a:pPr>
                      <a:r>
                        <a:rPr b="1" sz="900"/>
                        <a:t>Strongest negative coefficients</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hMerge="1">
                  <a:tcPr/>
                </a:tc>
                <a:tc hMerge="1">
                  <a:tcPr/>
                </a:tc>
              </a:tr>
              <a:tr h="209550">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b="1" sz="900">
                          <a:latin typeface="Courier New"/>
                          <a:ea typeface="Courier New"/>
                          <a:cs typeface="Courier New"/>
                          <a:sym typeface="Courier New"/>
                        </a:rPr>
                        <a:t>feature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b="1" sz="900">
                          <a:latin typeface="Courier New"/>
                          <a:ea typeface="Courier New"/>
                          <a:cs typeface="Courier New"/>
                          <a:sym typeface="Courier New"/>
                        </a:rPr>
                        <a:t>coefficient</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CCCCCC"/>
                      </a:solidFill>
                    </a:lnT>
                    <a:lnB>
                      <a:solidFill>
                        <a:srgbClr val="CCCCCC"/>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b="1" sz="900">
                          <a:latin typeface="Courier New"/>
                          <a:ea typeface="Courier New"/>
                          <a:cs typeface="Courier New"/>
                          <a:sym typeface="Courier New"/>
                        </a:rPr>
                        <a:t>feature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b="1" sz="900">
                          <a:latin typeface="Courier New"/>
                          <a:ea typeface="Courier New"/>
                          <a:cs typeface="Courier New"/>
                          <a:sym typeface="Courier New"/>
                        </a:rPr>
                        <a:t>coefficient</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5082</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city_lr=Åre, Sweden</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0.936155</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CCCCCC"/>
                      </a:solidFill>
                    </a:lnT>
                    <a:lnB>
                      <a:solidFill>
                        <a:srgbClr val="CCCCCC"/>
                      </a:solidFill>
                    </a:lnB>
                  </a:tcPr>
                </a:tc>
                <a:tc>
                  <a:txBody>
                    <a:bodyPr/>
                    <a:lstStyle/>
                    <a:p>
                      <a:pPr algn="ctr">
                        <a:lnSpc>
                          <a:spcPct val="115000"/>
                        </a:lnSpc>
                        <a:defRPr sz="1800"/>
                      </a:pPr>
                      <a:r>
                        <a:rPr b="1" sz="900"/>
                        <a:t>5163</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device=desktop</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-1.349741</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5097</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city_lr=İnegöl, Turkey</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0.934857</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CCCCCC"/>
                      </a:solidFill>
                    </a:lnT>
                    <a:lnB>
                      <a:solidFill>
                        <a:srgbClr val="CCCCCC"/>
                      </a:solidFill>
                    </a:lnB>
                  </a:tcPr>
                </a:tc>
                <a:tc>
                  <a:txBody>
                    <a:bodyPr/>
                    <a:lstStyle/>
                    <a:p>
                      <a:pPr algn="ctr">
                        <a:lnSpc>
                          <a:spcPct val="115000"/>
                        </a:lnSpc>
                        <a:defRPr sz="1800"/>
                      </a:pPr>
                      <a:r>
                        <a:rPr b="1" sz="900"/>
                        <a:t>5164</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device=mobile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-1.335908</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1195</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city_lr=Desaru, Malaysia</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0.9081</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CCCCCC"/>
                      </a:solidFill>
                    </a:lnT>
                    <a:lnB>
                      <a:solidFill>
                        <a:srgbClr val="CCCCCC"/>
                      </a:solidFill>
                    </a:lnB>
                  </a:tcPr>
                </a:tc>
                <a:tc>
                  <a:txBody>
                    <a:bodyPr/>
                    <a:lstStyle/>
                    <a:p>
                      <a:pPr algn="ctr">
                        <a:lnSpc>
                          <a:spcPct val="115000"/>
                        </a:lnSpc>
                        <a:defRPr sz="1800"/>
                      </a:pPr>
                      <a:r>
                        <a:rPr b="1" sz="900"/>
                        <a:t>5165</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device=tablet</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-1.207865</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371475">
                <a:tc>
                  <a:txBody>
                    <a:bodyPr/>
                    <a:lstStyle/>
                    <a:p>
                      <a:pPr algn="ctr">
                        <a:lnSpc>
                          <a:spcPct val="115000"/>
                        </a:lnSpc>
                        <a:defRPr sz="1800"/>
                      </a:pPr>
                      <a:r>
                        <a:rPr b="1" sz="900"/>
                        <a:t>616</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city_lr=Bora Bora, French Polynesia</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0.883854</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CCCCCC"/>
                      </a:solidFill>
                    </a:lnT>
                    <a:lnB>
                      <a:solidFill>
                        <a:srgbClr val="CCCCCC"/>
                      </a:solidFill>
                    </a:lnB>
                  </a:tcPr>
                </a:tc>
                <a:tc>
                  <a:txBody>
                    <a:bodyPr/>
                    <a:lstStyle/>
                    <a:p>
                      <a:pPr algn="ctr">
                        <a:lnSpc>
                          <a:spcPct val="115000"/>
                        </a:lnSpc>
                        <a:defRPr sz="1800"/>
                      </a:pPr>
                      <a:r>
                        <a:rPr b="1" sz="900"/>
                        <a:t>3857</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city_lr=Salvador Bahia, Brazil</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-0.345454</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371475">
                <a:tc>
                  <a:txBody>
                    <a:bodyPr/>
                    <a:lstStyle/>
                    <a:p>
                      <a:pPr algn="ctr">
                        <a:lnSpc>
                          <a:spcPct val="115000"/>
                        </a:lnSpc>
                        <a:defRPr sz="1800"/>
                      </a:pPr>
                      <a:r>
                        <a:rPr b="1" sz="900"/>
                        <a:t>…</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CCCCCC"/>
                      </a:solidFill>
                    </a:lnT>
                    <a:lnB>
                      <a:solidFill>
                        <a:srgbClr val="CCCCCC"/>
                      </a:solidFill>
                    </a:lnB>
                  </a:tcPr>
                </a:tc>
                <a:tc>
                  <a:txBody>
                    <a:bodyPr/>
                    <a:lstStyle/>
                    <a:p>
                      <a:pPr algn="ctr">
                        <a:lnSpc>
                          <a:spcPct val="115000"/>
                        </a:lnSpc>
                        <a:defRPr sz="1800"/>
                      </a:pPr>
                      <a:r>
                        <a:rPr b="1" sz="900"/>
                        <a:t>…</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bl>
          </a:graphicData>
        </a:graphic>
      </p:graphicFrame>
      <p:graphicFrame>
        <p:nvGraphicFramePr>
          <p:cNvPr id="467" name="Google Shape;491;p56"/>
          <p:cNvGraphicFramePr/>
          <p:nvPr/>
        </p:nvGraphicFramePr>
        <p:xfrm>
          <a:off x="6122375" y="453825"/>
          <a:ext cx="2857501" cy="292417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52500"/>
                <a:gridCol w="952500"/>
                <a:gridCol w="952500"/>
              </a:tblGrid>
              <a:tr h="200025">
                <a:tc gridSpan="3">
                  <a:txBody>
                    <a:bodyPr/>
                    <a:lstStyle/>
                    <a:p>
                      <a:pPr algn="ctr">
                        <a:lnSpc>
                          <a:spcPct val="115000"/>
                        </a:lnSpc>
                        <a:defRPr sz="1800"/>
                      </a:pPr>
                      <a:r>
                        <a:rPr b="1" sz="900"/>
                        <a:t>Non-categorical Features</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hMerge="1">
                  <a:tcPr/>
                </a:tc>
                <a:tc hMerge="1">
                  <a:tcPr/>
                </a:tc>
              </a:tr>
              <a:tr h="209550">
                <a:tc>
                  <a:txBody>
                    <a:bodyPr/>
                    <a:lstStyle/>
                    <a:p>
                      <a:pPr>
                        <a:lnSpc>
                          <a:spcPct val="115000"/>
                        </a:lnSpc>
                        <a:defRPr sz="1800"/>
                      </a:pPr>
                      <a:r>
                        <a:rPr b="1" sz="900">
                          <a:latin typeface="Courier New"/>
                          <a:ea typeface="Courier New"/>
                          <a:cs typeface="Courier New"/>
                          <a:sym typeface="Courier New"/>
                        </a:rPr>
                        <a:t>feature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b="1" sz="900">
                          <a:latin typeface="Courier New"/>
                          <a:ea typeface="Courier New"/>
                          <a:cs typeface="Courier New"/>
                          <a:sym typeface="Courier New"/>
                        </a:rPr>
                        <a:t>coefficient</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2</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filter_match</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0.264545</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1</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relative_price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5168</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count_item_deals</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5167</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count_filter_selection</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5171</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count_item_rating</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5172</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count_search_destination</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5169</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count_item_image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5170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count_item_info</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5173</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count_search_item</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5174</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count_search_poi</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5166</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count_sort_change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-0.02202</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209550">
                <a:tc>
                  <a:txBody>
                    <a:bodyPr/>
                    <a:lstStyle/>
                    <a:p>
                      <a:pPr algn="ctr">
                        <a:lnSpc>
                          <a:spcPct val="115000"/>
                        </a:lnSpc>
                        <a:defRPr sz="1800"/>
                      </a:pPr>
                      <a:r>
                        <a:rPr b="1"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candidate_price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-0.176253</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bl>
          </a:graphicData>
        </a:graphic>
      </p:graphicFrame>
      <p:sp>
        <p:nvSpPr>
          <p:cNvPr id="468" name="Google Shape;492;p56"/>
          <p:cNvSpPr txBox="1"/>
          <p:nvPr/>
        </p:nvSpPr>
        <p:spPr>
          <a:xfrm>
            <a:off x="233963" y="3961074"/>
            <a:ext cx="5324100" cy="78788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sz="1100"/>
            </a:pPr>
            <a:r>
              <a:t>Tables 6 and 7 demonstrate strong but sparse impact.</a:t>
            </a:r>
          </a:p>
          <a:p>
            <a:pPr/>
            <a:endParaRPr sz="1100"/>
          </a:p>
          <a:p>
            <a:pPr>
              <a:defRPr sz="1100"/>
            </a:pPr>
            <a:r>
              <a:t>Table 8 demonstrates weak but targeted impact, with most behavioural metrics having no impact, probably due to the regularisation method that zeroed them out.</a:t>
            </a:r>
          </a:p>
        </p:txBody>
      </p:sp>
      <p:sp>
        <p:nvSpPr>
          <p:cNvPr id="469" name="Google Shape;493;p56"/>
          <p:cNvSpPr txBox="1"/>
          <p:nvPr/>
        </p:nvSpPr>
        <p:spPr>
          <a:xfrm>
            <a:off x="206049" y="3301800"/>
            <a:ext cx="2857501" cy="4331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i="1" sz="900"/>
            </a:lvl1pPr>
          </a:lstStyle>
          <a:p>
            <a:pPr/>
            <a:r>
              <a:t>Table 6: Largest positive individual encoded coefficients (Author’s own work, 2026)</a:t>
            </a:r>
          </a:p>
        </p:txBody>
      </p:sp>
      <p:sp>
        <p:nvSpPr>
          <p:cNvPr id="470" name="Google Shape;494;p56"/>
          <p:cNvSpPr txBox="1"/>
          <p:nvPr/>
        </p:nvSpPr>
        <p:spPr>
          <a:xfrm>
            <a:off x="3304499" y="3301800"/>
            <a:ext cx="2567401" cy="43311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i="1" sz="900"/>
            </a:lvl1pPr>
          </a:lstStyle>
          <a:p>
            <a:pPr/>
            <a:r>
              <a:t>Table 7: Largest negative individual encoded coefficients (Author’s own work, 2026)</a:t>
            </a:r>
          </a:p>
        </p:txBody>
      </p:sp>
      <p:sp>
        <p:nvSpPr>
          <p:cNvPr id="471" name="Google Shape;495;p56"/>
          <p:cNvSpPr txBox="1"/>
          <p:nvPr/>
        </p:nvSpPr>
        <p:spPr>
          <a:xfrm>
            <a:off x="6122375" y="4316721"/>
            <a:ext cx="2857501" cy="433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i="1" sz="900"/>
            </a:lvl1pPr>
          </a:lstStyle>
          <a:p>
            <a:pPr/>
            <a:r>
              <a:t>Table 8: all non-categorical features and their coefficient values (Author’s own work, 2026)</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3" name="Google Shape;500;p57"/>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H: MLP SHAP Analysis Results</a:t>
            </a:r>
          </a:p>
        </p:txBody>
      </p:sp>
      <p:graphicFrame>
        <p:nvGraphicFramePr>
          <p:cNvPr id="474" name="Google Shape;501;p57"/>
          <p:cNvGraphicFramePr/>
          <p:nvPr/>
        </p:nvGraphicFramePr>
        <p:xfrm>
          <a:off x="343100" y="712982"/>
          <a:ext cx="4476751" cy="271867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81100"/>
                <a:gridCol w="1895475"/>
                <a:gridCol w="1400175"/>
              </a:tblGrid>
              <a:tr h="153075">
                <a:tc gridSpan="3">
                  <a:txBody>
                    <a:bodyPr/>
                    <a:lstStyle/>
                    <a:p>
                      <a:pPr algn="ctr">
                        <a:lnSpc>
                          <a:spcPct val="115000"/>
                        </a:lnSpc>
                        <a:defRPr sz="1800"/>
                      </a:pPr>
                      <a:r>
                        <a:rPr b="1" sz="900"/>
                        <a:t>Conceptually aggregate features and their SHAP results</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hMerge="1">
                  <a:tcPr/>
                </a:tc>
                <a:tc hMerge="1">
                  <a:tcPr/>
                </a:tc>
              </a:tr>
              <a:tr h="160350">
                <a:tc>
                  <a:txBody>
                    <a:bodyPr/>
                    <a:lstStyle/>
                    <a:p>
                      <a:pPr>
                        <a:lnSpc>
                          <a:spcPct val="115000"/>
                        </a:lnSpc>
                        <a:defRPr sz="1800"/>
                      </a:pPr>
                      <a:r>
                        <a:rPr b="1" sz="900">
                          <a:latin typeface="Courier New"/>
                          <a:ea typeface="Courier New"/>
                          <a:cs typeface="Courier New"/>
                          <a:sym typeface="Courier New"/>
                        </a:rPr>
                        <a:t>feature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b="1" sz="900">
                          <a:latin typeface="Courier New"/>
                          <a:ea typeface="Courier New"/>
                          <a:cs typeface="Courier New"/>
                          <a:sym typeface="Courier New"/>
                        </a:rPr>
                        <a:t>mean_abs_shap</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gn="l">
                        <a:defRPr sz="1400"/>
                      </a:pP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platform</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1.443412</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1</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city_lr</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1.349105</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2</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device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0.93918</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3</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relative_price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0.248289</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4</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candidate_price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0.060173</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5</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count_sort_change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0.038842</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6</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filter_match</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0.036926</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7</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count_filter_selection</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0.023832</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8</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count_search_item</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0.01699</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9</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count_item_image</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0.011811</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10</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count_search_destination</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0.011123</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11</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count_item_info</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0.010778</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12</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count_search_poi</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0.008984</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13</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count_item_deals</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0.003341</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r h="160350">
                <a:tc>
                  <a:txBody>
                    <a:bodyPr/>
                    <a:lstStyle/>
                    <a:p>
                      <a:pPr algn="ctr">
                        <a:lnSpc>
                          <a:spcPct val="115000"/>
                        </a:lnSpc>
                        <a:defRPr sz="1800"/>
                      </a:pPr>
                      <a:r>
                        <a:rPr b="1" sz="900"/>
                        <a:t>14</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count_item_rating</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c>
                  <a:txBody>
                    <a:bodyPr/>
                    <a:lstStyle/>
                    <a:p>
                      <a:pPr>
                        <a:lnSpc>
                          <a:spcPct val="115000"/>
                        </a:lnSpc>
                        <a:defRPr sz="1800"/>
                      </a:pPr>
                      <a:r>
                        <a:rPr sz="900"/>
                        <a:t>0.002522</a:t>
                      </a:r>
                    </a:p>
                  </a:txBody>
                  <a:tcPr marL="19050" marR="19050" marT="19050" marB="19050" anchor="b" anchorCtr="0" horzOverflow="overflow">
                    <a:lnL>
                      <a:solidFill>
                        <a:srgbClr val="000000"/>
                      </a:solidFill>
                    </a:lnL>
                    <a:lnR>
                      <a:solidFill>
                        <a:srgbClr val="000000"/>
                      </a:solidFill>
                    </a:lnR>
                    <a:lnT>
                      <a:solidFill>
                        <a:srgbClr val="000000"/>
                      </a:solidFill>
                    </a:lnT>
                    <a:lnB>
                      <a:solidFill>
                        <a:srgbClr val="000000"/>
                      </a:solidFill>
                    </a:lnB>
                  </a:tcPr>
                </a:tc>
              </a:tr>
            </a:tbl>
          </a:graphicData>
        </a:graphic>
      </p:graphicFrame>
      <p:pic>
        <p:nvPicPr>
          <p:cNvPr id="475" name="Google Shape;502;p57" descr="Google Shape;502;p57"/>
          <p:cNvPicPr>
            <a:picLocks noChangeAspect="1"/>
          </p:cNvPicPr>
          <p:nvPr/>
        </p:nvPicPr>
        <p:blipFill>
          <a:blip r:embed="rId2">
            <a:extLst/>
          </a:blip>
          <a:stretch>
            <a:fillRect/>
          </a:stretch>
        </p:blipFill>
        <p:spPr>
          <a:xfrm>
            <a:off x="4972249" y="712982"/>
            <a:ext cx="4019351" cy="3001794"/>
          </a:xfrm>
          <a:prstGeom prst="rect">
            <a:avLst/>
          </a:prstGeom>
          <a:ln w="12700">
            <a:miter lim="400000"/>
          </a:ln>
        </p:spPr>
      </p:pic>
      <p:sp>
        <p:nvSpPr>
          <p:cNvPr id="476" name="Google Shape;503;p57"/>
          <p:cNvSpPr txBox="1"/>
          <p:nvPr/>
        </p:nvSpPr>
        <p:spPr>
          <a:xfrm>
            <a:off x="364649" y="4450800"/>
            <a:ext cx="8414702" cy="48308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sz="1100"/>
            </a:lvl1pPr>
          </a:lstStyle>
          <a:p>
            <a:pPr/>
            <a:r>
              <a:t>The fitted LR model produced a sparse coefficient pattern, consistent with Elastic Net regularisation. Several behavioural features were reduced to zero, while candidate price and filter match retained non-zero coefficients.</a:t>
            </a:r>
          </a:p>
        </p:txBody>
      </p:sp>
      <p:sp>
        <p:nvSpPr>
          <p:cNvPr id="477" name="Google Shape;504;p57"/>
          <p:cNvSpPr txBox="1"/>
          <p:nvPr/>
        </p:nvSpPr>
        <p:spPr>
          <a:xfrm>
            <a:off x="5357100" y="3750462"/>
            <a:ext cx="3634500" cy="433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i="1" sz="900"/>
            </a:lvl1pPr>
          </a:lstStyle>
          <a:p>
            <a:pPr/>
            <a:r>
              <a:t>Figure 1: MLP feature importance using SHAP (Author’s own work, 2026)</a:t>
            </a:r>
          </a:p>
        </p:txBody>
      </p:sp>
      <p:sp>
        <p:nvSpPr>
          <p:cNvPr id="478" name="Google Shape;505;p57"/>
          <p:cNvSpPr txBox="1"/>
          <p:nvPr/>
        </p:nvSpPr>
        <p:spPr>
          <a:xfrm>
            <a:off x="343175" y="3709448"/>
            <a:ext cx="4476601" cy="306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i="1" sz="900"/>
            </a:lvl1pPr>
          </a:lstStyle>
          <a:p>
            <a:pPr/>
            <a:r>
              <a:t>Table 9: MLP feature importance using SHAP (Author’s own work, 2026)</a:t>
            </a: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0" name="Google Shape;510;p58"/>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I: MLP SHAP Analysis Results</a:t>
            </a:r>
          </a:p>
        </p:txBody>
      </p:sp>
      <p:sp>
        <p:nvSpPr>
          <p:cNvPr id="481" name="Google Shape;511;p58"/>
          <p:cNvSpPr txBox="1"/>
          <p:nvPr/>
        </p:nvSpPr>
        <p:spPr>
          <a:xfrm>
            <a:off x="410500" y="3880979"/>
            <a:ext cx="4476601" cy="306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i="1" sz="900"/>
            </a:lvl1pPr>
          </a:lstStyle>
          <a:p>
            <a:pPr/>
            <a:r>
              <a:t>Figure 2: SHAP dependence for relative_price (Author’s own work, 2026)</a:t>
            </a:r>
          </a:p>
        </p:txBody>
      </p:sp>
      <p:pic>
        <p:nvPicPr>
          <p:cNvPr id="482" name="Google Shape;512;p58" descr="Google Shape;512;p58"/>
          <p:cNvPicPr>
            <a:picLocks noChangeAspect="1"/>
          </p:cNvPicPr>
          <p:nvPr/>
        </p:nvPicPr>
        <p:blipFill>
          <a:blip r:embed="rId2">
            <a:extLst/>
          </a:blip>
          <a:stretch>
            <a:fillRect/>
          </a:stretch>
        </p:blipFill>
        <p:spPr>
          <a:xfrm>
            <a:off x="352775" y="752824"/>
            <a:ext cx="4457401" cy="3165401"/>
          </a:xfrm>
          <a:prstGeom prst="rect">
            <a:avLst/>
          </a:prstGeom>
          <a:ln w="12700">
            <a:miter lim="400000"/>
          </a:ln>
        </p:spPr>
      </p:pic>
      <p:sp>
        <p:nvSpPr>
          <p:cNvPr id="483" name="Google Shape;513;p58"/>
          <p:cNvSpPr txBox="1"/>
          <p:nvPr/>
        </p:nvSpPr>
        <p:spPr>
          <a:xfrm>
            <a:off x="5303899" y="970949"/>
            <a:ext cx="3000001" cy="290402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nSpc>
                <a:spcPct val="120000"/>
              </a:lnSpc>
              <a:defRPr sz="1200"/>
            </a:lvl1pPr>
          </a:lstStyle>
          <a:p>
            <a:pPr/>
            <a:r>
              <a:t>Figure 2 represents SHAP dependence for relative price in the tuned MLP. Relatively lower-priced candidates generally increased the model score, while higher relative prices tended to reduce it. The non-linear pattern contrasts with the tuned Elastic Net Logistic Regression model, which reduced the relative-price coefficient to zero. SHAP values represent contributions to the MLP output score and should not be interpreted as causal effects.</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5" name="Google Shape;518;p59"/>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J: MLP SHAP Analysis Results</a:t>
            </a:r>
          </a:p>
        </p:txBody>
      </p:sp>
      <p:sp>
        <p:nvSpPr>
          <p:cNvPr id="486" name="Google Shape;519;p59"/>
          <p:cNvSpPr txBox="1"/>
          <p:nvPr/>
        </p:nvSpPr>
        <p:spPr>
          <a:xfrm>
            <a:off x="343175" y="3819774"/>
            <a:ext cx="4476601" cy="306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i="1" sz="900"/>
            </a:lvl1pPr>
          </a:lstStyle>
          <a:p>
            <a:pPr/>
            <a:r>
              <a:t>Figure 3: SHAP dependence for candidate_price (Author’s own work, 2026)</a:t>
            </a:r>
          </a:p>
        </p:txBody>
      </p:sp>
      <p:sp>
        <p:nvSpPr>
          <p:cNvPr id="487" name="Google Shape;520;p59"/>
          <p:cNvSpPr txBox="1"/>
          <p:nvPr/>
        </p:nvSpPr>
        <p:spPr>
          <a:xfrm>
            <a:off x="5303899" y="970950"/>
            <a:ext cx="3000001" cy="1417479"/>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nSpc>
                <a:spcPct val="120000"/>
              </a:lnSpc>
              <a:defRPr sz="1200"/>
            </a:lvl1pPr>
          </a:lstStyle>
          <a:p>
            <a:pPr/>
            <a:r>
              <a:t>Figure 3 represents SHAP dependence for candidate_price in the tuned MLP. The results we see correspond with the negative coefficient (−0.176) in the LR model, with additional non-linearity revealed.</a:t>
            </a:r>
          </a:p>
        </p:txBody>
      </p:sp>
      <p:pic>
        <p:nvPicPr>
          <p:cNvPr id="488" name="Google Shape;521;p59" descr="Google Shape;521;p59"/>
          <p:cNvPicPr>
            <a:picLocks noChangeAspect="1"/>
          </p:cNvPicPr>
          <p:nvPr/>
        </p:nvPicPr>
        <p:blipFill>
          <a:blip r:embed="rId2">
            <a:extLst/>
          </a:blip>
          <a:stretch>
            <a:fillRect/>
          </a:stretch>
        </p:blipFill>
        <p:spPr>
          <a:xfrm>
            <a:off x="559512" y="970950"/>
            <a:ext cx="4043929" cy="2871775"/>
          </a:xfrm>
          <a:prstGeom prst="rect">
            <a:avLst/>
          </a:prstGeom>
          <a:ln w="12700">
            <a:miter lim="400000"/>
          </a:ln>
        </p:spPr>
      </p:pic>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0" name="Google Shape;526;p60"/>
          <p:cNvSpPr txBox="1"/>
          <p:nvPr/>
        </p:nvSpPr>
        <p:spPr>
          <a:xfrm>
            <a:off x="343100" y="181500"/>
            <a:ext cx="6735000" cy="4622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defRPr b="1" sz="1800">
                <a:latin typeface="Open Sans"/>
                <a:ea typeface="Open Sans"/>
                <a:cs typeface="Open Sans"/>
                <a:sym typeface="Open Sans"/>
              </a:defRPr>
            </a:lvl1pPr>
          </a:lstStyle>
          <a:p>
            <a:pPr/>
            <a:r>
              <a:t>K: City_representation bias check</a:t>
            </a:r>
          </a:p>
        </p:txBody>
      </p:sp>
      <p:sp>
        <p:nvSpPr>
          <p:cNvPr id="491" name="Google Shape;527;p60"/>
          <p:cNvSpPr txBox="1"/>
          <p:nvPr/>
        </p:nvSpPr>
        <p:spPr>
          <a:xfrm>
            <a:off x="1906349" y="2998255"/>
            <a:ext cx="5331302" cy="30611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lvl1pPr algn="ctr">
              <a:defRPr i="1" sz="900"/>
            </a:lvl1pPr>
          </a:lstStyle>
          <a:p>
            <a:pPr/>
            <a:r>
              <a:t>Table 9: Comparing MLP model performance by city representation (Author’s own work, 2026)</a:t>
            </a:r>
          </a:p>
        </p:txBody>
      </p:sp>
      <p:sp>
        <p:nvSpPr>
          <p:cNvPr id="492" name="Google Shape;528;p60"/>
          <p:cNvSpPr txBox="1"/>
          <p:nvPr/>
        </p:nvSpPr>
        <p:spPr>
          <a:xfrm>
            <a:off x="343100" y="3433831"/>
            <a:ext cx="8324699" cy="106686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defRPr b="1" sz="1200"/>
            </a:pPr>
            <a:r>
              <a:t>Finding: </a:t>
            </a:r>
            <a:r>
              <a:rPr b="0"/>
              <a:t>Ranking quality varies across destination-representation groups, with strongest performance for highly represented cities and weakest performance for medium-representation cities.</a:t>
            </a:r>
          </a:p>
          <a:p>
            <a:pPr/>
            <a:endParaRPr sz="1200"/>
          </a:p>
          <a:p>
            <a:pPr>
              <a:defRPr b="1" sz="1200"/>
            </a:pPr>
            <a:r>
              <a:t>Interpretation: </a:t>
            </a:r>
            <a:r>
              <a:rPr b="0"/>
              <a:t>The pattern is not monotonic; rare-city grouping during preprocessing may affect the lower-representation group. The diagnostic identifies a disparity but does not establish its cause.</a:t>
            </a:r>
          </a:p>
        </p:txBody>
      </p:sp>
      <p:graphicFrame>
        <p:nvGraphicFramePr>
          <p:cNvPr id="493" name="Google Shape;529;p60"/>
          <p:cNvGraphicFramePr/>
          <p:nvPr/>
        </p:nvGraphicFramePr>
        <p:xfrm>
          <a:off x="343087" y="1223950"/>
          <a:ext cx="8248651" cy="762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203050"/>
                <a:gridCol w="2031700"/>
                <a:gridCol w="794025"/>
                <a:gridCol w="1323325"/>
                <a:gridCol w="1132175"/>
                <a:gridCol w="674375"/>
                <a:gridCol w="1090000"/>
              </a:tblGrid>
              <a:tr h="190500">
                <a:tc>
                  <a:txBody>
                    <a:bodyPr/>
                    <a:lstStyle/>
                    <a:p>
                      <a:pPr algn="l">
                        <a:lnSpc>
                          <a:spcPct val="115000"/>
                        </a:lnSpc>
                        <a:defRPr sz="1800"/>
                      </a:pPr>
                      <a:r>
                        <a:rPr b="1" sz="1200"/>
                        <a:t>Group</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Training events per city group</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Median</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Unique cities</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Test events</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MRR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NDCG@10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Lower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2–51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16</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2,126</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7,783</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0.2562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0.3157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Medium</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52–360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141</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314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7,802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0.2415</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0.2972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r h="190500">
                <a:tc>
                  <a:txBody>
                    <a:bodyPr/>
                    <a:lstStyle/>
                    <a:p>
                      <a:pPr algn="l">
                        <a:defRPr sz="1800"/>
                      </a:pPr>
                      <a:r>
                        <a:rPr sz="1200"/>
                        <a:t>Higher</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373–7,402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1,470</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32</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sz="1200"/>
                        <a:t>7,688</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0.2784</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c>
                  <a:txBody>
                    <a:bodyPr/>
                    <a:lstStyle/>
                    <a:p>
                      <a:pPr algn="l">
                        <a:lnSpc>
                          <a:spcPct val="115000"/>
                        </a:lnSpc>
                        <a:defRPr sz="1800"/>
                      </a:pPr>
                      <a:r>
                        <a:rPr b="1" sz="1200"/>
                        <a:t>0.3417</a:t>
                      </a:r>
                    </a:p>
                  </a:txBody>
                  <a:tcPr marL="91425" marR="91425" marT="91425" marB="91425" anchor="t" anchorCtr="0" horzOverflow="overflow">
                    <a:lnL>
                      <a:solidFill>
                        <a:srgbClr val="D9D9D9"/>
                      </a:solidFill>
                    </a:lnL>
                    <a:lnR>
                      <a:solidFill>
                        <a:srgbClr val="D9D9D9"/>
                      </a:solidFill>
                    </a:lnR>
                    <a:lnT>
                      <a:solidFill>
                        <a:srgbClr val="D9D9D9"/>
                      </a:solidFill>
                    </a:lnT>
                    <a:lnB>
                      <a:solidFill>
                        <a:srgbClr val="D9D9D9"/>
                      </a:solidFill>
                    </a:lnB>
                  </a:tcPr>
                </a:tc>
              </a:tr>
            </a:tbl>
          </a:graphicData>
        </a:graphic>
      </p:graphicFrame>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solidFill>
      </p:bgPr>
    </p:bg>
    <p:spTree>
      <p:nvGrpSpPr>
        <p:cNvPr id="1" name=""/>
        <p:cNvGrpSpPr/>
        <p:nvPr/>
      </p:nvGrpSpPr>
      <p:grpSpPr>
        <a:xfrm>
          <a:off x="0" y="0"/>
          <a:ext cx="0" cy="0"/>
          <a:chOff x="0" y="0"/>
          <a:chExt cx="0" cy="0"/>
        </a:xfrm>
      </p:grpSpPr>
      <p:sp>
        <p:nvSpPr>
          <p:cNvPr id="495" name="Google Shape;534;p61"/>
          <p:cNvSpPr txBox="1"/>
          <p:nvPr>
            <p:ph type="title"/>
          </p:nvPr>
        </p:nvSpPr>
        <p:spPr>
          <a:xfrm>
            <a:off x="360424" y="2098350"/>
            <a:ext cx="8520602" cy="946800"/>
          </a:xfrm>
          <a:prstGeom prst="rect">
            <a:avLst/>
          </a:prstGeom>
        </p:spPr>
        <p:txBody>
          <a:bodyPr/>
          <a:lstStyle>
            <a:lvl1pPr>
              <a:defRPr>
                <a:solidFill>
                  <a:srgbClr val="FFFFFF"/>
                </a:solidFill>
              </a:defRPr>
            </a:lvl1pPr>
          </a:lstStyle>
          <a:p>
            <a:pPr/>
            <a:r>
              <a:t>References and Bibliography</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7" name="Google Shape;539;p62"/>
          <p:cNvSpPr txBox="1"/>
          <p:nvPr>
            <p:ph type="title"/>
          </p:nvPr>
        </p:nvSpPr>
        <p:spPr>
          <a:xfrm>
            <a:off x="311699" y="290244"/>
            <a:ext cx="8520602" cy="392701"/>
          </a:xfrm>
          <a:prstGeom prst="rect">
            <a:avLst/>
          </a:prstGeom>
        </p:spPr>
        <p:txBody>
          <a:bodyPr/>
          <a:lstStyle>
            <a:lvl1pPr>
              <a:defRPr b="1" sz="1400"/>
            </a:lvl1pPr>
          </a:lstStyle>
          <a:p>
            <a:pPr/>
            <a:r>
              <a:t>References</a:t>
            </a:r>
          </a:p>
        </p:txBody>
      </p:sp>
      <p:sp>
        <p:nvSpPr>
          <p:cNvPr id="498" name="Google Shape;540;p62"/>
          <p:cNvSpPr txBox="1"/>
          <p:nvPr>
            <p:ph type="body" idx="1"/>
          </p:nvPr>
        </p:nvSpPr>
        <p:spPr>
          <a:xfrm>
            <a:off x="311699" y="728869"/>
            <a:ext cx="8520602" cy="4142100"/>
          </a:xfrm>
          <a:prstGeom prst="rect">
            <a:avLst/>
          </a:prstGeom>
        </p:spPr>
        <p:txBody>
          <a:bodyPr/>
          <a:lstStyle/>
          <a:p>
            <a:pPr marL="0" indent="0">
              <a:buSzTx/>
              <a:buNone/>
              <a:defRPr sz="1000"/>
            </a:pPr>
            <a:r>
              <a:t>Adamczak, J. et al. (2020) ‘Session-based hotel recommendations dataset: As part of the ACM Recommender System Challenge 2019’, ACM Transactions on Intelligent Systems and Technology, 12(1), pp. 1–20. Available at: </a:t>
            </a:r>
            <a:r>
              <a:rPr u="sng">
                <a:solidFill>
                  <a:schemeClr val="accent5"/>
                </a:solidFill>
                <a:uFill>
                  <a:solidFill>
                    <a:schemeClr val="accent5"/>
                  </a:solidFill>
                </a:uFill>
                <a:hlinkClick r:id="rId2" invalidUrl="" action="" tgtFrame="" tooltip="" history="1" highlightClick="0" endSnd="0"/>
              </a:rPr>
              <a:t>https://doi.org/10.1145/3412379</a:t>
            </a:r>
          </a:p>
          <a:p>
            <a:pPr marL="0" indent="0">
              <a:spcBef>
                <a:spcPts val="1200"/>
              </a:spcBef>
              <a:buSzTx/>
              <a:buNone/>
              <a:defRPr sz="1000"/>
            </a:pPr>
            <a:r>
              <a:t>Caballar, R.D. and Stryker, C. (2026) </a:t>
            </a:r>
            <a:r>
              <a:rPr i="1"/>
              <a:t>What is model deployment?</a:t>
            </a:r>
            <a:r>
              <a:t> IBM. Available at:</a:t>
            </a:r>
            <a:r>
              <a:rPr u="sng">
                <a:solidFill>
                  <a:schemeClr val="accent5"/>
                </a:solidFill>
                <a:uFill>
                  <a:solidFill>
                    <a:schemeClr val="accent5"/>
                  </a:solidFill>
                </a:uFill>
                <a:hlinkClick r:id="rId3" invalidUrl="" action="" tgtFrame="" tooltip="" history="1" highlightClick="0" endSnd="0"/>
              </a:rPr>
              <a:t> </a:t>
            </a:r>
            <a:r>
              <a:rPr u="sng">
                <a:solidFill>
                  <a:schemeClr val="accent5"/>
                </a:solidFill>
                <a:uFill>
                  <a:solidFill>
                    <a:schemeClr val="accent5"/>
                  </a:solidFill>
                </a:uFill>
                <a:hlinkClick r:id="rId3" invalidUrl="" action="" tgtFrame="" tooltip="" history="1" highlightClick="0" endSnd="0"/>
              </a:rPr>
              <a:t>https://www.ibm.com/think/topics/model-deployment</a:t>
            </a:r>
            <a:r>
              <a:rPr>
                <a:solidFill>
                  <a:srgbClr val="000000"/>
                </a:solidFill>
              </a:rPr>
              <a:t> </a:t>
            </a:r>
            <a:r>
              <a:t>(Accessed: 1 October 2026).</a:t>
            </a:r>
          </a:p>
          <a:p>
            <a:pPr marL="0" indent="0">
              <a:spcBef>
                <a:spcPts val="1200"/>
              </a:spcBef>
              <a:buSzTx/>
              <a:buNone/>
              <a:defRPr sz="1000"/>
            </a:pPr>
            <a:r>
              <a:t>Devanathan, B. et al. (2025) ‘Explainable AI framework using XGBoost with SHAP and LIME for multi-scale household energy forecasting’, IEEE Access. Available at: </a:t>
            </a:r>
            <a:r>
              <a:rPr u="sng">
                <a:solidFill>
                  <a:schemeClr val="accent5"/>
                </a:solidFill>
                <a:uFill>
                  <a:solidFill>
                    <a:schemeClr val="accent5"/>
                  </a:solidFill>
                </a:uFill>
                <a:hlinkClick r:id="rId4" invalidUrl="" action="" tgtFrame="" tooltip="" history="1" highlightClick="0" endSnd="0"/>
              </a:rPr>
              <a:t>https://doi.org/10.1109/ACCESS.2025.3602673</a:t>
            </a:r>
            <a:r>
              <a:t> </a:t>
            </a:r>
          </a:p>
          <a:p>
            <a:pPr marL="0" indent="0">
              <a:spcBef>
                <a:spcPts val="1200"/>
              </a:spcBef>
              <a:buSzTx/>
              <a:buNone/>
              <a:defRPr sz="1000"/>
            </a:pPr>
            <a:r>
              <a:t>Esmeli, R., Abdullahi, H., Bader-El-Den, M. and Can, A.S. (2024) ‘Session context data integration to address the cold start problem in e-commerce recommender systems’, Decision Support Systems, 187, article 114339. Available at: </a:t>
            </a:r>
            <a:r>
              <a:rPr u="sng">
                <a:solidFill>
                  <a:schemeClr val="accent5"/>
                </a:solidFill>
                <a:uFill>
                  <a:solidFill>
                    <a:schemeClr val="accent5"/>
                  </a:solidFill>
                </a:uFill>
                <a:hlinkClick r:id="rId5" invalidUrl="" action="" tgtFrame="" tooltip="" history="1" highlightClick="0" endSnd="0"/>
              </a:rPr>
              <a:t>https://doi.org/10.1016/j.dss.2024.114339</a:t>
            </a:r>
            <a:r>
              <a:t> </a:t>
            </a:r>
          </a:p>
          <a:p>
            <a:pPr marL="0" indent="0">
              <a:spcBef>
                <a:spcPts val="1200"/>
              </a:spcBef>
              <a:buSzTx/>
              <a:buNone/>
              <a:defRPr sz="1000"/>
            </a:pPr>
            <a:r>
              <a:t>Flórez, M. et al. (2025) ‘A context-aware tourism recommender system using a hybrid method combining deep learning and ontology-based knowledge’, Journal of Theoretical and Applied Electronic Commerce Research, 20(3), article 194. Available at: </a:t>
            </a:r>
            <a:r>
              <a:rPr u="sng">
                <a:solidFill>
                  <a:schemeClr val="accent5"/>
                </a:solidFill>
                <a:uFill>
                  <a:solidFill>
                    <a:schemeClr val="accent5"/>
                  </a:solidFill>
                </a:uFill>
                <a:hlinkClick r:id="rId6" invalidUrl="" action="" tgtFrame="" tooltip="" history="1" highlightClick="0" endSnd="0"/>
              </a:rPr>
              <a:t>https://doi.org/10.3390/jtaer20030194</a:t>
            </a:r>
            <a:r>
              <a:t> </a:t>
            </a:r>
          </a:p>
          <a:p>
            <a:pPr marL="0" indent="0">
              <a:spcBef>
                <a:spcPts val="1200"/>
              </a:spcBef>
              <a:buSzTx/>
              <a:buNone/>
              <a:defRPr sz="1000"/>
            </a:pPr>
            <a:r>
              <a:t>Géron, A. (2025) Hands-On Machine Learning with Scikit-Learn and PyTorch. Sebastopol, CA: O’Reilly Media (Accessed: 15 September 2026). </a:t>
            </a:r>
          </a:p>
          <a:p>
            <a:pPr marL="0" indent="0">
              <a:spcBef>
                <a:spcPts val="1200"/>
              </a:spcBef>
              <a:buSzTx/>
              <a:buNone/>
              <a:defRPr sz="1000"/>
            </a:pPr>
            <a:r>
              <a:t>Google (n.d.) Google Colaboratory. Available at: Google Colab documentation (Accessed: 16 September 2026).</a:t>
            </a:r>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0" name="Google Shape;545;p63"/>
          <p:cNvSpPr txBox="1"/>
          <p:nvPr>
            <p:ph type="title"/>
          </p:nvPr>
        </p:nvSpPr>
        <p:spPr>
          <a:xfrm>
            <a:off x="311699" y="230713"/>
            <a:ext cx="8520602" cy="392701"/>
          </a:xfrm>
          <a:prstGeom prst="rect">
            <a:avLst/>
          </a:prstGeom>
        </p:spPr>
        <p:txBody>
          <a:bodyPr/>
          <a:lstStyle>
            <a:lvl1pPr>
              <a:defRPr b="1" sz="1400"/>
            </a:lvl1pPr>
          </a:lstStyle>
          <a:p>
            <a:pPr/>
            <a:r>
              <a:t>References</a:t>
            </a:r>
          </a:p>
        </p:txBody>
      </p:sp>
      <p:sp>
        <p:nvSpPr>
          <p:cNvPr id="501" name="Google Shape;546;p63"/>
          <p:cNvSpPr txBox="1"/>
          <p:nvPr>
            <p:ph type="body" idx="1"/>
          </p:nvPr>
        </p:nvSpPr>
        <p:spPr>
          <a:xfrm>
            <a:off x="311699" y="669350"/>
            <a:ext cx="8784302" cy="4378802"/>
          </a:xfrm>
          <a:prstGeom prst="rect">
            <a:avLst/>
          </a:prstGeom>
        </p:spPr>
        <p:txBody>
          <a:bodyPr/>
          <a:lstStyle/>
          <a:p>
            <a:pPr marL="0" indent="0">
              <a:buSzTx/>
              <a:buNone/>
              <a:defRPr sz="1000"/>
            </a:pPr>
            <a:r>
              <a:t>Halimi, N. (2026) </a:t>
            </a:r>
            <a:r>
              <a:rPr i="1"/>
              <a:t>Accommodation ranking assignment</a:t>
            </a:r>
            <a:r>
              <a:t> [GitHub repository]. Available at:</a:t>
            </a:r>
            <a:r>
              <a:rPr u="sng">
                <a:solidFill>
                  <a:schemeClr val="accent5"/>
                </a:solidFill>
                <a:uFill>
                  <a:solidFill>
                    <a:schemeClr val="accent5"/>
                  </a:solidFill>
                </a:uFill>
                <a:hlinkClick r:id="rId2" invalidUrl="" action="" tgtFrame="" tooltip="" history="1" highlightClick="0" endSnd="0"/>
              </a:rPr>
              <a:t> </a:t>
            </a:r>
            <a:r>
              <a:rPr u="sng">
                <a:solidFill>
                  <a:schemeClr val="accent5"/>
                </a:solidFill>
                <a:uFill>
                  <a:solidFill>
                    <a:schemeClr val="accent5"/>
                  </a:solidFill>
                </a:uFill>
                <a:hlinkClick r:id="rId2" invalidUrl="" action="" tgtFrame="" tooltip="" history="1" highlightClick="0" endSnd="0"/>
              </a:rPr>
              <a:t>https://github.com/natinat/accommodation-ranking-assignment</a:t>
            </a:r>
            <a:r>
              <a:rPr>
                <a:solidFill>
                  <a:srgbClr val="000000"/>
                </a:solidFill>
              </a:rPr>
              <a:t> </a:t>
            </a:r>
            <a:r>
              <a:t>(Accessed: 3 October 2026).</a:t>
            </a:r>
          </a:p>
          <a:p>
            <a:pPr marL="0" indent="0">
              <a:spcBef>
                <a:spcPts val="1000"/>
              </a:spcBef>
              <a:buSzTx/>
              <a:buNone/>
              <a:defRPr sz="1000"/>
            </a:pPr>
            <a:r>
              <a:t>Ke, G. et al. (2017) ‘LightGBM: A highly efficient gradient boosting decision tree’, Advances in Neural Information Processing Systems, 30.</a:t>
            </a:r>
          </a:p>
          <a:p>
            <a:pPr marL="0" indent="0">
              <a:spcBef>
                <a:spcPts val="1200"/>
              </a:spcBef>
              <a:buSzTx/>
              <a:buNone/>
              <a:defRPr sz="1000"/>
            </a:pPr>
            <a:r>
              <a:t>Leslie, D. (2019) </a:t>
            </a:r>
            <a:r>
              <a:rPr i="1"/>
              <a:t>Understanding artificial intelligence ethics and safety: A guide for the responsible design and implementation of AI systems in the public sector</a:t>
            </a:r>
            <a:r>
              <a:t>. The Alan Turing Institute. Available at:</a:t>
            </a:r>
            <a:r>
              <a:rPr u="sng">
                <a:solidFill>
                  <a:schemeClr val="accent5"/>
                </a:solidFill>
                <a:uFill>
                  <a:solidFill>
                    <a:schemeClr val="accent5"/>
                  </a:solidFill>
                </a:uFill>
                <a:hlinkClick r:id="rId3" invalidUrl="" action="" tgtFrame="" tooltip="" history="1" highlightClick="0" endSnd="0"/>
              </a:rPr>
              <a:t> </a:t>
            </a:r>
            <a:r>
              <a:rPr u="sng">
                <a:solidFill>
                  <a:schemeClr val="accent5"/>
                </a:solidFill>
                <a:uFill>
                  <a:solidFill>
                    <a:schemeClr val="accent5"/>
                  </a:solidFill>
                </a:uFill>
                <a:hlinkClick r:id="rId3" invalidUrl="" action="" tgtFrame="" tooltip="" history="1" highlightClick="0" endSnd="0"/>
              </a:rPr>
              <a:t>https://doi.org/10.5281/zenodo.3240529</a:t>
            </a:r>
          </a:p>
          <a:p>
            <a:pPr marL="0" indent="0">
              <a:spcBef>
                <a:spcPts val="1200"/>
              </a:spcBef>
              <a:buSzTx/>
              <a:buNone/>
              <a:defRPr sz="1000"/>
            </a:pPr>
            <a:r>
              <a:t>Mahajan, P. (2019) Trivago RecSys Challenge Data 2019 [Dataset]. Kaggle. Available at: </a:t>
            </a:r>
            <a:r>
              <a:rPr u="sng">
                <a:solidFill>
                  <a:schemeClr val="accent5"/>
                </a:solidFill>
                <a:uFill>
                  <a:solidFill>
                    <a:schemeClr val="accent5"/>
                  </a:solidFill>
                </a:uFill>
                <a:hlinkClick r:id="rId4" invalidUrl="" action="" tgtFrame="" tooltip="" history="1" highlightClick="0" endSnd="0"/>
              </a:rPr>
              <a:t>https://www.kaggle.com/datasets/pranavmahajan725/trivagorecsyschallengedata2019</a:t>
            </a:r>
            <a:r>
              <a:t> (Accessed: 12 September 2026).</a:t>
            </a:r>
          </a:p>
          <a:p>
            <a:pPr marL="0" indent="0">
              <a:spcBef>
                <a:spcPts val="1200"/>
              </a:spcBef>
              <a:buSzTx/>
              <a:buNone/>
              <a:defRPr sz="1000"/>
            </a:pPr>
            <a:r>
              <a:t>Molnar, C. (2025) </a:t>
            </a:r>
            <a:r>
              <a:rPr i="1"/>
              <a:t>Interpretable machine learning: a guide for making black box models explainable</a:t>
            </a:r>
            <a:r>
              <a:t>. 3rd edn. Chapters 14, 15 and 33. Available at: </a:t>
            </a:r>
            <a:r>
              <a:rPr u="sng">
                <a:solidFill>
                  <a:schemeClr val="accent5"/>
                </a:solidFill>
                <a:uFill>
                  <a:solidFill>
                    <a:schemeClr val="accent5"/>
                  </a:solidFill>
                </a:uFill>
                <a:hlinkClick r:id="rId5" invalidUrl="" action="" tgtFrame="" tooltip="" history="1" highlightClick="0" endSnd="0"/>
              </a:rPr>
              <a:t>https://christophm.github.io/interpretable-ml-book/</a:t>
            </a:r>
            <a:r>
              <a:t> (Accessed: 25 September 2026)</a:t>
            </a:r>
          </a:p>
          <a:p>
            <a:pPr marL="0" indent="0">
              <a:spcBef>
                <a:spcPts val="1200"/>
              </a:spcBef>
              <a:buSzTx/>
              <a:buNone/>
              <a:defRPr sz="1000"/>
            </a:pPr>
            <a:r>
              <a:t>Nan, X., Parthasarathy, R. and Wang, C. (2023) ‘Personalized travel recommendation system based on data mining technology’, in Advances in Artificial Intelligence, Big Data and Algorithms, pp. 445–452. Available at: </a:t>
            </a:r>
            <a:r>
              <a:rPr u="sng">
                <a:solidFill>
                  <a:schemeClr val="accent5"/>
                </a:solidFill>
                <a:uFill>
                  <a:solidFill>
                    <a:schemeClr val="accent5"/>
                  </a:solidFill>
                </a:uFill>
                <a:hlinkClick r:id="rId6" invalidUrl="" action="" tgtFrame="" tooltip="" history="1" highlightClick="0" endSnd="0"/>
              </a:rPr>
              <a:t>https://doi.org/10.3233/FAIA230840</a:t>
            </a:r>
          </a:p>
          <a:p>
            <a:pPr marL="0" indent="0">
              <a:spcBef>
                <a:spcPts val="1000"/>
              </a:spcBef>
              <a:buSzTx/>
              <a:buNone/>
              <a:defRPr sz="1000"/>
            </a:pPr>
            <a:r>
              <a:t>Paszke, A. et al. (2019) ‘PyTorch: An imperative style, high-performance deep learning library’, Advances in Neural Information Processing Systems, 32.</a:t>
            </a:r>
          </a:p>
          <a:p>
            <a:pPr marL="0" indent="0">
              <a:spcBef>
                <a:spcPts val="1000"/>
              </a:spcBef>
              <a:buSzTx/>
              <a:buNone/>
              <a:defRPr sz="1000"/>
            </a:pPr>
            <a:r>
              <a:t>Pedregosa, F. et al. (2011) ‘Scikit-learn: Machine learning in Python’, Journal of Machine Learning Research, 12, pp. 2825–2830.</a:t>
            </a: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3" name="Google Shape;551;p64"/>
          <p:cNvSpPr txBox="1"/>
          <p:nvPr>
            <p:ph type="title"/>
          </p:nvPr>
        </p:nvSpPr>
        <p:spPr>
          <a:xfrm>
            <a:off x="311699" y="290244"/>
            <a:ext cx="8520602" cy="392701"/>
          </a:xfrm>
          <a:prstGeom prst="rect">
            <a:avLst/>
          </a:prstGeom>
        </p:spPr>
        <p:txBody>
          <a:bodyPr/>
          <a:lstStyle>
            <a:lvl1pPr>
              <a:defRPr b="1" sz="1400"/>
            </a:lvl1pPr>
          </a:lstStyle>
          <a:p>
            <a:pPr/>
            <a:r>
              <a:t>References</a:t>
            </a:r>
          </a:p>
        </p:txBody>
      </p:sp>
      <p:sp>
        <p:nvSpPr>
          <p:cNvPr id="504" name="Google Shape;552;p64"/>
          <p:cNvSpPr txBox="1"/>
          <p:nvPr>
            <p:ph type="body" idx="1"/>
          </p:nvPr>
        </p:nvSpPr>
        <p:spPr>
          <a:xfrm>
            <a:off x="311699" y="728875"/>
            <a:ext cx="8784302" cy="4128900"/>
          </a:xfrm>
          <a:prstGeom prst="rect">
            <a:avLst/>
          </a:prstGeom>
        </p:spPr>
        <p:txBody>
          <a:bodyPr/>
          <a:lstStyle/>
          <a:p>
            <a:pPr marL="0" indent="0">
              <a:buSzTx/>
              <a:buNone/>
              <a:defRPr sz="1000"/>
            </a:pPr>
            <a:r>
              <a:t>Rahim M, N. and Basheer K.P, M. (2025) ‘A hybrid explainability framework for recommender systems using SHAP with natural language interpretations’, International Journal of Innovative Research and Scientific Studies, 8(6), pp. 687–703. Available at: </a:t>
            </a:r>
            <a:r>
              <a:rPr u="sng">
                <a:solidFill>
                  <a:schemeClr val="accent5"/>
                </a:solidFill>
                <a:uFill>
                  <a:solidFill>
                    <a:schemeClr val="accent5"/>
                  </a:solidFill>
                </a:uFill>
                <a:hlinkClick r:id="rId2" invalidUrl="" action="" tgtFrame="" tooltip="" history="1" highlightClick="0" endSnd="0"/>
              </a:rPr>
              <a:t>https://doi.org/10.53894/ijirss.v8i6.9669</a:t>
            </a:r>
            <a:r>
              <a:t> </a:t>
            </a:r>
          </a:p>
          <a:p>
            <a:pPr marL="0" indent="0">
              <a:spcBef>
                <a:spcPts val="1000"/>
              </a:spcBef>
              <a:buSzTx/>
              <a:buNone/>
              <a:defRPr sz="1000"/>
            </a:pPr>
            <a:r>
              <a:t>Ramírez, A. et al. (2024) ‘Towards explainable test case prioritisation with learning-to-rank models’, arXiv, arXiv:2405.13786. Available at: </a:t>
            </a:r>
            <a:r>
              <a:rPr u="sng">
                <a:solidFill>
                  <a:schemeClr val="accent5"/>
                </a:solidFill>
                <a:uFill>
                  <a:solidFill>
                    <a:schemeClr val="accent5"/>
                  </a:solidFill>
                </a:uFill>
                <a:hlinkClick r:id="rId3" invalidUrl="" action="" tgtFrame="" tooltip="" history="1" highlightClick="0" endSnd="0"/>
              </a:rPr>
              <a:t>https://arxiv.org/abs/2405.13786</a:t>
            </a:r>
            <a:r>
              <a:t> (Accessed: 15 September 2026).</a:t>
            </a:r>
          </a:p>
          <a:p>
            <a:pPr marL="0" indent="0">
              <a:spcBef>
                <a:spcPts val="1000"/>
              </a:spcBef>
              <a:buSzTx/>
              <a:buNone/>
              <a:defRPr sz="1000"/>
            </a:pPr>
            <a:r>
              <a:t>Regulation (EU) 2016/679 of the European Parliament and of the Council of 27 April 2016 on the protection of natural persons with regard to the processing of personal data and on the free movement of such data (General Data Protection Regulation) [2016] </a:t>
            </a:r>
            <a:r>
              <a:rPr i="1"/>
              <a:t>Official Journal of the European Union</a:t>
            </a:r>
            <a:r>
              <a:t>, L119, pp. 1–88. Available at:</a:t>
            </a:r>
            <a:r>
              <a:rPr u="sng">
                <a:solidFill>
                  <a:schemeClr val="accent5"/>
                </a:solidFill>
                <a:uFill>
                  <a:solidFill>
                    <a:schemeClr val="accent5"/>
                  </a:solidFill>
                </a:uFill>
                <a:hlinkClick r:id="rId4" invalidUrl="" action="" tgtFrame="" tooltip="" history="1" highlightClick="0" endSnd="0"/>
              </a:rPr>
              <a:t> </a:t>
            </a:r>
            <a:r>
              <a:rPr u="sng">
                <a:solidFill>
                  <a:schemeClr val="accent5"/>
                </a:solidFill>
                <a:uFill>
                  <a:solidFill>
                    <a:schemeClr val="accent5"/>
                  </a:solidFill>
                </a:uFill>
                <a:hlinkClick r:id="rId4" invalidUrl="" action="" tgtFrame="" tooltip="" history="1" highlightClick="0" endSnd="0"/>
              </a:rPr>
              <a:t>https://eur-lex.europa.eu/eli/reg/2016/679/oj/eng</a:t>
            </a:r>
            <a:r>
              <a:rPr>
                <a:solidFill>
                  <a:srgbClr val="000000"/>
                </a:solidFill>
              </a:rPr>
              <a:t> </a:t>
            </a:r>
            <a:r>
              <a:t>(Accessed: 28 September 2026).</a:t>
            </a:r>
          </a:p>
          <a:p>
            <a:pPr marL="0" indent="0">
              <a:spcBef>
                <a:spcPts val="1000"/>
              </a:spcBef>
              <a:buSzTx/>
              <a:buNone/>
              <a:defRPr sz="1000"/>
            </a:pPr>
            <a:r>
              <a:t>Sugiura, T., Yamagishi, Y. and Kishimoto, Y. (2024) ‘Leveraging LightGBM Ranker for efficient large-scale news recommendation systems’, in ACM RecSys Challenge 2024 (RecSys Challenge ’24). New York: ACM, pp. 27–31. Available at: </a:t>
            </a:r>
            <a:r>
              <a:rPr u="sng">
                <a:solidFill>
                  <a:schemeClr val="accent5"/>
                </a:solidFill>
                <a:uFill>
                  <a:solidFill>
                    <a:schemeClr val="accent5"/>
                  </a:solidFill>
                </a:uFill>
                <a:hlinkClick r:id="rId5" invalidUrl="" action="" tgtFrame="" tooltip="" history="1" highlightClick="0" endSnd="0"/>
              </a:rPr>
              <a:t>https://doi.org/10.1145/3687151.3687156</a:t>
            </a:r>
            <a:r>
              <a:t> </a:t>
            </a:r>
          </a:p>
          <a:p>
            <a:pPr marL="0" indent="0">
              <a:spcBef>
                <a:spcPts val="1000"/>
              </a:spcBef>
              <a:buSzTx/>
              <a:buNone/>
              <a:defRPr sz="1000"/>
            </a:pPr>
            <a:r>
              <a:t>Theobald, O. (2024) Machine learning: Make your own recommender system. Packt Publishing. Available at: </a:t>
            </a:r>
            <a:r>
              <a:rPr u="sng">
                <a:solidFill>
                  <a:schemeClr val="accent5"/>
                </a:solidFill>
                <a:uFill>
                  <a:solidFill>
                    <a:schemeClr val="accent5"/>
                  </a:solidFill>
                </a:uFill>
                <a:hlinkClick r:id="rId6" invalidUrl="" action="" tgtFrame="" tooltip="" history="1" highlightClick="0" endSnd="0"/>
              </a:rPr>
              <a:t>https://learning.oreilly.com/library/view/machine-learning-make/9781835882061/</a:t>
            </a:r>
            <a:r>
              <a:t> (Accessed: 24 September 2026).</a:t>
            </a:r>
          </a:p>
          <a:p>
            <a:pPr marL="0" indent="0">
              <a:spcBef>
                <a:spcPts val="1000"/>
              </a:spcBef>
              <a:buSzTx/>
              <a:buNone/>
              <a:defRPr sz="1000"/>
            </a:pPr>
            <a:r>
              <a:t>Upadhyay, M. (2025) ‘Model deployment and orchestration: The definitive guide’, </a:t>
            </a:r>
            <a:r>
              <a:rPr i="1"/>
              <a:t>Mirantis</a:t>
            </a:r>
            <a:r>
              <a:t>, 29 August. Available at:</a:t>
            </a:r>
            <a:r>
              <a:rPr u="sng">
                <a:solidFill>
                  <a:schemeClr val="accent5"/>
                </a:solidFill>
                <a:uFill>
                  <a:solidFill>
                    <a:schemeClr val="accent5"/>
                  </a:solidFill>
                </a:uFill>
                <a:hlinkClick r:id="rId7" invalidUrl="" action="" tgtFrame="" tooltip="" history="1" highlightClick="0" endSnd="0"/>
              </a:rPr>
              <a:t> </a:t>
            </a:r>
            <a:r>
              <a:rPr u="sng">
                <a:solidFill>
                  <a:schemeClr val="accent5"/>
                </a:solidFill>
                <a:uFill>
                  <a:solidFill>
                    <a:schemeClr val="accent5"/>
                  </a:solidFill>
                </a:uFill>
                <a:hlinkClick r:id="rId7" invalidUrl="" action="" tgtFrame="" tooltip="" history="1" highlightClick="0" endSnd="0"/>
              </a:rPr>
              <a:t>https://www.mirantis.com/blog/model-deployment-and-orchestration-the-definitive-guide/</a:t>
            </a:r>
            <a:r>
              <a:rPr>
                <a:solidFill>
                  <a:srgbClr val="000000"/>
                </a:solidFill>
              </a:rPr>
              <a:t> </a:t>
            </a:r>
            <a:r>
              <a:t>(Accessed: 1 October 2026). </a:t>
            </a:r>
          </a:p>
          <a:p>
            <a:pPr marL="0" indent="0">
              <a:spcBef>
                <a:spcPts val="1000"/>
              </a:spcBef>
              <a:buSzTx/>
              <a:buNone/>
              <a:defRPr sz="1000"/>
            </a:pPr>
            <a:r>
              <a:t>Yu, X. </a:t>
            </a:r>
            <a:r>
              <a:rPr i="1"/>
              <a:t>et al.</a:t>
            </a:r>
            <a:r>
              <a:t> (2024) ‘Comparison of deep and conventional machine learning models for prediction of one supply chain management distribution cost’, </a:t>
            </a:r>
            <a:r>
              <a:rPr i="1"/>
              <a:t>Scientific Reports</a:t>
            </a:r>
            <a:r>
              <a:t>, 14, article 24195. doi: 10.1038/s41598-024-75114-9.</a:t>
            </a:r>
          </a:p>
          <a:p>
            <a:pPr marL="0" indent="0">
              <a:spcBef>
                <a:spcPts val="1000"/>
              </a:spcBef>
              <a:buSzTx/>
              <a:buNone/>
              <a:defRPr sz="1000"/>
            </a:pPr>
            <a:r>
              <a:t>Zaidi, S.M.A., Rincon, E. and Hassantabar, S. (2026) ‘A multi-source ensemble approach to candidate generation for alternative vacation rental property recommendations’, arXiv, arXiv:2609.05748. Available at: </a:t>
            </a:r>
            <a:r>
              <a:rPr u="sng">
                <a:solidFill>
                  <a:schemeClr val="accent5"/>
                </a:solidFill>
                <a:uFill>
                  <a:solidFill>
                    <a:schemeClr val="accent5"/>
                  </a:solidFill>
                </a:uFill>
                <a:hlinkClick r:id="rId8" invalidUrl="" action="" tgtFrame="" tooltip="" history="1" highlightClick="0" endSnd="0"/>
              </a:rPr>
              <a:t>https://arxiv.org/abs/2609.05748</a:t>
            </a:r>
            <a:r>
              <a:t> (Accessed: 12 September 2026).</a:t>
            </a:r>
          </a:p>
        </p:txBody>
      </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6" name="Google Shape;557;p65"/>
          <p:cNvSpPr txBox="1"/>
          <p:nvPr>
            <p:ph type="title"/>
          </p:nvPr>
        </p:nvSpPr>
        <p:spPr>
          <a:xfrm>
            <a:off x="311699" y="445025"/>
            <a:ext cx="8520602" cy="392701"/>
          </a:xfrm>
          <a:prstGeom prst="rect">
            <a:avLst/>
          </a:prstGeom>
        </p:spPr>
        <p:txBody>
          <a:bodyPr/>
          <a:lstStyle>
            <a:lvl1pPr>
              <a:defRPr b="1" sz="1400"/>
            </a:lvl1pPr>
          </a:lstStyle>
          <a:p>
            <a:pPr/>
            <a:r>
              <a:t>Bibliography</a:t>
            </a:r>
          </a:p>
        </p:txBody>
      </p:sp>
      <p:sp>
        <p:nvSpPr>
          <p:cNvPr id="507" name="Google Shape;558;p65"/>
          <p:cNvSpPr txBox="1"/>
          <p:nvPr>
            <p:ph type="body" idx="1"/>
          </p:nvPr>
        </p:nvSpPr>
        <p:spPr>
          <a:xfrm>
            <a:off x="311699" y="883650"/>
            <a:ext cx="8520602" cy="3685200"/>
          </a:xfrm>
          <a:prstGeom prst="rect">
            <a:avLst/>
          </a:prstGeom>
        </p:spPr>
        <p:txBody>
          <a:bodyPr/>
          <a:lstStyle/>
          <a:p>
            <a:pPr marL="0" indent="0">
              <a:buSzTx/>
              <a:buNone/>
              <a:defRPr sz="1000"/>
            </a:pPr>
            <a:r>
              <a:t>Cao, Z. et al. (2007) ‘Learning to rank: From pairwise approach to listwise approach’, in Proceedings of the 24th International Conference on Machine Learning. New York: ACM, pp. 129–136 (Accessed: 12 September 2026).</a:t>
            </a:r>
          </a:p>
          <a:p>
            <a:pPr marL="0" indent="0">
              <a:spcBef>
                <a:spcPts val="1200"/>
              </a:spcBef>
              <a:buSzTx/>
              <a:buNone/>
              <a:defRPr sz="1000"/>
            </a:pPr>
            <a:r>
              <a:t>Covington, P., Adams, J. and Sargin, E. (2016) ‘Deep neural networks for YouTube recommendations’, in Proceedings of the 10th ACM Conference on Recommender Systems. New York: ACM, pp. 191–198. Available at: </a:t>
            </a:r>
            <a:r>
              <a:rPr u="sng">
                <a:solidFill>
                  <a:schemeClr val="accent5"/>
                </a:solidFill>
                <a:uFill>
                  <a:solidFill>
                    <a:schemeClr val="accent5"/>
                  </a:solidFill>
                </a:uFill>
                <a:hlinkClick r:id="rId2" invalidUrl="" action="" tgtFrame="" tooltip="" history="1" highlightClick="0" endSnd="0"/>
              </a:rPr>
              <a:t>https://doi.org/10.1145/2959100.2959190</a:t>
            </a:r>
          </a:p>
          <a:p>
            <a:pPr marL="0" indent="0">
              <a:spcBef>
                <a:spcPts val="1200"/>
              </a:spcBef>
              <a:buSzTx/>
              <a:buNone/>
              <a:defRPr sz="1000"/>
            </a:pPr>
            <a:r>
              <a:t>Le, J. (2021) ‘Recommendation system series part 8: The 14 properties to take into account when evaluating real-world recommendation systems’, Towards Data Science, 15 January. Available at: </a:t>
            </a:r>
            <a:r>
              <a:rPr u="sng">
                <a:solidFill>
                  <a:schemeClr val="accent5"/>
                </a:solidFill>
                <a:uFill>
                  <a:solidFill>
                    <a:schemeClr val="accent5"/>
                  </a:solidFill>
                </a:uFill>
                <a:hlinkClick r:id="rId3" invalidUrl="" action="" tgtFrame="" tooltip="" history="1" highlightClick="0" endSnd="0"/>
              </a:rPr>
              <a:t>https://medium.com/data-science/recsys-series-part-8-the-14-properties-to-take-into-account-when-evaluating-real-world-recsys-f71cc6e1f195</a:t>
            </a:r>
            <a:r>
              <a:t>  (Accessed: 12 September 2026).</a:t>
            </a:r>
          </a:p>
          <a:p>
            <a:pPr marL="0" indent="0">
              <a:spcBef>
                <a:spcPts val="1200"/>
              </a:spcBef>
              <a:buSzTx/>
              <a:buNone/>
              <a:defRPr sz="1000"/>
            </a:pPr>
            <a:r>
              <a:t>Tsai, C.-H. and Brusilovsky, P. (2018) ‘Beyond the ranked list: User-driven exploration and diversification of social recommendation’, </a:t>
            </a:r>
            <a:r>
              <a:rPr i="1"/>
              <a:t>Proceedings of the 23rd International Conference on Intelligent User Interfaces</a:t>
            </a:r>
            <a:r>
              <a:t>. New York: Association for Computing Machinery, pp. 239–250. Available at:</a:t>
            </a:r>
            <a:r>
              <a:rPr u="sng">
                <a:solidFill>
                  <a:schemeClr val="accent5"/>
                </a:solidFill>
                <a:uFill>
                  <a:solidFill>
                    <a:schemeClr val="accent5"/>
                  </a:solidFill>
                </a:uFill>
                <a:hlinkClick r:id="rId4" invalidUrl="" action="" tgtFrame="" tooltip="" history="1" highlightClick="0" endSnd="0"/>
              </a:rPr>
              <a:t> </a:t>
            </a:r>
            <a:r>
              <a:rPr u="sng">
                <a:solidFill>
                  <a:schemeClr val="accent5"/>
                </a:solidFill>
                <a:uFill>
                  <a:solidFill>
                    <a:schemeClr val="accent5"/>
                  </a:solidFill>
                </a:uFill>
                <a:hlinkClick r:id="rId4" invalidUrl="" action="" tgtFrame="" tooltip="" history="1" highlightClick="0" endSnd="0"/>
              </a:rPr>
              <a:t>https://doi.org/10.1145/3172944.3172959</a:t>
            </a:r>
            <a:r>
              <a:rPr>
                <a:solidFill>
                  <a:srgbClr val="000000"/>
                </a:solidFill>
              </a:rPr>
              <a:t>.</a:t>
            </a:r>
          </a:p>
          <a:p>
            <a:pPr marL="0" indent="0">
              <a:spcBef>
                <a:spcPts val="1200"/>
              </a:spcBef>
              <a:buSzTx/>
              <a:buNone/>
              <a:defRPr sz="1000"/>
            </a:pPr>
            <a:r>
              <a:t>Zhu, X. and Klabjan, D. (2020) ‘Listwise learning to rank by exploring unique ratings’, in Proceedings of the Thirteenth ACM International Conference on Web Search and Data Mining (WSDM ’20). New York: ACM, pp. 798–806. Available at: </a:t>
            </a:r>
            <a:r>
              <a:rPr u="sng">
                <a:solidFill>
                  <a:schemeClr val="accent5"/>
                </a:solidFill>
                <a:uFill>
                  <a:solidFill>
                    <a:schemeClr val="accent5"/>
                  </a:solidFill>
                </a:uFill>
                <a:hlinkClick r:id="rId5" invalidUrl="" action="" tgtFrame="" tooltip="" history="1" highlightClick="0" endSnd="0"/>
              </a:rPr>
              <a:t>https://doi.org/10.1145/3336191.3371814</a:t>
            </a:r>
            <a:r>
              <a:t>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